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5"/>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1
SPEAKING SCRIPT (simple English):
This is Agent KIO, the customer-facing entry point for a website development agency. A message can be about an existing service issue or a new purchase. Our job is to predict a routing flag: zero for Support, one for Sales. The router calls a simulated specialist agent. The project is about selecting the correct workflow, not building the complete chatbot or RAG system.
ARABIC SPEAKER CUES:
ابدأ بالمشكلة الفعلية: الغلط في Routing مش مجرد رقم؛ ممكن يوصل العميل للقسم الخطأ. وضح 0 و1.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1
SPEAKING SCRIPT (simple English):
The project implements the router, not the whole language-model application. The predicted flag determines which specialist workflow receives the request. Both agent functions simply print their names. Retrieval augmented generation is a wider architectural concept, not a feature we claim to have implemented.
ARABIC SPEAKER CUES:
حدود المطلوب: نص → تصنيف → Router → Agent محاكى؛ لا تدّعِ RAG أو chatbot 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1
SPEAKING SCRIPT (simple English):
The key domain rule is not a keyword rule. If a customer reports a website we already built is broken, it is Support. If they request a new site or quote, it is Sales. In a mixed message, an existing problem has priority, so the correct route is Support even if the customer also asks about a second website. Domain knowledge determines our gold labels.
ARABIC SPEAKER CUES:
اشرح Existing Service مقابل New Purchase؛ المثال Mixed = M01 Support رغم ذكر Quote. الأمثلة مقتطفة نصيًا من الداتا.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1
SPEAKING SCRIPT (simple English):
We reviewed cases that look similar but require different actions. A quote for a new site is Sales. Reporting a broken delivered site or cancelling an ongoing redesign is Support. Negation reverses the meaning of a keyword, while mixed intent is resolved using the existing-service-priority business rule.
ARABIC SPEAKER CUES:
خلي التركيز على فهم العلاقة بين الطلب والخدمة القائمة وليس مجرد الكلمات.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1
SPEAKING SCRIPT (simple English):
We created sixty synthetic English customer messages, exactly thirty per class, including straightforward cases, paraphrases, negation, and mixed intent. We agreed labels before testing and grouped near-paraphrases so related messages could not cross training and testing. The classifier used forty balanced training messages. Both approaches were evaluated on the same twenty balanced test messages. These four rows demonstrate the variety of phrasing and business intent.
ARABIC SPEAKER CUES:
اربط Sample / Feature / Target بمصطلحات Lecture 1. وضح 30/30، 40/20، Group ID، وأمثلة 4 رسائل.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1
SPEAKING SCRIPT (simple English):
We did not build only easy messages. The dataset contains twenty-three straightforward, sixteen paraphrase, fourteen negation, and seven mixed-intent messages. We used the agency labeling rule: a mixed message that reports an existing service issue is assigned Support. The chart shows the actual counts from our CSV.
ARABIC SPEAKER CUES:
العدادات الحقيقية من Dataset: 23/16/14/7. الجرافيك Native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1
SPEAKING SCRIPT (simple English):
The classifier learns from forty training messages only. Twenty held-out messages are kept for evaluation, with ten per class. Each near-paraphrase group appears in one split, not both. Otherwise the model could memorize almost the same message and give an overoptimistic test score. No test labels are used to fit TF-IDF, SVD, or the SVM.
ARABIC SPEAKER CUES:
Group Leakage هو تسريب جمل شبه متطابقة بين Train وTest. الفاصل الحقيقي يتم على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2
SPEAKING SCRIPT (simple English):
Our alternative is the open-source MoritzLaurer DeBERTa model used through the Hugging Face zero-shot classification pipeline. It does not learn from our forty examples. Instead, it compares each message with descriptions of Support and Sales intent, then returns a ranking and scores. We map the selected category to zero or one for KIO. The model card lists an MIT license. We should validate that the returned label is one of our permitted categories, not silently accept an unknown value.
ARABIC SPEAKER CUES:
قول Zero-shot مش fine-tuned؛ ورّي المقاطع الحقيقية في الـNotebook: pipeline وcandidate_labels. مهم: شرط validation موجود في العقد؛ نسخة notebook فيها else غير صارم، متدعيش إنها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2
SPEAKING SCRIPT (simple English):
We selected the openly released MoritzLaurer DeBERTa model using Hugging Face zero-shot classification. It receives the customer message and two candidate descriptions and scores how strongly they match. The implementation did not fine-tune on our forty labeled messages. Our shared contract requires a validated label and an integer flag. In the current decision notebook, the label-to-flag conversion deserves stricter validation before a live external demo.
ARABIC SPEAKER CUES:
لقطة الكود حقيقية؛ لا تدعي إن notebook فعّلت strict validation كاملة. الرخصة MIT من Model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2
SPEAKING SCRIPT (simple English):
With descriptive candidate labels, DeBERTa correctly classified fifteen of the twenty test messages, or seventy-five percent. It caught all ten Support cases, but it identified only five of ten real Sales cases. For example, a new website live-chat request was incorrectly sent to Support. We also tested original short labels and got seventy percent. Because the descriptive labels were changed after reviewing the earlier test results, we report the seventy-five-percent result as exploratory rather than an independent final benchmark.
ARABIC SPEAKER CUES:
الـConfusion Matrix الصفوف Actual والأعمدة Predicted. وضّح Support Recall=100% وSales Recall=50%. قول تغيير Candidate Labels بعد baseline يجعل 75%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2
SPEAKING SCRIPT (simple English):
We first used the short labels Support and Sales; fourteen of twenty messages were correct. We then tried more descriptive labels, which produced fifteen correct. However, we chose that second wording after looking at the first test results on the same messages. We therefore explicitly label seventy-five percent an exploratory result. It should not be described as an unbiased independent generalization estimate.
ARABIC SPEAKER CUES:
الفرق خطوة واحدة صحيحة، لكن التعديل تم بعد الاطلاع على test؛ لازم نذكر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3
SPEAKING SCRIPT (simple English):
Unlike the decision model, our Linear SVM is trained on forty labeled KIO messages. TF-IDF first converts words and neighboring word pairs into six hundred seventy-five numeric features. We use Truncated SVD to reduce that matrix to two features and fit the SVM with a linear kernel and C equal to one. This lets us plot the exact boundary of the fitted classifier, not a misleading projection. The two components explain about five percent of feature variance; that number is not accuracy.
ARABIC SPEAKER CUES:
اربط X=Numeric Features وy=labels بالمحاضرة. TF-IDF fit_transform على train فقط، test transform. Explained Variance 5.18% ≠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3
SPEAKING SCRIPT (simple English):
TF-IDF converts text to numeric features. Our vectorizer uses unigrams and bigrams, so it can represent both single words and neighboring pairs. It learns a vocabulary of six hundred seventy-five features from the forty training messages. During testing, we call transform, not fit_transform, so the test set cannot redefine the feature vocabulary.
ARABIC SPEAKER CUES:
فرق Feature Extraction عن Classification. الرقم 675 من fit training only. TF = term frequency, IDF weights terms less common across docs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3
SPEAKING SCRIPT (simple English):
Truncated SVD is an unsupervised dimensionality-reduction method, not a classifier. We fit it on the training TF-IDF matrix and kept two components. This makes the SVM decision boundary directly plottable. The two components account for about five point one eight percent of the TF-IDF variance. This is not classification accuracy and cannot tell us by itself how accurate the model will be. Low retained variance is an important trade-off.
ARABIC SPEAKER CUES:
TruncatedSVD لخفض الأبعاد، لا تنقل توقع التصنيف؛ explained variance مش accuracy ولا proof أن 94.8% من إشارات التصنيف ضاعت.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3
SPEAKING SCRIPT (simple English):
Linear SVM finds a separating line. It balances keeping a margin between classes with penalizing training errors; the C parameter controls this trade-off. We used the default C equal to one and a linear kernel. Our fitted SVM has thirty-four support vectors: seventeen from each class. This sketch is conceptual only; the following slide shows the actual model boundary saved from the notebook.
ARABIC SPEAKER CUES:
فرق schematic من true boundary. C صغير regularization stronger؛ C كبير عقوبة أخطاء أعلى. Do not conflate support vectors with all misclassified.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3
SPEAKING SCRIPT (simple English):
Here is the actual saved decision-boundary plot from our training notebook. Each point is a training message after SVD, with its true class shown by color. The black line marks a zero decision score, so the model predicts different labels on its two sides. Because we trained the SVM on exactly these two numeric components, this is its real boundary. On the training messages the accuracy was eighty-seven point five percent. Some points remain on the wrong side, so the classes are not perfectly separable.
ARABIC SPEAKER CUES:
Decision score =0 يعمل خط الفصل، مش نسبة احتمال. الصورة أصلية من نتائجنا. الـTraining Accuracy مش Test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3
SPEAKING SCRIPT (simple English):
Our Linear SVM classified eighteen of twenty test messages correctly, so test accuracy was ninety percent. The confusion matrix shows nine correct Support, nine correct Sales, and one error in each direction. Because the test has ten messages per class, precision, recall, and F1 are point nine for both. This is a balanced result on this particular small held-out set, not a claim about real production traffic.
ARABIC SPEAKER CUES:
مصفوفة الالتباس: rows Actual columns Predicted. precision/recall/F1 both .90; no new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3
SPEAKING SCRIPT (simple English):
On the same twenty held-out messages, our SVM correctly routed eighteen, compared with fifteen for DeBERTa: ninety versus seventy-five percent. SVM recall was ninety percent in both classes. DeBERTa found all Support but only fifty percent of Sales. The error lists explain the difference. Both models missed sales inquiry M24. SVM also mislabeled cancellation M25 as Sales. The decision model missed four additional true Sales messages. These are exact recorded predictions, not estimated values.
ARABIC SPEAKER CUES:
مهم: فرق +15 percentage points، مش زيادة 15% نسبية. 90% =18/20، 75%=15/20. عدد الاختبار صغير.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3
SPEAKING SCRIPT (simple English):
The decision model wrongly sent four additional new-site Sales requests to Support. Both models misunderstood M24, a question about package features, which is Sales because it precedes a potential purchase. Only SVM got M25 wrong: cancelling an ongoing redesign is Support because it concerns an existing project. The union of errors is six distinct messages, because one is shared.
ARABIC SPEAKER CUES:
Error analysis: support vs sales depends service lifecycle. M24 and M25 are strongest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3
SPEAKING SCRIPT (simple English):
For a routing system, an error can have different operational consequences. Sending an existing website problem to Sales delays support. Sending a potential new customer to Support risks losing the opportunity. On our test set, DeBERTa missed half of the true Sales requests; SVM missed one true Sales and one true Support. We did not measure financial losses, so these are plausible business risks, not quantified outcomes.
ARABIC SPEAKER CUES:
لا تدّعِ خسائر مالية مقاسة. Trade-off يفسر أهمية precision recall business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PRESENTER: Student 3
SPEAKING SCRIPT (simple English):
Our recommendation for this small KIO experiment is Linear SVM. It had higher overall test accuracy and better balance between recognizing Sales and Support. However, the evidence comes from only twenty synthetic held-out messages, so it is not enough to claim superiority in production. The seventy-five-percent DeBERTa configuration is also exploratory because label descriptions were revised after an earlier test. Next, a larger independent set should be evaluated, especially existing-project cancellations and new package inquiries. The source material includes our professor's brief, the course lectures, our saved project results, scikit-learn, and the model card.
ARABIC SPEAKER CUES:
الإجابة العلمية: recommend SVM لهذا Pilot فقط، وليس بشكل مطلق. أذكر محدودية 20 رسالة وتعديل candidate labels بعد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134"/>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B1CCD1"/>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B1CCD1"/>
                </a:solidFill>
                <a:latin typeface="Aptos Display" pitchFamily="34" charset="0"/>
                <a:ea typeface="Aptos Display" pitchFamily="34" charset="-122"/>
                <a:cs typeface="Aptos Display" pitchFamily="34" charset="-120"/>
              </a:rPr>
              <a:t>CONTEXT</a:t>
            </a:r>
            <a:endParaRPr lang="en-US" sz="1000" dirty="0"/>
          </a:p>
        </p:txBody>
      </p:sp>
      <p:sp>
        <p:nvSpPr>
          <p:cNvPr id="4" name="Shape 2"/>
          <p:cNvSpPr/>
          <p:nvPr/>
        </p:nvSpPr>
        <p:spPr>
          <a:xfrm>
            <a:off x="585216" y="6519672"/>
            <a:ext cx="11027664" cy="0"/>
          </a:xfrm>
          <a:prstGeom prst="line">
            <a:avLst/>
          </a:prstGeom>
          <a:noFill/>
          <a:ln w="10160">
            <a:solidFill>
              <a:srgbClr val="294A5B"/>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B1CCD1"/>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B1CCD1"/>
                </a:solidFill>
                <a:latin typeface="Aptos Display" pitchFamily="34" charset="0"/>
                <a:ea typeface="Aptos Display" pitchFamily="34" charset="-122"/>
                <a:cs typeface="Aptos Display" pitchFamily="34" charset="-120"/>
              </a:rPr>
              <a:t>01 / 21</a:t>
            </a:r>
            <a:endParaRPr lang="en-US" sz="1000" dirty="0"/>
          </a:p>
        </p:txBody>
      </p:sp>
      <p:sp>
        <p:nvSpPr>
          <p:cNvPr id="7" name="Shape 5"/>
          <p:cNvSpPr/>
          <p:nvPr/>
        </p:nvSpPr>
        <p:spPr>
          <a:xfrm>
            <a:off x="585216" y="6473952"/>
            <a:ext cx="479861"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12648" y="768096"/>
            <a:ext cx="2651760" cy="347472"/>
          </a:xfrm>
          <a:prstGeom prst="roundRect">
            <a:avLst>
              <a:gd name="adj" fmla="val 31579"/>
            </a:avLst>
          </a:prstGeom>
          <a:solidFill>
            <a:srgbClr val="194C56"/>
          </a:solidFill>
          <a:ln w="12700">
            <a:solidFill>
              <a:srgbClr val="194C56">
                <a:alpha val="0"/>
              </a:srgbClr>
            </a:solidFill>
            <a:prstDash val="solid"/>
          </a:ln>
        </p:spPr>
        <p:txBody>
          <a:bodyPr/>
          <a:p/>
        </p:txBody>
      </p:sp>
      <p:sp>
        <p:nvSpPr>
          <p:cNvPr id="9" name="Text 7"/>
          <p:cNvSpPr/>
          <p:nvPr/>
        </p:nvSpPr>
        <p:spPr>
          <a:xfrm>
            <a:off x="704088" y="777240"/>
            <a:ext cx="2468880" cy="329184"/>
          </a:xfrm>
          <a:prstGeom prst="rect">
            <a:avLst/>
          </a:prstGeom>
          <a:noFill/>
          <a:ln/>
        </p:spPr>
        <p:txBody>
          <a:bodyPr wrap="square" lIns="0" tIns="0" rIns="0" bIns="0" rtlCol="0" anchor="ctr">
            <a:normAutofit/>
          </a:bodyPr>
          <a:lstStyle/>
          <a:p>
            <a:pPr algn="ctr" indent="0" marL="0">
              <a:buNone/>
            </a:pPr>
            <a:r>
              <a:rPr lang="en-US" sz="1000" b="1" spc="50" kern="0" dirty="0">
                <a:solidFill>
                  <a:srgbClr val="9FE4DB"/>
                </a:solidFill>
                <a:latin typeface="Aptos Display" pitchFamily="34" charset="0"/>
                <a:ea typeface="Aptos Display" pitchFamily="34" charset="-122"/>
                <a:cs typeface="Aptos Display" pitchFamily="34" charset="-120"/>
              </a:rPr>
              <a:t>PROJECT 1   ·   26 OCT 2026</a:t>
            </a:r>
            <a:endParaRPr lang="en-US" sz="1000" dirty="0"/>
          </a:p>
        </p:txBody>
      </p:sp>
      <p:sp>
        <p:nvSpPr>
          <p:cNvPr id="10" name="Text 8"/>
          <p:cNvSpPr/>
          <p:nvPr/>
        </p:nvSpPr>
        <p:spPr>
          <a:xfrm>
            <a:off x="621792" y="1371600"/>
            <a:ext cx="7680960" cy="150876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One customer message.</a:t>
            </a:r>
            <a:endParaRPr lang="en-US" sz="3800" dirty="0"/>
          </a:p>
          <a:p>
            <a:pPr indent="0" marL="0">
              <a:buNone/>
            </a:pPr>
            <a:r>
              <a:rPr lang="en-US" sz="3800" b="1" dirty="0">
                <a:solidFill>
                  <a:srgbClr val="FFFFFF"/>
                </a:solidFill>
                <a:latin typeface="Aptos Display" pitchFamily="34" charset="0"/>
                <a:ea typeface="Aptos Display" pitchFamily="34" charset="-122"/>
                <a:cs typeface="Aptos Display" pitchFamily="34" charset="-120"/>
              </a:rPr>
              <a:t>Two possible routes.</a:t>
            </a:r>
            <a:endParaRPr lang="en-US" sz="3800" dirty="0"/>
          </a:p>
        </p:txBody>
      </p:sp>
      <p:sp>
        <p:nvSpPr>
          <p:cNvPr id="11" name="Text 9"/>
          <p:cNvSpPr/>
          <p:nvPr/>
        </p:nvSpPr>
        <p:spPr>
          <a:xfrm>
            <a:off x="649224" y="2852928"/>
            <a:ext cx="7955280" cy="329184"/>
          </a:xfrm>
          <a:prstGeom prst="rect">
            <a:avLst/>
          </a:prstGeom>
          <a:noFill/>
          <a:ln/>
        </p:spPr>
        <p:txBody>
          <a:bodyPr wrap="square" lIns="0" tIns="0" rIns="0" bIns="0" rtlCol="0" anchor="ctr">
            <a:normAutofit/>
          </a:bodyPr>
          <a:lstStyle/>
          <a:p>
            <a:pPr indent="0" marL="0">
              <a:buNone/>
            </a:pPr>
            <a:r>
              <a:rPr lang="en-US" sz="1700" dirty="0">
                <a:solidFill>
                  <a:srgbClr val="BDD7DD"/>
                </a:solidFill>
                <a:latin typeface="Aptos" pitchFamily="34" charset="0"/>
                <a:ea typeface="Aptos" pitchFamily="34" charset="-122"/>
                <a:cs typeface="Aptos" pitchFamily="34" charset="-120"/>
              </a:rPr>
              <a:t>Agent KIO  |  Website-development customer intent</a:t>
            </a:r>
            <a:endParaRPr lang="en-US" sz="1700" dirty="0"/>
          </a:p>
        </p:txBody>
      </p:sp>
      <p:sp>
        <p:nvSpPr>
          <p:cNvPr id="12" name="Shape 10"/>
          <p:cNvSpPr/>
          <p:nvPr/>
        </p:nvSpPr>
        <p:spPr>
          <a:xfrm>
            <a:off x="667512" y="3694176"/>
            <a:ext cx="3657600" cy="603504"/>
          </a:xfrm>
          <a:prstGeom prst="roundRect">
            <a:avLst>
              <a:gd name="adj" fmla="val 19697"/>
            </a:avLst>
          </a:prstGeom>
          <a:solidFill>
            <a:srgbClr val="173D4B"/>
          </a:solidFill>
          <a:ln w="12700">
            <a:solidFill>
              <a:srgbClr val="173D4B">
                <a:alpha val="0"/>
              </a:srgbClr>
            </a:solidFill>
            <a:prstDash val="solid"/>
          </a:ln>
        </p:spPr>
        <p:txBody>
          <a:bodyPr/>
          <a:p/>
        </p:txBody>
      </p:sp>
      <p:sp>
        <p:nvSpPr>
          <p:cNvPr id="13" name="Text 11"/>
          <p:cNvSpPr/>
          <p:nvPr/>
        </p:nvSpPr>
        <p:spPr>
          <a:xfrm>
            <a:off x="914400" y="3813048"/>
            <a:ext cx="3154680" cy="374904"/>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A wrong route selects the wrong workflow.</a:t>
            </a:r>
            <a:endParaRPr lang="en-US" sz="1400" dirty="0"/>
          </a:p>
        </p:txBody>
      </p:sp>
      <p:sp>
        <p:nvSpPr>
          <p:cNvPr id="14" name="Shape 12"/>
          <p:cNvSpPr/>
          <p:nvPr/>
        </p:nvSpPr>
        <p:spPr>
          <a:xfrm>
            <a:off x="6812280" y="1572768"/>
            <a:ext cx="4096512" cy="676656"/>
          </a:xfrm>
          <a:prstGeom prst="roundRect">
            <a:avLst>
              <a:gd name="adj" fmla="val 17568"/>
            </a:avLst>
          </a:prstGeom>
          <a:solidFill>
            <a:srgbClr val="F3F9F9"/>
          </a:solidFill>
          <a:ln w="12700">
            <a:solidFill>
              <a:srgbClr val="F3F9F9">
                <a:alpha val="0"/>
              </a:srgbClr>
            </a:solidFill>
            <a:prstDash val="solid"/>
          </a:ln>
        </p:spPr>
        <p:txBody>
          <a:bodyPr/>
          <a:p/>
        </p:txBody>
      </p:sp>
      <p:sp>
        <p:nvSpPr>
          <p:cNvPr id="15" name="Text 13"/>
          <p:cNvSpPr/>
          <p:nvPr/>
        </p:nvSpPr>
        <p:spPr>
          <a:xfrm>
            <a:off x="6986016" y="1691640"/>
            <a:ext cx="3739896" cy="374904"/>
          </a:xfrm>
          <a:prstGeom prst="rect">
            <a:avLst/>
          </a:prstGeom>
          <a:noFill/>
          <a:ln/>
        </p:spPr>
        <p:txBody>
          <a:bodyPr wrap="square" lIns="0" tIns="0" rIns="0" bIns="0" rtlCol="0" anchor="ctr">
            <a:normAutofit/>
          </a:bodyPr>
          <a:lstStyle/>
          <a:p>
            <a:pPr algn="ctr" indent="0" marL="0">
              <a:buNone/>
            </a:pPr>
            <a:r>
              <a:rPr lang="en-US" sz="2100" b="1" dirty="0">
                <a:solidFill>
                  <a:srgbClr val="112D40"/>
                </a:solidFill>
                <a:latin typeface="Aptos Display" pitchFamily="34" charset="0"/>
                <a:ea typeface="Aptos Display" pitchFamily="34" charset="-122"/>
                <a:cs typeface="Aptos Display" pitchFamily="34" charset="-120"/>
              </a:rPr>
              <a:t>Customer message</a:t>
            </a:r>
            <a:endParaRPr lang="en-US" sz="2100" dirty="0"/>
          </a:p>
        </p:txBody>
      </p:sp>
      <p:sp>
        <p:nvSpPr>
          <p:cNvPr id="16" name="Shape 14"/>
          <p:cNvSpPr/>
          <p:nvPr/>
        </p:nvSpPr>
        <p:spPr>
          <a:xfrm>
            <a:off x="8851392" y="2249424"/>
            <a:ext cx="0" cy="274320"/>
          </a:xfrm>
          <a:prstGeom prst="line">
            <a:avLst/>
          </a:prstGeom>
          <a:noFill/>
          <a:ln w="38100">
            <a:solidFill>
              <a:srgbClr val="65D6C1"/>
            </a:solidFill>
            <a:prstDash val="solid"/>
            <a:headEnd type="none"/>
            <a:tailEnd type="none"/>
          </a:ln>
        </p:spPr>
        <p:txBody>
          <a:bodyPr/>
          <a:p/>
        </p:txBody>
      </p:sp>
      <p:sp>
        <p:nvSpPr>
          <p:cNvPr id="17" name="Shape 15"/>
          <p:cNvSpPr/>
          <p:nvPr/>
        </p:nvSpPr>
        <p:spPr>
          <a:xfrm rot="5400000">
            <a:off x="8750808" y="2432304"/>
            <a:ext cx="201168" cy="182880"/>
          </a:xfrm>
          <a:prstGeom prst="chevron">
            <a:avLst/>
          </a:prstGeom>
          <a:solidFill>
            <a:srgbClr val="65D6C1"/>
          </a:solidFill>
          <a:ln w="12700">
            <a:solidFill>
              <a:srgbClr val="333333">
                <a:alpha val="0"/>
              </a:srgbClr>
            </a:solidFill>
            <a:prstDash val="solid"/>
          </a:ln>
        </p:spPr>
        <p:txBody>
          <a:bodyPr/>
          <a:p/>
        </p:txBody>
      </p:sp>
      <p:sp>
        <p:nvSpPr>
          <p:cNvPr id="18" name="Shape 16"/>
          <p:cNvSpPr/>
          <p:nvPr/>
        </p:nvSpPr>
        <p:spPr>
          <a:xfrm>
            <a:off x="7150608" y="2670048"/>
            <a:ext cx="3419856" cy="822960"/>
          </a:xfrm>
          <a:prstGeom prst="roundRect">
            <a:avLst>
              <a:gd name="adj" fmla="val 14444"/>
            </a:avLst>
          </a:prstGeom>
          <a:solidFill>
            <a:srgbClr val="008E85"/>
          </a:solidFill>
          <a:ln w="12700">
            <a:solidFill>
              <a:srgbClr val="008E85">
                <a:alpha val="0"/>
              </a:srgbClr>
            </a:solidFill>
            <a:prstDash val="solid"/>
          </a:ln>
        </p:spPr>
        <p:txBody>
          <a:bodyPr/>
          <a:p/>
        </p:txBody>
      </p:sp>
      <p:sp>
        <p:nvSpPr>
          <p:cNvPr id="19" name="Text 17"/>
          <p:cNvSpPr/>
          <p:nvPr/>
        </p:nvSpPr>
        <p:spPr>
          <a:xfrm>
            <a:off x="7223760" y="2843784"/>
            <a:ext cx="3255264" cy="402336"/>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ptos Display" pitchFamily="34" charset="0"/>
                <a:ea typeface="Aptos Display" pitchFamily="34" charset="-122"/>
                <a:cs typeface="Aptos Display" pitchFamily="34" charset="-120"/>
              </a:rPr>
              <a:t>INTENT ROUTER</a:t>
            </a:r>
            <a:endParaRPr lang="en-US" sz="2200" dirty="0"/>
          </a:p>
        </p:txBody>
      </p:sp>
      <p:sp>
        <p:nvSpPr>
          <p:cNvPr id="20" name="Shape 18"/>
          <p:cNvSpPr/>
          <p:nvPr/>
        </p:nvSpPr>
        <p:spPr>
          <a:xfrm>
            <a:off x="8869680" y="3493008"/>
            <a:ext cx="0" cy="411480"/>
          </a:xfrm>
          <a:prstGeom prst="line">
            <a:avLst/>
          </a:prstGeom>
          <a:noFill/>
          <a:ln w="25400">
            <a:solidFill>
              <a:srgbClr val="65D6C1"/>
            </a:solidFill>
            <a:prstDash val="solid"/>
            <a:headEnd type="none"/>
            <a:tailEnd type="none"/>
          </a:ln>
        </p:spPr>
        <p:txBody>
          <a:bodyPr/>
          <a:p/>
        </p:txBody>
      </p:sp>
      <p:sp>
        <p:nvSpPr>
          <p:cNvPr id="21" name="Shape 19"/>
          <p:cNvSpPr/>
          <p:nvPr/>
        </p:nvSpPr>
        <p:spPr>
          <a:xfrm>
            <a:off x="7589520" y="3904488"/>
            <a:ext cx="2532888" cy="0"/>
          </a:xfrm>
          <a:prstGeom prst="line">
            <a:avLst/>
          </a:prstGeom>
          <a:noFill/>
          <a:ln w="25400">
            <a:solidFill>
              <a:srgbClr val="65D6C1"/>
            </a:solidFill>
            <a:prstDash val="solid"/>
            <a:headEnd type="none"/>
            <a:tailEnd type="none"/>
          </a:ln>
        </p:spPr>
        <p:txBody>
          <a:bodyPr/>
          <a:p/>
        </p:txBody>
      </p:sp>
      <p:sp>
        <p:nvSpPr>
          <p:cNvPr id="22" name="Shape 20"/>
          <p:cNvSpPr/>
          <p:nvPr/>
        </p:nvSpPr>
        <p:spPr>
          <a:xfrm>
            <a:off x="7589520" y="3904488"/>
            <a:ext cx="0" cy="393192"/>
          </a:xfrm>
          <a:prstGeom prst="line">
            <a:avLst/>
          </a:prstGeom>
          <a:noFill/>
          <a:ln w="25400">
            <a:solidFill>
              <a:srgbClr val="65D6C1"/>
            </a:solidFill>
            <a:prstDash val="solid"/>
            <a:headEnd type="none"/>
            <a:tailEnd type="none"/>
          </a:ln>
        </p:spPr>
        <p:txBody>
          <a:bodyPr/>
          <a:p/>
        </p:txBody>
      </p:sp>
      <p:sp>
        <p:nvSpPr>
          <p:cNvPr id="23" name="Shape 21"/>
          <p:cNvSpPr/>
          <p:nvPr/>
        </p:nvSpPr>
        <p:spPr>
          <a:xfrm>
            <a:off x="10122408" y="3904488"/>
            <a:ext cx="0" cy="393192"/>
          </a:xfrm>
          <a:prstGeom prst="line">
            <a:avLst/>
          </a:prstGeom>
          <a:noFill/>
          <a:ln w="25400">
            <a:solidFill>
              <a:srgbClr val="65D6C1"/>
            </a:solidFill>
            <a:prstDash val="solid"/>
            <a:headEnd type="none"/>
            <a:tailEnd type="none"/>
          </a:ln>
        </p:spPr>
        <p:txBody>
          <a:bodyPr/>
          <a:p/>
        </p:txBody>
      </p:sp>
      <p:sp>
        <p:nvSpPr>
          <p:cNvPr id="24" name="Shape 22"/>
          <p:cNvSpPr/>
          <p:nvPr/>
        </p:nvSpPr>
        <p:spPr>
          <a:xfrm>
            <a:off x="6309360" y="4416552"/>
            <a:ext cx="2560320" cy="960120"/>
          </a:xfrm>
          <a:prstGeom prst="roundRect">
            <a:avLst>
              <a:gd name="adj" fmla="val 12381"/>
            </a:avLst>
          </a:prstGeom>
          <a:solidFill>
            <a:srgbClr val="224257"/>
          </a:solidFill>
          <a:ln w="12700">
            <a:solidFill>
              <a:srgbClr val="224257">
                <a:alpha val="0"/>
              </a:srgbClr>
            </a:solidFill>
            <a:prstDash val="solid"/>
          </a:ln>
        </p:spPr>
        <p:txBody>
          <a:bodyPr/>
          <a:p/>
        </p:txBody>
      </p:sp>
      <p:sp>
        <p:nvSpPr>
          <p:cNvPr id="25" name="Text 23"/>
          <p:cNvSpPr/>
          <p:nvPr/>
        </p:nvSpPr>
        <p:spPr>
          <a:xfrm>
            <a:off x="6492240" y="4581144"/>
            <a:ext cx="448056" cy="393192"/>
          </a:xfrm>
          <a:prstGeom prst="rect">
            <a:avLst/>
          </a:prstGeom>
          <a:noFill/>
          <a:ln/>
        </p:spPr>
        <p:txBody>
          <a:bodyPr wrap="square" lIns="0" tIns="0" rIns="0" bIns="0" rtlCol="0" anchor="ctr">
            <a:normAutofit/>
          </a:bodyPr>
          <a:lstStyle/>
          <a:p>
            <a:pPr indent="0" marL="0">
              <a:buNone/>
            </a:pPr>
            <a:r>
              <a:rPr lang="en-US" sz="2100" b="1" dirty="0">
                <a:solidFill>
                  <a:srgbClr val="70DED0"/>
                </a:solidFill>
                <a:latin typeface="Aptos Display" pitchFamily="34" charset="0"/>
                <a:ea typeface="Aptos Display" pitchFamily="34" charset="-122"/>
                <a:cs typeface="Aptos Display" pitchFamily="34" charset="-120"/>
              </a:rPr>
              <a:t>0</a:t>
            </a:r>
            <a:endParaRPr lang="en-US" sz="2100" dirty="0"/>
          </a:p>
        </p:txBody>
      </p:sp>
      <p:sp>
        <p:nvSpPr>
          <p:cNvPr id="26" name="Text 24"/>
          <p:cNvSpPr/>
          <p:nvPr/>
        </p:nvSpPr>
        <p:spPr>
          <a:xfrm>
            <a:off x="6931152" y="4626864"/>
            <a:ext cx="1847088" cy="31089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Display" pitchFamily="34" charset="0"/>
                <a:ea typeface="Aptos Display" pitchFamily="34" charset="-122"/>
                <a:cs typeface="Aptos Display" pitchFamily="34" charset="-120"/>
              </a:rPr>
              <a:t>Support Agent</a:t>
            </a:r>
            <a:endParaRPr lang="en-US" sz="1600" dirty="0"/>
          </a:p>
        </p:txBody>
      </p:sp>
      <p:sp>
        <p:nvSpPr>
          <p:cNvPr id="27" name="Shape 25"/>
          <p:cNvSpPr/>
          <p:nvPr/>
        </p:nvSpPr>
        <p:spPr>
          <a:xfrm>
            <a:off x="9034272" y="4416552"/>
            <a:ext cx="2560320" cy="960120"/>
          </a:xfrm>
          <a:prstGeom prst="roundRect">
            <a:avLst>
              <a:gd name="adj" fmla="val 12381"/>
            </a:avLst>
          </a:prstGeom>
          <a:solidFill>
            <a:srgbClr val="224257"/>
          </a:solidFill>
          <a:ln w="12700">
            <a:solidFill>
              <a:srgbClr val="224257">
                <a:alpha val="0"/>
              </a:srgbClr>
            </a:solidFill>
            <a:prstDash val="solid"/>
          </a:ln>
        </p:spPr>
        <p:txBody>
          <a:bodyPr/>
          <a:p/>
        </p:txBody>
      </p:sp>
      <p:sp>
        <p:nvSpPr>
          <p:cNvPr id="28" name="Text 26"/>
          <p:cNvSpPr/>
          <p:nvPr/>
        </p:nvSpPr>
        <p:spPr>
          <a:xfrm>
            <a:off x="9226296" y="4581144"/>
            <a:ext cx="448056" cy="393192"/>
          </a:xfrm>
          <a:prstGeom prst="rect">
            <a:avLst/>
          </a:prstGeom>
          <a:noFill/>
          <a:ln/>
        </p:spPr>
        <p:txBody>
          <a:bodyPr wrap="square" lIns="0" tIns="0" rIns="0" bIns="0" rtlCol="0" anchor="ctr">
            <a:normAutofit/>
          </a:bodyPr>
          <a:lstStyle/>
          <a:p>
            <a:pPr indent="0" marL="0">
              <a:buNone/>
            </a:pPr>
            <a:r>
              <a:rPr lang="en-US" sz="2100" b="1" dirty="0">
                <a:solidFill>
                  <a:srgbClr val="70DED0"/>
                </a:solidFill>
                <a:latin typeface="Aptos Display" pitchFamily="34" charset="0"/>
                <a:ea typeface="Aptos Display" pitchFamily="34" charset="-122"/>
                <a:cs typeface="Aptos Display" pitchFamily="34" charset="-120"/>
              </a:rPr>
              <a:t>1</a:t>
            </a:r>
            <a:endParaRPr lang="en-US" sz="2100" dirty="0"/>
          </a:p>
        </p:txBody>
      </p:sp>
      <p:sp>
        <p:nvSpPr>
          <p:cNvPr id="29" name="Text 27"/>
          <p:cNvSpPr/>
          <p:nvPr/>
        </p:nvSpPr>
        <p:spPr>
          <a:xfrm>
            <a:off x="9656064" y="4626864"/>
            <a:ext cx="1783080" cy="31089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Display" pitchFamily="34" charset="0"/>
                <a:ea typeface="Aptos Display" pitchFamily="34" charset="-122"/>
                <a:cs typeface="Aptos Display" pitchFamily="34" charset="-120"/>
              </a:rPr>
              <a:t>Sales Agent</a:t>
            </a:r>
            <a:endParaRPr lang="en-US" sz="1600" dirty="0"/>
          </a:p>
        </p:txBody>
      </p:sp>
      <p:sp>
        <p:nvSpPr>
          <p:cNvPr id="30" name="Text 28"/>
          <p:cNvSpPr/>
          <p:nvPr/>
        </p:nvSpPr>
        <p:spPr>
          <a:xfrm>
            <a:off x="658368" y="5843016"/>
            <a:ext cx="10424160" cy="274320"/>
          </a:xfrm>
          <a:prstGeom prst="rect">
            <a:avLst/>
          </a:prstGeom>
          <a:noFill/>
          <a:ln/>
        </p:spPr>
        <p:txBody>
          <a:bodyPr wrap="square" lIns="0" tIns="0" rIns="0" bIns="0" rtlCol="0" anchor="ctr">
            <a:normAutofit/>
          </a:bodyPr>
          <a:lstStyle/>
          <a:p>
            <a:pPr indent="0" marL="0">
              <a:buNone/>
            </a:pPr>
            <a:r>
              <a:rPr lang="en-US" sz="1200" dirty="0">
                <a:solidFill>
                  <a:srgbClr val="BDD7DD"/>
                </a:solidFill>
                <a:latin typeface="Aptos" pitchFamily="34" charset="0"/>
                <a:ea typeface="Aptos" pitchFamily="34" charset="-122"/>
                <a:cs typeface="Aptos" pitchFamily="34" charset="-120"/>
              </a:rPr>
              <a:t>Scope: routing + simulated agents, not a full chatbot or RAG implementation.</a:t>
            </a:r>
            <a:endParaRPr lang="en-US" sz="120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5"/>
                                  </p:tgtEl>
                                  <p:attrNameLst>
                                    <p:attrName>style.visibility</p:attrName>
                                  </p:attrNameLst>
                                </p:cBhvr>
                                <p:to>
                                  <p:strVal val="visible"/>
                                </p:to>
                              </p:set>
                              <p:animEffect transition="in" filter="fade">
                                <p:cBhvr>
                                  <p:cTn id="18" dur="520"/>
                                  <p:tgtEl>
                                    <p:spTgt spid="15"/>
                                  </p:tgtEl>
                                </p:cBhvr>
                              </p:animEffect>
                            </p:childTnLst>
                          </p:cTn>
                        </p:par>
                      </p:childTnLst>
                    </p:cTn>
                  </p:par>
                  <p:par>
                    <p:cTn id="20" fill="hold">
                      <p:stCondLst>
                        <p:cond delay="1000"/>
                      </p:stCondLst>
                      <p:childTnLst>
                        <p:par>
                          <p:cTn id="21" fill="hold">
                            <p:childTnLst>
                              <p:set>
                                <p:cBhvr>
                                  <p:cTn id="22" dur="1" fill="hold">
                                    <p:stCondLst>
                                      <p:cond delay="0"/>
                                    </p:stCondLst>
                                  </p:cTn>
                                  <p:tgtEl>
                                    <p:spTgt spid="19"/>
                                  </p:tgtEl>
                                  <p:attrNameLst>
                                    <p:attrName>style.visibility</p:attrName>
                                  </p:attrNameLst>
                                </p:cBhvr>
                                <p:to>
                                  <p:strVal val="visible"/>
                                </p:to>
                              </p:set>
                              <p:animEffect transition="in" filter="fade">
                                <p:cBhvr>
                                  <p:cTn id="23" dur="520"/>
                                  <p:tgtEl>
                                    <p:spTgt spid="19"/>
                                  </p:tgtEl>
                                </p:cBhvr>
                              </p:animEffect>
                            </p:childTnLst>
                          </p:cTn>
                        </p:par>
                      </p:childTnLst>
                    </p:cTn>
                  </p:par>
                  <p:par>
                    <p:cTn id="25" fill="hold">
                      <p:stCondLst>
                        <p:cond delay="1440"/>
                      </p:stCondLst>
                      <p:childTnLst>
                        <p:par>
                          <p:cTn id="26" fill="hold">
                            <p:childTnLst>
                              <p:set>
                                <p:cBhvr>
                                  <p:cTn id="27" dur="1" fill="hold">
                                    <p:stCondLst>
                                      <p:cond delay="0"/>
                                    </p:stCondLst>
                                  </p:cTn>
                                  <p:tgtEl>
                                    <p:spTgt spid="13"/>
                                  </p:tgtEl>
                                  <p:attrNameLst>
                                    <p:attrName>style.visibility</p:attrName>
                                  </p:attrNameLst>
                                </p:cBhvr>
                                <p:to>
                                  <p:strVal val="visible"/>
                                </p:to>
                              </p:set>
                              <p:animEffect transition="in" filter="fade">
                                <p:cBhvr>
                                  <p:cTn id="28" dur="520"/>
                                  <p:tgtEl>
                                    <p:spTgt spid="13"/>
                                  </p:tgtEl>
                                </p:cBhvr>
                              </p:animEffect>
                            </p:childTnLst>
                          </p:cTn>
                        </p:par>
                      </p:childTnLst>
                    </p:cTn>
                  </p:par>
                </p:childTnLst>
              </p:cTn>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SCOPE · SYSTEM</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02 / 21</a:t>
            </a:r>
            <a:endParaRPr lang="en-US" sz="1000" dirty="0"/>
          </a:p>
        </p:txBody>
      </p:sp>
      <p:sp>
        <p:nvSpPr>
          <p:cNvPr id="7" name="Shape 5"/>
          <p:cNvSpPr/>
          <p:nvPr/>
        </p:nvSpPr>
        <p:spPr>
          <a:xfrm>
            <a:off x="585216" y="6473952"/>
            <a:ext cx="959722"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SYSTEM BOUNDARY</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Routing decides WHERE—not HOW—to answer</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The classifier is the entry gate; the specialist agents are simulated.</a:t>
            </a:r>
            <a:endParaRPr lang="en-US" sz="1420" dirty="0"/>
          </a:p>
        </p:txBody>
      </p:sp>
      <p:sp>
        <p:nvSpPr>
          <p:cNvPr id="12" name="Shape 10"/>
          <p:cNvSpPr/>
          <p:nvPr/>
        </p:nvSpPr>
        <p:spPr>
          <a:xfrm>
            <a:off x="749808" y="2304288"/>
            <a:ext cx="3685032" cy="2651760"/>
          </a:xfrm>
          <a:prstGeom prst="roundRect">
            <a:avLst>
              <a:gd name="adj" fmla="val 4483"/>
            </a:avLst>
          </a:prstGeom>
          <a:solidFill>
            <a:srgbClr val="0A2134"/>
          </a:solidFill>
          <a:ln w="12700">
            <a:solidFill>
              <a:srgbClr val="0A2134">
                <a:alpha val="0"/>
              </a:srgbClr>
            </a:solidFill>
            <a:prstDash val="solid"/>
          </a:ln>
        </p:spPr>
        <p:txBody>
          <a:bodyPr/>
          <a:p/>
        </p:txBody>
      </p:sp>
      <p:sp>
        <p:nvSpPr>
          <p:cNvPr id="13" name="Text 11"/>
          <p:cNvSpPr/>
          <p:nvPr/>
        </p:nvSpPr>
        <p:spPr>
          <a:xfrm>
            <a:off x="987552" y="2596896"/>
            <a:ext cx="3172968" cy="329184"/>
          </a:xfrm>
          <a:prstGeom prst="rect">
            <a:avLst/>
          </a:prstGeom>
          <a:noFill/>
          <a:ln/>
        </p:spPr>
        <p:txBody>
          <a:bodyPr wrap="square" lIns="0" tIns="0" rIns="0" bIns="0" rtlCol="0" anchor="ctr">
            <a:normAutofit/>
          </a:bodyPr>
          <a:lstStyle/>
          <a:p>
            <a:pPr indent="0" marL="0">
              <a:buNone/>
            </a:pPr>
            <a:r>
              <a:rPr lang="en-US" sz="1800" b="1" dirty="0">
                <a:solidFill>
                  <a:srgbClr val="93E5DC"/>
                </a:solidFill>
                <a:latin typeface="Aptos Display" pitchFamily="34" charset="0"/>
                <a:ea typeface="Aptos Display" pitchFamily="34" charset="-122"/>
                <a:cs typeface="Aptos Display" pitchFamily="34" charset="-120"/>
              </a:rPr>
              <a:t>IN SCOPE</a:t>
            </a:r>
            <a:endParaRPr lang="en-US" sz="1800" dirty="0"/>
          </a:p>
        </p:txBody>
      </p:sp>
      <p:sp>
        <p:nvSpPr>
          <p:cNvPr id="14" name="Text 12"/>
          <p:cNvSpPr/>
          <p:nvPr/>
        </p:nvSpPr>
        <p:spPr>
          <a:xfrm>
            <a:off x="987552" y="3182112"/>
            <a:ext cx="2971800" cy="1572768"/>
          </a:xfrm>
          <a:prstGeom prst="rect">
            <a:avLst/>
          </a:prstGeom>
          <a:noFill/>
          <a:ln/>
        </p:spPr>
        <p:txBody>
          <a:bodyPr wrap="square" lIns="0" tIns="0" rIns="0" bIns="0" rtlCol="0" anchor="t">
            <a:normAutofit/>
          </a:bodyPr>
          <a:lstStyle/>
          <a:p>
            <a:pPr indent="0" marL="0">
              <a:buNone/>
            </a:pPr>
            <a:r>
              <a:rPr lang="en-US" sz="1700" dirty="0">
                <a:solidFill>
                  <a:srgbClr val="FFFFFF"/>
                </a:solidFill>
                <a:latin typeface="Aptos" pitchFamily="34" charset="0"/>
                <a:ea typeface="Aptos" pitchFamily="34" charset="-122"/>
                <a:cs typeface="Aptos" pitchFamily="34" charset="-120"/>
              </a:rPr>
              <a:t>Intent classification</a:t>
            </a:r>
            <a:endParaRPr lang="en-US" sz="1700" dirty="0"/>
          </a:p>
          <a:p>
            <a:pPr indent="0" marL="0">
              <a:buNone/>
            </a:pPr>
            <a:endParaRPr lang="en-US" sz="1700" dirty="0"/>
          </a:p>
          <a:p>
            <a:pPr indent="0" marL="0">
              <a:buNone/>
            </a:pPr>
            <a:r>
              <a:rPr lang="en-US" sz="1700" dirty="0">
                <a:solidFill>
                  <a:srgbClr val="FFFFFF"/>
                </a:solidFill>
                <a:latin typeface="Aptos" pitchFamily="34" charset="0"/>
                <a:ea typeface="Aptos" pitchFamily="34" charset="-122"/>
                <a:cs typeface="Aptos" pitchFamily="34" charset="-120"/>
              </a:rPr>
              <a:t>0 / 1 routing flag</a:t>
            </a:r>
            <a:endParaRPr lang="en-US" sz="1700" dirty="0"/>
          </a:p>
          <a:p>
            <a:pPr indent="0" marL="0">
              <a:buNone/>
            </a:pPr>
            <a:endParaRPr lang="en-US" sz="1700" dirty="0"/>
          </a:p>
          <a:p>
            <a:pPr indent="0" marL="0">
              <a:buNone/>
            </a:pPr>
            <a:r>
              <a:rPr lang="en-US" sz="1700" dirty="0">
                <a:solidFill>
                  <a:srgbClr val="FFFFFF"/>
                </a:solidFill>
                <a:latin typeface="Aptos" pitchFamily="34" charset="0"/>
                <a:ea typeface="Aptos" pitchFamily="34" charset="-122"/>
                <a:cs typeface="Aptos" pitchFamily="34" charset="-120"/>
              </a:rPr>
              <a:t>Print-only agent selection</a:t>
            </a:r>
            <a:endParaRPr lang="en-US" sz="1700" dirty="0"/>
          </a:p>
        </p:txBody>
      </p:sp>
      <p:sp>
        <p:nvSpPr>
          <p:cNvPr id="15" name="Shape 13"/>
          <p:cNvSpPr/>
          <p:nvPr/>
        </p:nvSpPr>
        <p:spPr>
          <a:xfrm>
            <a:off x="4681728" y="2304288"/>
            <a:ext cx="2944368" cy="2651760"/>
          </a:xfrm>
          <a:prstGeom prst="roundRect">
            <a:avLst>
              <a:gd name="adj" fmla="val 4483"/>
            </a:avLst>
          </a:prstGeom>
          <a:solidFill>
            <a:srgbClr val="FFFFFF"/>
          </a:solidFill>
          <a:ln w="12700">
            <a:solidFill>
              <a:srgbClr val="FFFFFF">
                <a:alpha val="0"/>
              </a:srgbClr>
            </a:solidFill>
            <a:prstDash val="solid"/>
          </a:ln>
        </p:spPr>
        <p:txBody>
          <a:bodyPr/>
          <a:p/>
        </p:txBody>
      </p:sp>
      <p:sp>
        <p:nvSpPr>
          <p:cNvPr id="16" name="Text 14"/>
          <p:cNvSpPr/>
          <p:nvPr/>
        </p:nvSpPr>
        <p:spPr>
          <a:xfrm>
            <a:off x="4919472" y="2587752"/>
            <a:ext cx="2359152" cy="338328"/>
          </a:xfrm>
          <a:prstGeom prst="rect">
            <a:avLst/>
          </a:prstGeom>
          <a:noFill/>
          <a:ln/>
        </p:spPr>
        <p:txBody>
          <a:bodyPr wrap="square" lIns="0" tIns="0" rIns="0" bIns="0" rtlCol="0" anchor="ctr">
            <a:normAutofit/>
          </a:bodyPr>
          <a:lstStyle/>
          <a:p>
            <a:pPr indent="0" marL="0">
              <a:buNone/>
            </a:pPr>
            <a:r>
              <a:rPr lang="en-US" sz="1800" b="1" dirty="0">
                <a:solidFill>
                  <a:srgbClr val="008E85"/>
                </a:solidFill>
                <a:latin typeface="Aptos Display" pitchFamily="34" charset="0"/>
                <a:ea typeface="Aptos Display" pitchFamily="34" charset="-122"/>
                <a:cs typeface="Aptos Display" pitchFamily="34" charset="-120"/>
              </a:rPr>
              <a:t>NOT BUILT</a:t>
            </a:r>
            <a:endParaRPr lang="en-US" sz="1800" dirty="0"/>
          </a:p>
        </p:txBody>
      </p:sp>
      <p:sp>
        <p:nvSpPr>
          <p:cNvPr id="17" name="Text 15"/>
          <p:cNvSpPr/>
          <p:nvPr/>
        </p:nvSpPr>
        <p:spPr>
          <a:xfrm>
            <a:off x="4919472" y="3200400"/>
            <a:ext cx="2304288" cy="1572768"/>
          </a:xfrm>
          <a:prstGeom prst="rect">
            <a:avLst/>
          </a:prstGeom>
          <a:noFill/>
          <a:ln/>
        </p:spPr>
        <p:txBody>
          <a:bodyPr wrap="square" lIns="0" tIns="0" rIns="0" bIns="0" rtlCol="0" anchor="t">
            <a:normAutofit/>
          </a:bodyPr>
          <a:lstStyle/>
          <a:p>
            <a:pPr indent="0" marL="0">
              <a:buNone/>
            </a:pPr>
            <a:r>
              <a:rPr lang="en-US" sz="1600" dirty="0">
                <a:solidFill>
                  <a:srgbClr val="112D40"/>
                </a:solidFill>
                <a:latin typeface="Aptos" pitchFamily="34" charset="0"/>
                <a:ea typeface="Aptos" pitchFamily="34" charset="-122"/>
                <a:cs typeface="Aptos" pitchFamily="34" charset="-120"/>
              </a:rPr>
              <a:t>Full chatbot</a:t>
            </a:r>
            <a:endParaRPr lang="en-US" sz="1600" dirty="0"/>
          </a:p>
          <a:p>
            <a:pPr indent="0" marL="0">
              <a:buNone/>
            </a:pPr>
            <a:endParaRPr lang="en-US" sz="1600" dirty="0"/>
          </a:p>
          <a:p>
            <a:pPr indent="0" marL="0">
              <a:buNone/>
            </a:pPr>
            <a:r>
              <a:rPr lang="en-US" sz="1600" dirty="0">
                <a:solidFill>
                  <a:srgbClr val="112D40"/>
                </a:solidFill>
                <a:latin typeface="Aptos" pitchFamily="34" charset="0"/>
                <a:ea typeface="Aptos" pitchFamily="34" charset="-122"/>
                <a:cs typeface="Aptos" pitchFamily="34" charset="-120"/>
              </a:rPr>
              <a:t>Knowledge retrieval</a:t>
            </a:r>
            <a:endParaRPr lang="en-US" sz="1600" dirty="0"/>
          </a:p>
          <a:p>
            <a:pPr indent="0" marL="0">
              <a:buNone/>
            </a:pPr>
            <a:endParaRPr lang="en-US" sz="1600" dirty="0"/>
          </a:p>
          <a:p>
            <a:pPr indent="0" marL="0">
              <a:buNone/>
            </a:pPr>
            <a:r>
              <a:rPr lang="en-US" sz="1600" dirty="0">
                <a:solidFill>
                  <a:srgbClr val="112D40"/>
                </a:solidFill>
                <a:latin typeface="Aptos" pitchFamily="34" charset="0"/>
                <a:ea typeface="Aptos" pitchFamily="34" charset="-122"/>
                <a:cs typeface="Aptos" pitchFamily="34" charset="-120"/>
              </a:rPr>
              <a:t>Generated answers</a:t>
            </a:r>
            <a:endParaRPr lang="en-US" sz="1600" dirty="0"/>
          </a:p>
        </p:txBody>
      </p:sp>
      <p:sp>
        <p:nvSpPr>
          <p:cNvPr id="18" name="Shape 16"/>
          <p:cNvSpPr/>
          <p:nvPr/>
        </p:nvSpPr>
        <p:spPr>
          <a:xfrm>
            <a:off x="7863840" y="2304288"/>
            <a:ext cx="3520440" cy="2651760"/>
          </a:xfrm>
          <a:prstGeom prst="roundRect">
            <a:avLst>
              <a:gd name="adj" fmla="val 4483"/>
            </a:avLst>
          </a:prstGeom>
          <a:solidFill>
            <a:srgbClr val="FFFFFF"/>
          </a:solidFill>
          <a:ln w="12700">
            <a:solidFill>
              <a:srgbClr val="FFFFFF">
                <a:alpha val="0"/>
              </a:srgbClr>
            </a:solidFill>
            <a:prstDash val="solid"/>
          </a:ln>
        </p:spPr>
        <p:txBody>
          <a:bodyPr/>
          <a:p/>
        </p:txBody>
      </p:sp>
      <p:sp>
        <p:nvSpPr>
          <p:cNvPr id="19" name="Text 17"/>
          <p:cNvSpPr/>
          <p:nvPr/>
        </p:nvSpPr>
        <p:spPr>
          <a:xfrm>
            <a:off x="8119872" y="2587752"/>
            <a:ext cx="2926080" cy="338328"/>
          </a:xfrm>
          <a:prstGeom prst="rect">
            <a:avLst/>
          </a:prstGeom>
          <a:noFill/>
          <a:ln/>
        </p:spPr>
        <p:txBody>
          <a:bodyPr wrap="square" lIns="0" tIns="0" rIns="0" bIns="0" rtlCol="0" anchor="ctr">
            <a:normAutofit/>
          </a:bodyPr>
          <a:lstStyle/>
          <a:p>
            <a:pPr indent="0" marL="0">
              <a:buNone/>
            </a:pPr>
            <a:r>
              <a:rPr lang="en-US" sz="1800" b="1" dirty="0">
                <a:solidFill>
                  <a:srgbClr val="008E85"/>
                </a:solidFill>
                <a:latin typeface="Aptos Display" pitchFamily="34" charset="0"/>
                <a:ea typeface="Aptos Display" pitchFamily="34" charset="-122"/>
                <a:cs typeface="Aptos Display" pitchFamily="34" charset="-120"/>
              </a:rPr>
              <a:t>WHY IT MATTERS</a:t>
            </a:r>
            <a:endParaRPr lang="en-US" sz="1800" dirty="0"/>
          </a:p>
        </p:txBody>
      </p:sp>
      <p:sp>
        <p:nvSpPr>
          <p:cNvPr id="20" name="Text 18"/>
          <p:cNvSpPr/>
          <p:nvPr/>
        </p:nvSpPr>
        <p:spPr>
          <a:xfrm>
            <a:off x="8119872" y="3209544"/>
            <a:ext cx="2880360" cy="1463040"/>
          </a:xfrm>
          <a:prstGeom prst="rect">
            <a:avLst/>
          </a:prstGeom>
          <a:noFill/>
          <a:ln/>
        </p:spPr>
        <p:txBody>
          <a:bodyPr wrap="square" lIns="0" tIns="0" rIns="0" bIns="0" rtlCol="0" anchor="t">
            <a:normAutofit/>
          </a:bodyPr>
          <a:lstStyle/>
          <a:p>
            <a:pPr indent="0" marL="0">
              <a:buNone/>
            </a:pPr>
            <a:r>
              <a:rPr lang="en-US" sz="1600" dirty="0">
                <a:solidFill>
                  <a:srgbClr val="112D40"/>
                </a:solidFill>
                <a:latin typeface="Aptos" pitchFamily="34" charset="0"/>
                <a:ea typeface="Aptos" pitchFamily="34" charset="-122"/>
                <a:cs typeface="Aptos" pitchFamily="34" charset="-120"/>
              </a:rPr>
              <a:t>Wrong classification → wrong support/sales workflow.</a:t>
            </a:r>
            <a:endParaRPr lang="en-US" sz="1600" dirty="0"/>
          </a:p>
          <a:p>
            <a:pPr indent="0" marL="0">
              <a:buNone/>
            </a:pPr>
            <a:endParaRPr lang="en-US" sz="1600" dirty="0"/>
          </a:p>
          <a:p>
            <a:pPr indent="0" marL="0">
              <a:buNone/>
            </a:pPr>
            <a:r>
              <a:rPr lang="en-US" sz="1600" dirty="0">
                <a:solidFill>
                  <a:srgbClr val="112D40"/>
                </a:solidFill>
                <a:latin typeface="Aptos" pitchFamily="34" charset="0"/>
                <a:ea typeface="Aptos" pitchFamily="34" charset="-122"/>
                <a:cs typeface="Aptos" pitchFamily="34" charset="-120"/>
              </a:rPr>
              <a:t>Routing is not RAG.</a:t>
            </a:r>
            <a:endParaRPr lang="en-US" sz="1600" dirty="0"/>
          </a:p>
        </p:txBody>
      </p:sp>
      <p:sp>
        <p:nvSpPr>
          <p:cNvPr id="21" name="Shape 19"/>
          <p:cNvSpPr/>
          <p:nvPr/>
        </p:nvSpPr>
        <p:spPr>
          <a:xfrm>
            <a:off x="987552" y="5330952"/>
            <a:ext cx="10149840" cy="448056"/>
          </a:xfrm>
          <a:prstGeom prst="roundRect">
            <a:avLst>
              <a:gd name="adj" fmla="val 26531"/>
            </a:avLst>
          </a:prstGeom>
          <a:solidFill>
            <a:srgbClr val="E6F5F2"/>
          </a:solidFill>
          <a:ln w="12700">
            <a:solidFill>
              <a:srgbClr val="E6F5F2">
                <a:alpha val="0"/>
              </a:srgbClr>
            </a:solidFill>
            <a:prstDash val="solid"/>
          </a:ln>
        </p:spPr>
        <p:txBody>
          <a:bodyPr/>
          <a:p/>
        </p:txBody>
      </p:sp>
      <p:sp>
        <p:nvSpPr>
          <p:cNvPr id="22" name="Text 20"/>
          <p:cNvSpPr/>
          <p:nvPr/>
        </p:nvSpPr>
        <p:spPr>
          <a:xfrm>
            <a:off x="1207008" y="5394960"/>
            <a:ext cx="9637776" cy="329184"/>
          </a:xfrm>
          <a:prstGeom prst="rect">
            <a:avLst/>
          </a:prstGeom>
          <a:noFill/>
          <a:ln/>
        </p:spPr>
        <p:txBody>
          <a:bodyPr wrap="square" lIns="0" tIns="0" rIns="0" bIns="0" rtlCol="0" anchor="ctr">
            <a:normAutofit/>
          </a:bodyPr>
          <a:lstStyle/>
          <a:p>
            <a:pPr algn="ctr" indent="0" marL="0">
              <a:buNone/>
            </a:pPr>
            <a:r>
              <a:rPr lang="en-US" sz="1700" b="1" dirty="0">
                <a:solidFill>
                  <a:srgbClr val="112D40"/>
                </a:solidFill>
                <a:latin typeface="Aptos Display" pitchFamily="34" charset="0"/>
                <a:ea typeface="Aptos Display" pitchFamily="34" charset="-122"/>
                <a:cs typeface="Aptos Display" pitchFamily="34" charset="-120"/>
              </a:rPr>
              <a:t>Domain decision   →   routing flag   →   specialist selection</a:t>
            </a:r>
            <a:endParaRPr lang="en-US" sz="1700" dirty="0"/>
          </a:p>
        </p:txBody>
      </p:sp>
      <p:sp>
        <p:nvSpPr>
          <p:cNvPr id="23" name="Text 21"/>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Source: Project 1 official assignment, page 1.</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9"/>
                                  </p:tgtEl>
                                  <p:attrNameLst>
                                    <p:attrName>style.visibility</p:attrName>
                                  </p:attrNameLst>
                                </p:cBhvr>
                                <p:to>
                                  <p:strVal val="visible"/>
                                </p:to>
                              </p:set>
                              <p:animEffect transition="in" filter="fade">
                                <p:cBhvr>
                                  <p:cTn id="23" dur="520"/>
                                  <p:tgtEl>
                                    <p:spTgt spid="19"/>
                                  </p:tgtEl>
                                </p:cBhvr>
                              </p:animEffect>
                            </p:childTnLst>
                          </p:cTn>
                        </p:par>
                      </p:childTnLst>
                    </p:cTn>
                  </p:par>
                  <p:par>
                    <p:cTn id="25" fill="hold">
                      <p:stCondLst>
                        <p:cond delay="1440"/>
                      </p:stCondLst>
                      <p:childTnLst>
                        <p:par>
                          <p:cTn id="26" fill="hold">
                            <p:childTnLst>
                              <p:set>
                                <p:cBhvr>
                                  <p:cTn id="27" dur="1" fill="hold">
                                    <p:stCondLst>
                                      <p:cond delay="0"/>
                                    </p:stCondLst>
                                  </p:cTn>
                                  <p:tgtEl>
                                    <p:spTgt spid="14"/>
                                  </p:tgtEl>
                                  <p:attrNameLst>
                                    <p:attrName>style.visibility</p:attrName>
                                  </p:attrNameLst>
                                </p:cBhvr>
                                <p:to>
                                  <p:strVal val="visible"/>
                                </p:to>
                              </p:set>
                              <p:animEffect transition="in" filter="fade">
                                <p:cBhvr>
                                  <p:cTn id="28" dur="520"/>
                                  <p:tgtEl>
                                    <p:spTgt spid="14"/>
                                  </p:tgtEl>
                                </p:cBhvr>
                              </p:animEffect>
                            </p:childTnLst>
                          </p:cTn>
                        </p:par>
                      </p:childTnLst>
                    </p:cTn>
                  </p:par>
                </p:childTnLst>
              </p:cTn>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DOMAIN</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03 / 21</a:t>
            </a:r>
            <a:endParaRPr lang="en-US" sz="1000" dirty="0"/>
          </a:p>
        </p:txBody>
      </p:sp>
      <p:sp>
        <p:nvSpPr>
          <p:cNvPr id="7" name="Shape 5"/>
          <p:cNvSpPr/>
          <p:nvPr/>
        </p:nvSpPr>
        <p:spPr>
          <a:xfrm>
            <a:off x="585216" y="6473952"/>
            <a:ext cx="1439584"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BUSINESS LOGIC</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Service context—not keywords—defines intent</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The label depends on what the customer is asking the agency to do.</a:t>
            </a:r>
            <a:endParaRPr lang="en-US" sz="1420" dirty="0"/>
          </a:p>
        </p:txBody>
      </p:sp>
      <p:sp>
        <p:nvSpPr>
          <p:cNvPr id="12" name="Shape 10"/>
          <p:cNvSpPr/>
          <p:nvPr/>
        </p:nvSpPr>
        <p:spPr>
          <a:xfrm>
            <a:off x="685800" y="2231136"/>
            <a:ext cx="10789920" cy="914400"/>
          </a:xfrm>
          <a:prstGeom prst="roundRect">
            <a:avLst>
              <a:gd name="adj" fmla="val 13000"/>
            </a:avLst>
          </a:prstGeom>
          <a:solidFill>
            <a:srgbClr val="FFFFFF"/>
          </a:solidFill>
          <a:ln w="12700">
            <a:solidFill>
              <a:srgbClr val="FFFFFF">
                <a:alpha val="0"/>
              </a:srgbClr>
            </a:solidFill>
            <a:prstDash val="solid"/>
          </a:ln>
        </p:spPr>
        <p:txBody>
          <a:bodyPr/>
          <a:p/>
        </p:txBody>
      </p:sp>
      <p:sp>
        <p:nvSpPr>
          <p:cNvPr id="13" name="Shape 11"/>
          <p:cNvSpPr/>
          <p:nvPr/>
        </p:nvSpPr>
        <p:spPr>
          <a:xfrm>
            <a:off x="685800" y="2231136"/>
            <a:ext cx="82296" cy="914400"/>
          </a:xfrm>
          <a:prstGeom prst="rect">
            <a:avLst/>
          </a:prstGeom>
          <a:solidFill>
            <a:srgbClr val="0A2134"/>
          </a:solidFill>
          <a:ln w="12700">
            <a:solidFill>
              <a:srgbClr val="0A2134">
                <a:alpha val="0"/>
              </a:srgbClr>
            </a:solidFill>
            <a:prstDash val="solid"/>
          </a:ln>
        </p:spPr>
        <p:txBody>
          <a:bodyPr/>
          <a:p/>
        </p:txBody>
      </p:sp>
      <p:sp>
        <p:nvSpPr>
          <p:cNvPr id="14" name="Shape 12"/>
          <p:cNvSpPr/>
          <p:nvPr/>
        </p:nvSpPr>
        <p:spPr>
          <a:xfrm>
            <a:off x="914400" y="2386584"/>
            <a:ext cx="1298448" cy="274320"/>
          </a:xfrm>
          <a:prstGeom prst="roundRect">
            <a:avLst>
              <a:gd name="adj" fmla="val 40000"/>
            </a:avLst>
          </a:prstGeom>
          <a:solidFill>
            <a:srgbClr val="E6F5F2"/>
          </a:solidFill>
          <a:ln w="12700">
            <a:solidFill>
              <a:srgbClr val="E6F5F2">
                <a:alpha val="0"/>
              </a:srgbClr>
            </a:solidFill>
            <a:prstDash val="solid"/>
          </a:ln>
        </p:spPr>
        <p:txBody>
          <a:bodyPr/>
          <a:p/>
        </p:txBody>
      </p:sp>
      <p:sp>
        <p:nvSpPr>
          <p:cNvPr id="15" name="Text 13"/>
          <p:cNvSpPr/>
          <p:nvPr/>
        </p:nvSpPr>
        <p:spPr>
          <a:xfrm>
            <a:off x="1005840" y="2395728"/>
            <a:ext cx="1115568"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SUPPORT</a:t>
            </a:r>
            <a:endParaRPr lang="en-US" sz="1000" dirty="0"/>
          </a:p>
        </p:txBody>
      </p:sp>
      <p:sp>
        <p:nvSpPr>
          <p:cNvPr id="16" name="Text 14"/>
          <p:cNvSpPr/>
          <p:nvPr/>
        </p:nvSpPr>
        <p:spPr>
          <a:xfrm>
            <a:off x="2404872" y="2322576"/>
            <a:ext cx="2743200" cy="265176"/>
          </a:xfrm>
          <a:prstGeom prst="rect">
            <a:avLst/>
          </a:prstGeom>
          <a:noFill/>
          <a:ln/>
        </p:spPr>
        <p:txBody>
          <a:bodyPr wrap="square" lIns="0" tIns="0" rIns="0" bIns="0" rtlCol="0" anchor="ctr">
            <a:normAutofit/>
          </a:bodyPr>
          <a:lstStyle/>
          <a:p>
            <a:pPr indent="0" marL="0">
              <a:buNone/>
            </a:pPr>
            <a:r>
              <a:rPr lang="en-US" sz="1500" b="1" dirty="0">
                <a:solidFill>
                  <a:srgbClr val="112D40"/>
                </a:solidFill>
                <a:latin typeface="Aptos Display" pitchFamily="34" charset="0"/>
                <a:ea typeface="Aptos Display" pitchFamily="34" charset="-122"/>
                <a:cs typeface="Aptos Display" pitchFamily="34" charset="-120"/>
              </a:rPr>
              <a:t>Existing website issue</a:t>
            </a:r>
            <a:endParaRPr lang="en-US" sz="1500" dirty="0"/>
          </a:p>
        </p:txBody>
      </p:sp>
      <p:sp>
        <p:nvSpPr>
          <p:cNvPr id="17" name="Text 15"/>
          <p:cNvSpPr/>
          <p:nvPr/>
        </p:nvSpPr>
        <p:spPr>
          <a:xfrm>
            <a:off x="4892040" y="2313432"/>
            <a:ext cx="5760720" cy="667512"/>
          </a:xfrm>
          <a:prstGeom prst="rect">
            <a:avLst/>
          </a:prstGeom>
          <a:noFill/>
          <a:ln/>
        </p:spPr>
        <p:txBody>
          <a:bodyPr wrap="square" lIns="0" tIns="0" rIns="0" bIns="0" rtlCol="0" anchor="ctr">
            <a:normAutofit/>
          </a:bodyPr>
          <a:lstStyle/>
          <a:p>
            <a:pPr indent="0" marL="0">
              <a:buNone/>
            </a:pPr>
            <a:r>
              <a:rPr lang="en-US" sz="1400" dirty="0">
                <a:solidFill>
                  <a:srgbClr val="587082"/>
                </a:solidFill>
                <a:latin typeface="Aptos" pitchFamily="34" charset="0"/>
                <a:ea typeface="Aptos" pitchFamily="34" charset="-122"/>
                <a:cs typeface="Aptos" pitchFamily="34" charset="-120"/>
              </a:rPr>
              <a:t>“The company website you developed for us has been offline...”</a:t>
            </a:r>
            <a:endParaRPr lang="en-US" sz="1400" dirty="0"/>
          </a:p>
        </p:txBody>
      </p:sp>
      <p:sp>
        <p:nvSpPr>
          <p:cNvPr id="18" name="Shape 16"/>
          <p:cNvSpPr/>
          <p:nvPr/>
        </p:nvSpPr>
        <p:spPr>
          <a:xfrm>
            <a:off x="10762488" y="2551176"/>
            <a:ext cx="521208" cy="292608"/>
          </a:xfrm>
          <a:prstGeom prst="roundRect">
            <a:avLst>
              <a:gd name="adj" fmla="val 37500"/>
            </a:avLst>
          </a:prstGeom>
          <a:solidFill>
            <a:srgbClr val="0A2134"/>
          </a:solidFill>
          <a:ln w="12700">
            <a:solidFill>
              <a:srgbClr val="0A2134">
                <a:alpha val="0"/>
              </a:srgbClr>
            </a:solidFill>
            <a:prstDash val="solid"/>
          </a:ln>
        </p:spPr>
        <p:txBody>
          <a:bodyPr/>
          <a:p/>
        </p:txBody>
      </p:sp>
      <p:sp>
        <p:nvSpPr>
          <p:cNvPr id="19" name="Text 17"/>
          <p:cNvSpPr/>
          <p:nvPr/>
        </p:nvSpPr>
        <p:spPr>
          <a:xfrm>
            <a:off x="10853928" y="2560320"/>
            <a:ext cx="338328" cy="274320"/>
          </a:xfrm>
          <a:prstGeom prst="rect">
            <a:avLst/>
          </a:prstGeom>
          <a:noFill/>
          <a:ln/>
        </p:spPr>
        <p:txBody>
          <a:bodyPr wrap="square" lIns="0" tIns="0" rIns="0" bIns="0" rtlCol="0" anchor="ctr">
            <a:normAutofit/>
          </a:bodyPr>
          <a:lstStyle/>
          <a:p>
            <a:pPr algn="ctr" indent="0" marL="0">
              <a:buNone/>
            </a:pPr>
            <a:r>
              <a:rPr lang="en-US" sz="1200" b="1" spc="50" kern="0" dirty="0">
                <a:solidFill>
                  <a:srgbClr val="FFFFFF"/>
                </a:solidFill>
                <a:latin typeface="Aptos Display" pitchFamily="34" charset="0"/>
                <a:ea typeface="Aptos Display" pitchFamily="34" charset="-122"/>
                <a:cs typeface="Aptos Display" pitchFamily="34" charset="-120"/>
              </a:rPr>
              <a:t>0</a:t>
            </a:r>
            <a:endParaRPr lang="en-US" sz="1200" dirty="0"/>
          </a:p>
        </p:txBody>
      </p:sp>
      <p:sp>
        <p:nvSpPr>
          <p:cNvPr id="20" name="Shape 18"/>
          <p:cNvSpPr/>
          <p:nvPr/>
        </p:nvSpPr>
        <p:spPr>
          <a:xfrm>
            <a:off x="685800" y="3346704"/>
            <a:ext cx="10789920" cy="914400"/>
          </a:xfrm>
          <a:prstGeom prst="roundRect">
            <a:avLst>
              <a:gd name="adj" fmla="val 13000"/>
            </a:avLst>
          </a:prstGeom>
          <a:solidFill>
            <a:srgbClr val="FFFFFF"/>
          </a:solidFill>
          <a:ln w="12700">
            <a:solidFill>
              <a:srgbClr val="FFFFFF">
                <a:alpha val="0"/>
              </a:srgbClr>
            </a:solidFill>
            <a:prstDash val="solid"/>
          </a:ln>
        </p:spPr>
        <p:txBody>
          <a:bodyPr/>
          <a:p/>
        </p:txBody>
      </p:sp>
      <p:sp>
        <p:nvSpPr>
          <p:cNvPr id="21" name="Shape 19"/>
          <p:cNvSpPr/>
          <p:nvPr/>
        </p:nvSpPr>
        <p:spPr>
          <a:xfrm>
            <a:off x="685800" y="3346704"/>
            <a:ext cx="82296" cy="914400"/>
          </a:xfrm>
          <a:prstGeom prst="rect">
            <a:avLst/>
          </a:prstGeom>
          <a:solidFill>
            <a:srgbClr val="008E85"/>
          </a:solidFill>
          <a:ln w="12700">
            <a:solidFill>
              <a:srgbClr val="008E85">
                <a:alpha val="0"/>
              </a:srgbClr>
            </a:solidFill>
            <a:prstDash val="solid"/>
          </a:ln>
        </p:spPr>
        <p:txBody>
          <a:bodyPr/>
          <a:p/>
        </p:txBody>
      </p:sp>
      <p:sp>
        <p:nvSpPr>
          <p:cNvPr id="22" name="Shape 20"/>
          <p:cNvSpPr/>
          <p:nvPr/>
        </p:nvSpPr>
        <p:spPr>
          <a:xfrm>
            <a:off x="914400" y="3502152"/>
            <a:ext cx="1298448" cy="274320"/>
          </a:xfrm>
          <a:prstGeom prst="roundRect">
            <a:avLst>
              <a:gd name="adj" fmla="val 40000"/>
            </a:avLst>
          </a:prstGeom>
          <a:solidFill>
            <a:srgbClr val="E6F5F2"/>
          </a:solidFill>
          <a:ln w="12700">
            <a:solidFill>
              <a:srgbClr val="E6F5F2">
                <a:alpha val="0"/>
              </a:srgbClr>
            </a:solidFill>
            <a:prstDash val="solid"/>
          </a:ln>
        </p:spPr>
        <p:txBody>
          <a:bodyPr/>
          <a:p/>
        </p:txBody>
      </p:sp>
      <p:sp>
        <p:nvSpPr>
          <p:cNvPr id="23" name="Text 21"/>
          <p:cNvSpPr/>
          <p:nvPr/>
        </p:nvSpPr>
        <p:spPr>
          <a:xfrm>
            <a:off x="1005840" y="3511296"/>
            <a:ext cx="1115568"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SALES</a:t>
            </a:r>
            <a:endParaRPr lang="en-US" sz="1000" dirty="0"/>
          </a:p>
        </p:txBody>
      </p:sp>
      <p:sp>
        <p:nvSpPr>
          <p:cNvPr id="24" name="Text 22"/>
          <p:cNvSpPr/>
          <p:nvPr/>
        </p:nvSpPr>
        <p:spPr>
          <a:xfrm>
            <a:off x="2404872" y="3438144"/>
            <a:ext cx="2743200" cy="265176"/>
          </a:xfrm>
          <a:prstGeom prst="rect">
            <a:avLst/>
          </a:prstGeom>
          <a:noFill/>
          <a:ln/>
        </p:spPr>
        <p:txBody>
          <a:bodyPr wrap="square" lIns="0" tIns="0" rIns="0" bIns="0" rtlCol="0" anchor="ctr">
            <a:normAutofit/>
          </a:bodyPr>
          <a:lstStyle/>
          <a:p>
            <a:pPr indent="0" marL="0">
              <a:buNone/>
            </a:pPr>
            <a:r>
              <a:rPr lang="en-US" sz="1500" b="1" dirty="0">
                <a:solidFill>
                  <a:srgbClr val="112D40"/>
                </a:solidFill>
                <a:latin typeface="Aptos Display" pitchFamily="34" charset="0"/>
                <a:ea typeface="Aptos Display" pitchFamily="34" charset="-122"/>
                <a:cs typeface="Aptos Display" pitchFamily="34" charset="-120"/>
              </a:rPr>
              <a:t>New project request</a:t>
            </a:r>
            <a:endParaRPr lang="en-US" sz="1500" dirty="0"/>
          </a:p>
        </p:txBody>
      </p:sp>
      <p:sp>
        <p:nvSpPr>
          <p:cNvPr id="25" name="Text 23"/>
          <p:cNvSpPr/>
          <p:nvPr/>
        </p:nvSpPr>
        <p:spPr>
          <a:xfrm>
            <a:off x="4892040" y="3429000"/>
            <a:ext cx="5760720" cy="667512"/>
          </a:xfrm>
          <a:prstGeom prst="rect">
            <a:avLst/>
          </a:prstGeom>
          <a:noFill/>
          <a:ln/>
        </p:spPr>
        <p:txBody>
          <a:bodyPr wrap="square" lIns="0" tIns="0" rIns="0" bIns="0" rtlCol="0" anchor="ctr">
            <a:normAutofit/>
          </a:bodyPr>
          <a:lstStyle/>
          <a:p>
            <a:pPr indent="0" marL="0">
              <a:buNone/>
            </a:pPr>
            <a:r>
              <a:rPr lang="en-US" sz="1400" dirty="0">
                <a:solidFill>
                  <a:srgbClr val="587082"/>
                </a:solidFill>
                <a:latin typeface="Aptos" pitchFamily="34" charset="0"/>
                <a:ea typeface="Aptos" pitchFamily="34" charset="-122"/>
                <a:cs typeface="Aptos" pitchFamily="34" charset="-120"/>
              </a:rPr>
              <a:t>“How much would a one-page landing site cost for a new project?”</a:t>
            </a:r>
            <a:endParaRPr lang="en-US" sz="1400" dirty="0"/>
          </a:p>
        </p:txBody>
      </p:sp>
      <p:sp>
        <p:nvSpPr>
          <p:cNvPr id="26" name="Shape 24"/>
          <p:cNvSpPr/>
          <p:nvPr/>
        </p:nvSpPr>
        <p:spPr>
          <a:xfrm>
            <a:off x="10762488" y="3666744"/>
            <a:ext cx="521208" cy="292608"/>
          </a:xfrm>
          <a:prstGeom prst="roundRect">
            <a:avLst>
              <a:gd name="adj" fmla="val 37500"/>
            </a:avLst>
          </a:prstGeom>
          <a:solidFill>
            <a:srgbClr val="008E85"/>
          </a:solidFill>
          <a:ln w="12700">
            <a:solidFill>
              <a:srgbClr val="008E85">
                <a:alpha val="0"/>
              </a:srgbClr>
            </a:solidFill>
            <a:prstDash val="solid"/>
          </a:ln>
        </p:spPr>
        <p:txBody>
          <a:bodyPr/>
          <a:p/>
        </p:txBody>
      </p:sp>
      <p:sp>
        <p:nvSpPr>
          <p:cNvPr id="27" name="Text 25"/>
          <p:cNvSpPr/>
          <p:nvPr/>
        </p:nvSpPr>
        <p:spPr>
          <a:xfrm>
            <a:off x="10853928" y="3675888"/>
            <a:ext cx="338328" cy="274320"/>
          </a:xfrm>
          <a:prstGeom prst="rect">
            <a:avLst/>
          </a:prstGeom>
          <a:noFill/>
          <a:ln/>
        </p:spPr>
        <p:txBody>
          <a:bodyPr wrap="square" lIns="0" tIns="0" rIns="0" bIns="0" rtlCol="0" anchor="ctr">
            <a:normAutofit/>
          </a:bodyPr>
          <a:lstStyle/>
          <a:p>
            <a:pPr algn="ctr" indent="0" marL="0">
              <a:buNone/>
            </a:pPr>
            <a:r>
              <a:rPr lang="en-US" sz="1200" b="1" spc="50" kern="0" dirty="0">
                <a:solidFill>
                  <a:srgbClr val="FFFFFF"/>
                </a:solidFill>
                <a:latin typeface="Aptos Display" pitchFamily="34" charset="0"/>
                <a:ea typeface="Aptos Display" pitchFamily="34" charset="-122"/>
                <a:cs typeface="Aptos Display" pitchFamily="34" charset="-120"/>
              </a:rPr>
              <a:t>1</a:t>
            </a:r>
            <a:endParaRPr lang="en-US" sz="1200" dirty="0"/>
          </a:p>
        </p:txBody>
      </p:sp>
      <p:sp>
        <p:nvSpPr>
          <p:cNvPr id="28" name="Shape 26"/>
          <p:cNvSpPr/>
          <p:nvPr/>
        </p:nvSpPr>
        <p:spPr>
          <a:xfrm>
            <a:off x="685800" y="4462272"/>
            <a:ext cx="10789920" cy="914400"/>
          </a:xfrm>
          <a:prstGeom prst="roundRect">
            <a:avLst>
              <a:gd name="adj" fmla="val 13000"/>
            </a:avLst>
          </a:prstGeom>
          <a:solidFill>
            <a:srgbClr val="FFFFFF"/>
          </a:solidFill>
          <a:ln w="12700">
            <a:solidFill>
              <a:srgbClr val="FFFFFF">
                <a:alpha val="0"/>
              </a:srgbClr>
            </a:solidFill>
            <a:prstDash val="solid"/>
          </a:ln>
        </p:spPr>
        <p:txBody>
          <a:bodyPr/>
          <a:p/>
        </p:txBody>
      </p:sp>
      <p:sp>
        <p:nvSpPr>
          <p:cNvPr id="29" name="Shape 27"/>
          <p:cNvSpPr/>
          <p:nvPr/>
        </p:nvSpPr>
        <p:spPr>
          <a:xfrm>
            <a:off x="685800" y="4462272"/>
            <a:ext cx="82296" cy="914400"/>
          </a:xfrm>
          <a:prstGeom prst="rect">
            <a:avLst/>
          </a:prstGeom>
          <a:solidFill>
            <a:srgbClr val="0A2134"/>
          </a:solidFill>
          <a:ln w="12700">
            <a:solidFill>
              <a:srgbClr val="0A2134">
                <a:alpha val="0"/>
              </a:srgbClr>
            </a:solidFill>
            <a:prstDash val="solid"/>
          </a:ln>
        </p:spPr>
        <p:txBody>
          <a:bodyPr/>
          <a:p/>
        </p:txBody>
      </p:sp>
      <p:sp>
        <p:nvSpPr>
          <p:cNvPr id="30" name="Shape 28"/>
          <p:cNvSpPr/>
          <p:nvPr/>
        </p:nvSpPr>
        <p:spPr>
          <a:xfrm>
            <a:off x="914400" y="4617720"/>
            <a:ext cx="1298448" cy="274320"/>
          </a:xfrm>
          <a:prstGeom prst="roundRect">
            <a:avLst>
              <a:gd name="adj" fmla="val 40000"/>
            </a:avLst>
          </a:prstGeom>
          <a:solidFill>
            <a:srgbClr val="0A2134"/>
          </a:solidFill>
          <a:ln w="12700">
            <a:solidFill>
              <a:srgbClr val="0A2134">
                <a:alpha val="0"/>
              </a:srgbClr>
            </a:solidFill>
            <a:prstDash val="solid"/>
          </a:ln>
        </p:spPr>
        <p:txBody>
          <a:bodyPr/>
          <a:p/>
        </p:txBody>
      </p:sp>
      <p:sp>
        <p:nvSpPr>
          <p:cNvPr id="31" name="Text 29"/>
          <p:cNvSpPr/>
          <p:nvPr/>
        </p:nvSpPr>
        <p:spPr>
          <a:xfrm>
            <a:off x="1005840" y="4626864"/>
            <a:ext cx="1115568"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FFFFFF"/>
                </a:solidFill>
                <a:latin typeface="Aptos Display" pitchFamily="34" charset="0"/>
                <a:ea typeface="Aptos Display" pitchFamily="34" charset="-122"/>
                <a:cs typeface="Aptos Display" pitchFamily="34" charset="-120"/>
              </a:rPr>
              <a:t>MIXED</a:t>
            </a:r>
            <a:endParaRPr lang="en-US" sz="1000" dirty="0"/>
          </a:p>
        </p:txBody>
      </p:sp>
      <p:sp>
        <p:nvSpPr>
          <p:cNvPr id="32" name="Text 30"/>
          <p:cNvSpPr/>
          <p:nvPr/>
        </p:nvSpPr>
        <p:spPr>
          <a:xfrm>
            <a:off x="2404872" y="4553712"/>
            <a:ext cx="2743200" cy="265176"/>
          </a:xfrm>
          <a:prstGeom prst="rect">
            <a:avLst/>
          </a:prstGeom>
          <a:noFill/>
          <a:ln/>
        </p:spPr>
        <p:txBody>
          <a:bodyPr wrap="square" lIns="0" tIns="0" rIns="0" bIns="0" rtlCol="0" anchor="ctr">
            <a:normAutofit/>
          </a:bodyPr>
          <a:lstStyle/>
          <a:p>
            <a:pPr indent="0" marL="0">
              <a:buNone/>
            </a:pPr>
            <a:r>
              <a:rPr lang="en-US" sz="1500" b="1" dirty="0">
                <a:solidFill>
                  <a:srgbClr val="112D40"/>
                </a:solidFill>
                <a:latin typeface="Aptos Display" pitchFamily="34" charset="0"/>
                <a:ea typeface="Aptos Display" pitchFamily="34" charset="-122"/>
                <a:cs typeface="Aptos Display" pitchFamily="34" charset="-120"/>
              </a:rPr>
              <a:t>Problem + quotation</a:t>
            </a:r>
            <a:endParaRPr lang="en-US" sz="1500" dirty="0"/>
          </a:p>
        </p:txBody>
      </p:sp>
      <p:sp>
        <p:nvSpPr>
          <p:cNvPr id="33" name="Text 31"/>
          <p:cNvSpPr/>
          <p:nvPr/>
        </p:nvSpPr>
        <p:spPr>
          <a:xfrm>
            <a:off x="4892040" y="4544568"/>
            <a:ext cx="5760720" cy="667512"/>
          </a:xfrm>
          <a:prstGeom prst="rect">
            <a:avLst/>
          </a:prstGeom>
          <a:noFill/>
          <a:ln/>
        </p:spPr>
        <p:txBody>
          <a:bodyPr wrap="square" lIns="0" tIns="0" rIns="0" bIns="0" rtlCol="0" anchor="ctr">
            <a:normAutofit/>
          </a:bodyPr>
          <a:lstStyle/>
          <a:p>
            <a:pPr indent="0" marL="0">
              <a:buNone/>
            </a:pPr>
            <a:r>
              <a:rPr lang="en-US" sz="1400" dirty="0">
                <a:solidFill>
                  <a:srgbClr val="587082"/>
                </a:solidFill>
                <a:latin typeface="Aptos" pitchFamily="34" charset="0"/>
                <a:ea typeface="Aptos" pitchFamily="34" charset="-122"/>
                <a:cs typeface="Aptos" pitchFamily="34" charset="-120"/>
              </a:rPr>
              <a:t>“Could you quote a second website? Also, the website you built... has stopped loading.”</a:t>
            </a:r>
            <a:endParaRPr lang="en-US" sz="1400" dirty="0"/>
          </a:p>
        </p:txBody>
      </p:sp>
      <p:sp>
        <p:nvSpPr>
          <p:cNvPr id="34" name="Shape 32"/>
          <p:cNvSpPr/>
          <p:nvPr/>
        </p:nvSpPr>
        <p:spPr>
          <a:xfrm>
            <a:off x="10762488" y="4782312"/>
            <a:ext cx="521208" cy="292608"/>
          </a:xfrm>
          <a:prstGeom prst="roundRect">
            <a:avLst>
              <a:gd name="adj" fmla="val 37500"/>
            </a:avLst>
          </a:prstGeom>
          <a:solidFill>
            <a:srgbClr val="0A2134"/>
          </a:solidFill>
          <a:ln w="12700">
            <a:solidFill>
              <a:srgbClr val="0A2134">
                <a:alpha val="0"/>
              </a:srgbClr>
            </a:solidFill>
            <a:prstDash val="solid"/>
          </a:ln>
        </p:spPr>
        <p:txBody>
          <a:bodyPr/>
          <a:p/>
        </p:txBody>
      </p:sp>
      <p:sp>
        <p:nvSpPr>
          <p:cNvPr id="35" name="Text 33"/>
          <p:cNvSpPr/>
          <p:nvPr/>
        </p:nvSpPr>
        <p:spPr>
          <a:xfrm>
            <a:off x="10853928" y="4791456"/>
            <a:ext cx="338328" cy="274320"/>
          </a:xfrm>
          <a:prstGeom prst="rect">
            <a:avLst/>
          </a:prstGeom>
          <a:noFill/>
          <a:ln/>
        </p:spPr>
        <p:txBody>
          <a:bodyPr wrap="square" lIns="0" tIns="0" rIns="0" bIns="0" rtlCol="0" anchor="ctr">
            <a:normAutofit/>
          </a:bodyPr>
          <a:lstStyle/>
          <a:p>
            <a:pPr algn="ctr" indent="0" marL="0">
              <a:buNone/>
            </a:pPr>
            <a:r>
              <a:rPr lang="en-US" sz="1200" b="1" spc="50" kern="0" dirty="0">
                <a:solidFill>
                  <a:srgbClr val="FFFFFF"/>
                </a:solidFill>
                <a:latin typeface="Aptos Display" pitchFamily="34" charset="0"/>
                <a:ea typeface="Aptos Display" pitchFamily="34" charset="-122"/>
                <a:cs typeface="Aptos Display" pitchFamily="34" charset="-120"/>
              </a:rPr>
              <a:t>0</a:t>
            </a:r>
            <a:endParaRPr lang="en-US" sz="1200" dirty="0"/>
          </a:p>
        </p:txBody>
      </p:sp>
      <p:sp>
        <p:nvSpPr>
          <p:cNvPr id="36" name="Shape 34"/>
          <p:cNvSpPr/>
          <p:nvPr/>
        </p:nvSpPr>
        <p:spPr>
          <a:xfrm>
            <a:off x="731520" y="5623560"/>
            <a:ext cx="10725912" cy="411480"/>
          </a:xfrm>
          <a:prstGeom prst="roundRect">
            <a:avLst>
              <a:gd name="adj" fmla="val 28889"/>
            </a:avLst>
          </a:prstGeom>
          <a:solidFill>
            <a:srgbClr val="0A2134"/>
          </a:solidFill>
          <a:ln w="12700">
            <a:solidFill>
              <a:srgbClr val="0A2134">
                <a:alpha val="0"/>
              </a:srgbClr>
            </a:solidFill>
            <a:prstDash val="solid"/>
          </a:ln>
        </p:spPr>
        <p:txBody>
          <a:bodyPr/>
          <a:p/>
        </p:txBody>
      </p:sp>
      <p:sp>
        <p:nvSpPr>
          <p:cNvPr id="37" name="Text 35"/>
          <p:cNvSpPr/>
          <p:nvPr/>
        </p:nvSpPr>
        <p:spPr>
          <a:xfrm>
            <a:off x="969264" y="5696712"/>
            <a:ext cx="10213848" cy="265176"/>
          </a:xfrm>
          <a:prstGeom prst="rect">
            <a:avLst/>
          </a:prstGeom>
          <a:noFill/>
          <a:ln/>
        </p:spPr>
        <p:txBody>
          <a:bodyPr wrap="square" lIns="0" tIns="0" rIns="0" bIns="0" rtlCol="0" anchor="ctr">
            <a:normAutofit/>
          </a:bodyPr>
          <a:lstStyle/>
          <a:p>
            <a:pPr indent="0" marL="0">
              <a:buNone/>
            </a:pPr>
            <a:r>
              <a:rPr lang="en-US" sz="1350" b="1" dirty="0">
                <a:solidFill>
                  <a:srgbClr val="FFFFFF"/>
                </a:solidFill>
                <a:latin typeface="Aptos Display" pitchFamily="34" charset="0"/>
                <a:ea typeface="Aptos Display" pitchFamily="34" charset="-122"/>
                <a:cs typeface="Aptos Display" pitchFamily="34" charset="-120"/>
              </a:rPr>
              <a:t>PRIORITY RULE      Existing-service problems override new-sales intent in mixed messages.</a:t>
            </a:r>
            <a:endParaRPr lang="en-US" sz="1350" dirty="0"/>
          </a:p>
        </p:txBody>
      </p:sp>
      <p:sp>
        <p:nvSpPr>
          <p:cNvPr id="38" name="Text 36"/>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Real examples: M13 / M11 / M01 in data/dataset.csv</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7"/>
                                  </p:tgtEl>
                                  <p:attrNameLst>
                                    <p:attrName>style.visibility</p:attrName>
                                  </p:attrNameLst>
                                </p:cBhvr>
                                <p:to>
                                  <p:strVal val="visible"/>
                                </p:to>
                              </p:set>
                              <p:animEffect transition="in" filter="fade">
                                <p:cBhvr>
                                  <p:cTn id="23" dur="520"/>
                                  <p:tgtEl>
                                    <p:spTgt spid="17"/>
                                  </p:tgtEl>
                                </p:cBhvr>
                              </p:animEffect>
                            </p:childTnLst>
                          </p:cTn>
                        </p:par>
                      </p:childTnLst>
                    </p:cTn>
                  </p:par>
                  <p:par>
                    <p:cTn id="25" fill="hold">
                      <p:stCondLst>
                        <p:cond delay="1440"/>
                      </p:stCondLst>
                      <p:childTnLst>
                        <p:par>
                          <p:cTn id="26" fill="hold">
                            <p:childTnLst>
                              <p:set>
                                <p:cBhvr>
                                  <p:cTn id="27" dur="1" fill="hold">
                                    <p:stCondLst>
                                      <p:cond delay="0"/>
                                    </p:stCondLst>
                                  </p:cTn>
                                  <p:tgtEl>
                                    <p:spTgt spid="25"/>
                                  </p:tgtEl>
                                  <p:attrNameLst>
                                    <p:attrName>style.visibility</p:attrName>
                                  </p:attrNameLst>
                                </p:cBhvr>
                                <p:to>
                                  <p:strVal val="visible"/>
                                </p:to>
                              </p:set>
                              <p:animEffect transition="in" filter="fade">
                                <p:cBhvr>
                                  <p:cTn id="28" dur="520"/>
                                  <p:tgtEl>
                                    <p:spTgt spid="25"/>
                                  </p:tgtEl>
                                </p:cBhvr>
                              </p:animEffect>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DOMAIN · LABELING</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04 / 21</a:t>
            </a:r>
            <a:endParaRPr lang="en-US" sz="1000" dirty="0"/>
          </a:p>
        </p:txBody>
      </p:sp>
      <p:sp>
        <p:nvSpPr>
          <p:cNvPr id="7" name="Shape 5"/>
          <p:cNvSpPr/>
          <p:nvPr/>
        </p:nvSpPr>
        <p:spPr>
          <a:xfrm>
            <a:off x="585216" y="6473952"/>
            <a:ext cx="1919445"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BUSINESS RULES</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Two customers can mention “website” but need different teams</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Ground truth is decided by service lifecycle and customer intent.</a:t>
            </a:r>
            <a:endParaRPr lang="en-US" sz="1420" dirty="0"/>
          </a:p>
        </p:txBody>
      </p:sp>
      <p:sp>
        <p:nvSpPr>
          <p:cNvPr id="12" name="Shape 10"/>
          <p:cNvSpPr/>
          <p:nvPr/>
        </p:nvSpPr>
        <p:spPr>
          <a:xfrm>
            <a:off x="777240" y="2130552"/>
            <a:ext cx="10625328" cy="603504"/>
          </a:xfrm>
          <a:prstGeom prst="roundRect">
            <a:avLst>
              <a:gd name="adj" fmla="val 19697"/>
            </a:avLst>
          </a:prstGeom>
          <a:solidFill>
            <a:srgbClr val="FFFFFF"/>
          </a:solidFill>
          <a:ln w="12700">
            <a:solidFill>
              <a:srgbClr val="FFFFFF">
                <a:alpha val="0"/>
              </a:srgbClr>
            </a:solidFill>
            <a:prstDash val="solid"/>
          </a:ln>
        </p:spPr>
        <p:txBody>
          <a:bodyPr/>
          <a:p/>
        </p:txBody>
      </p:sp>
      <p:sp>
        <p:nvSpPr>
          <p:cNvPr id="13" name="Shape 11"/>
          <p:cNvSpPr/>
          <p:nvPr/>
        </p:nvSpPr>
        <p:spPr>
          <a:xfrm>
            <a:off x="950976" y="2240280"/>
            <a:ext cx="420624" cy="356616"/>
          </a:xfrm>
          <a:prstGeom prst="roundRect">
            <a:avLst>
              <a:gd name="adj" fmla="val 33333"/>
            </a:avLst>
          </a:prstGeom>
          <a:solidFill>
            <a:srgbClr val="E6F5F2"/>
          </a:solidFill>
          <a:ln w="12700">
            <a:solidFill>
              <a:srgbClr val="E6F5F2">
                <a:alpha val="0"/>
              </a:srgbClr>
            </a:solidFill>
            <a:prstDash val="solid"/>
          </a:ln>
        </p:spPr>
        <p:txBody>
          <a:bodyPr/>
          <a:p/>
        </p:txBody>
      </p:sp>
      <p:sp>
        <p:nvSpPr>
          <p:cNvPr id="14" name="Text 12"/>
          <p:cNvSpPr/>
          <p:nvPr/>
        </p:nvSpPr>
        <p:spPr>
          <a:xfrm>
            <a:off x="950976" y="2240280"/>
            <a:ext cx="420624" cy="356616"/>
          </a:xfrm>
          <a:prstGeom prst="rect">
            <a:avLst/>
          </a:prstGeom>
          <a:noFill/>
          <a:ln/>
        </p:spPr>
        <p:txBody>
          <a:bodyPr wrap="square" lIns="0" tIns="0" rIns="0" bIns="0" rtlCol="0" anchor="ctr">
            <a:normAutofit/>
          </a:bodyPr>
          <a:lstStyle/>
          <a:p>
            <a:pPr algn="ctr" indent="0" marL="0">
              <a:buNone/>
            </a:pPr>
            <a:r>
              <a:rPr lang="en-US" sz="1300" b="1" dirty="0">
                <a:solidFill>
                  <a:srgbClr val="008E85"/>
                </a:solidFill>
                <a:latin typeface="Aptos Display" pitchFamily="34" charset="0"/>
                <a:ea typeface="Aptos Display" pitchFamily="34" charset="-122"/>
                <a:cs typeface="Aptos Display" pitchFamily="34" charset="-120"/>
              </a:rPr>
              <a:t>01</a:t>
            </a:r>
            <a:endParaRPr lang="en-US" sz="1300" dirty="0"/>
          </a:p>
        </p:txBody>
      </p:sp>
      <p:sp>
        <p:nvSpPr>
          <p:cNvPr id="15" name="Text 13"/>
          <p:cNvSpPr/>
          <p:nvPr/>
        </p:nvSpPr>
        <p:spPr>
          <a:xfrm>
            <a:off x="1517904" y="2258568"/>
            <a:ext cx="1965960" cy="265176"/>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New purchase</a:t>
            </a:r>
            <a:endParaRPr lang="en-US" sz="1600" dirty="0"/>
          </a:p>
        </p:txBody>
      </p:sp>
      <p:sp>
        <p:nvSpPr>
          <p:cNvPr id="16" name="Text 14"/>
          <p:cNvSpPr/>
          <p:nvPr/>
        </p:nvSpPr>
        <p:spPr>
          <a:xfrm>
            <a:off x="3666744" y="2221992"/>
            <a:ext cx="5852160" cy="402336"/>
          </a:xfrm>
          <a:prstGeom prst="rect">
            <a:avLst/>
          </a:prstGeom>
          <a:noFill/>
          <a:ln/>
        </p:spPr>
        <p:txBody>
          <a:bodyPr wrap="square" lIns="0" tIns="0" rIns="0" bIns="0" rtlCol="0" anchor="ctr">
            <a:normAutofit/>
          </a:bodyPr>
          <a:lstStyle/>
          <a:p>
            <a:pPr indent="0" marL="0">
              <a:buNone/>
            </a:pPr>
            <a:r>
              <a:rPr lang="en-US" sz="1440" dirty="0">
                <a:solidFill>
                  <a:srgbClr val="587082"/>
                </a:solidFill>
                <a:latin typeface="Aptos" pitchFamily="34" charset="0"/>
                <a:ea typeface="Aptos" pitchFamily="34" charset="-122"/>
                <a:cs typeface="Aptos" pitchFamily="34" charset="-120"/>
              </a:rPr>
              <a:t>“I need a quote for a new website.”</a:t>
            </a:r>
            <a:endParaRPr lang="en-US" sz="1440" dirty="0"/>
          </a:p>
        </p:txBody>
      </p:sp>
      <p:sp>
        <p:nvSpPr>
          <p:cNvPr id="17" name="Shape 15"/>
          <p:cNvSpPr/>
          <p:nvPr/>
        </p:nvSpPr>
        <p:spPr>
          <a:xfrm>
            <a:off x="9720072" y="2276856"/>
            <a:ext cx="1435608" cy="274320"/>
          </a:xfrm>
          <a:prstGeom prst="roundRect">
            <a:avLst>
              <a:gd name="adj" fmla="val 40000"/>
            </a:avLst>
          </a:prstGeom>
          <a:solidFill>
            <a:srgbClr val="008E85"/>
          </a:solidFill>
          <a:ln w="12700">
            <a:solidFill>
              <a:srgbClr val="008E85">
                <a:alpha val="0"/>
              </a:srgbClr>
            </a:solidFill>
            <a:prstDash val="solid"/>
          </a:ln>
        </p:spPr>
        <p:txBody>
          <a:bodyPr/>
          <a:p/>
        </p:txBody>
      </p:sp>
      <p:sp>
        <p:nvSpPr>
          <p:cNvPr id="18" name="Text 16"/>
          <p:cNvSpPr/>
          <p:nvPr/>
        </p:nvSpPr>
        <p:spPr>
          <a:xfrm>
            <a:off x="9811512" y="2286000"/>
            <a:ext cx="1252728"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FFFFFF"/>
                </a:solidFill>
                <a:latin typeface="Aptos Display" pitchFamily="34" charset="0"/>
                <a:ea typeface="Aptos Display" pitchFamily="34" charset="-122"/>
                <a:cs typeface="Aptos Display" pitchFamily="34" charset="-120"/>
              </a:rPr>
              <a:t>Sales (1)</a:t>
            </a:r>
            <a:endParaRPr lang="en-US" sz="1000" dirty="0"/>
          </a:p>
        </p:txBody>
      </p:sp>
      <p:sp>
        <p:nvSpPr>
          <p:cNvPr id="19" name="Shape 17"/>
          <p:cNvSpPr/>
          <p:nvPr/>
        </p:nvSpPr>
        <p:spPr>
          <a:xfrm>
            <a:off x="777240" y="2843784"/>
            <a:ext cx="10625328" cy="603504"/>
          </a:xfrm>
          <a:prstGeom prst="roundRect">
            <a:avLst>
              <a:gd name="adj" fmla="val 19697"/>
            </a:avLst>
          </a:prstGeom>
          <a:solidFill>
            <a:srgbClr val="FFFFFF"/>
          </a:solidFill>
          <a:ln w="12700">
            <a:solidFill>
              <a:srgbClr val="FFFFFF">
                <a:alpha val="0"/>
              </a:srgbClr>
            </a:solidFill>
            <a:prstDash val="solid"/>
          </a:ln>
        </p:spPr>
        <p:txBody>
          <a:bodyPr/>
          <a:p/>
        </p:txBody>
      </p:sp>
      <p:sp>
        <p:nvSpPr>
          <p:cNvPr id="20" name="Shape 18"/>
          <p:cNvSpPr/>
          <p:nvPr/>
        </p:nvSpPr>
        <p:spPr>
          <a:xfrm>
            <a:off x="950976" y="2953512"/>
            <a:ext cx="420624" cy="356616"/>
          </a:xfrm>
          <a:prstGeom prst="roundRect">
            <a:avLst>
              <a:gd name="adj" fmla="val 33333"/>
            </a:avLst>
          </a:prstGeom>
          <a:solidFill>
            <a:srgbClr val="E6F5F2"/>
          </a:solidFill>
          <a:ln w="12700">
            <a:solidFill>
              <a:srgbClr val="E6F5F2">
                <a:alpha val="0"/>
              </a:srgbClr>
            </a:solidFill>
            <a:prstDash val="solid"/>
          </a:ln>
        </p:spPr>
        <p:txBody>
          <a:bodyPr/>
          <a:p/>
        </p:txBody>
      </p:sp>
      <p:sp>
        <p:nvSpPr>
          <p:cNvPr id="21" name="Text 19"/>
          <p:cNvSpPr/>
          <p:nvPr/>
        </p:nvSpPr>
        <p:spPr>
          <a:xfrm>
            <a:off x="950976" y="2953512"/>
            <a:ext cx="420624" cy="356616"/>
          </a:xfrm>
          <a:prstGeom prst="rect">
            <a:avLst/>
          </a:prstGeom>
          <a:noFill/>
          <a:ln/>
        </p:spPr>
        <p:txBody>
          <a:bodyPr wrap="square" lIns="0" tIns="0" rIns="0" bIns="0" rtlCol="0" anchor="ctr">
            <a:normAutofit/>
          </a:bodyPr>
          <a:lstStyle/>
          <a:p>
            <a:pPr algn="ctr" indent="0" marL="0">
              <a:buNone/>
            </a:pPr>
            <a:r>
              <a:rPr lang="en-US" sz="1300" b="1" dirty="0">
                <a:solidFill>
                  <a:srgbClr val="008E85"/>
                </a:solidFill>
                <a:latin typeface="Aptos Display" pitchFamily="34" charset="0"/>
                <a:ea typeface="Aptos Display" pitchFamily="34" charset="-122"/>
                <a:cs typeface="Aptos Display" pitchFamily="34" charset="-120"/>
              </a:rPr>
              <a:t>02</a:t>
            </a:r>
            <a:endParaRPr lang="en-US" sz="1300" dirty="0"/>
          </a:p>
        </p:txBody>
      </p:sp>
      <p:sp>
        <p:nvSpPr>
          <p:cNvPr id="22" name="Text 20"/>
          <p:cNvSpPr/>
          <p:nvPr/>
        </p:nvSpPr>
        <p:spPr>
          <a:xfrm>
            <a:off x="1517904" y="2971800"/>
            <a:ext cx="1965960" cy="265176"/>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Existing-site defect</a:t>
            </a:r>
            <a:endParaRPr lang="en-US" sz="1600" dirty="0"/>
          </a:p>
        </p:txBody>
      </p:sp>
      <p:sp>
        <p:nvSpPr>
          <p:cNvPr id="23" name="Text 21"/>
          <p:cNvSpPr/>
          <p:nvPr/>
        </p:nvSpPr>
        <p:spPr>
          <a:xfrm>
            <a:off x="3666744" y="2935224"/>
            <a:ext cx="5852160" cy="402336"/>
          </a:xfrm>
          <a:prstGeom prst="rect">
            <a:avLst/>
          </a:prstGeom>
          <a:noFill/>
          <a:ln/>
        </p:spPr>
        <p:txBody>
          <a:bodyPr wrap="square" lIns="0" tIns="0" rIns="0" bIns="0" rtlCol="0" anchor="ctr">
            <a:normAutofit/>
          </a:bodyPr>
          <a:lstStyle/>
          <a:p>
            <a:pPr indent="0" marL="0">
              <a:buNone/>
            </a:pPr>
            <a:r>
              <a:rPr lang="en-US" sz="1440" dirty="0">
                <a:solidFill>
                  <a:srgbClr val="587082"/>
                </a:solidFill>
                <a:latin typeface="Aptos" pitchFamily="34" charset="0"/>
                <a:ea typeface="Aptos" pitchFamily="34" charset="-122"/>
                <a:cs typeface="Aptos" pitchFamily="34" charset="-120"/>
              </a:rPr>
              <a:t>“Our website you built is offline.”</a:t>
            </a:r>
            <a:endParaRPr lang="en-US" sz="1440" dirty="0"/>
          </a:p>
        </p:txBody>
      </p:sp>
      <p:sp>
        <p:nvSpPr>
          <p:cNvPr id="24" name="Shape 22"/>
          <p:cNvSpPr/>
          <p:nvPr/>
        </p:nvSpPr>
        <p:spPr>
          <a:xfrm>
            <a:off x="9720072" y="2990088"/>
            <a:ext cx="1435608" cy="274320"/>
          </a:xfrm>
          <a:prstGeom prst="roundRect">
            <a:avLst>
              <a:gd name="adj" fmla="val 40000"/>
            </a:avLst>
          </a:prstGeom>
          <a:solidFill>
            <a:srgbClr val="0A2134"/>
          </a:solidFill>
          <a:ln w="12700">
            <a:solidFill>
              <a:srgbClr val="0A2134">
                <a:alpha val="0"/>
              </a:srgbClr>
            </a:solidFill>
            <a:prstDash val="solid"/>
          </a:ln>
        </p:spPr>
        <p:txBody>
          <a:bodyPr/>
          <a:p/>
        </p:txBody>
      </p:sp>
      <p:sp>
        <p:nvSpPr>
          <p:cNvPr id="25" name="Text 23"/>
          <p:cNvSpPr/>
          <p:nvPr/>
        </p:nvSpPr>
        <p:spPr>
          <a:xfrm>
            <a:off x="9811512" y="2999232"/>
            <a:ext cx="1252728"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FFFFFF"/>
                </a:solidFill>
                <a:latin typeface="Aptos Display" pitchFamily="34" charset="0"/>
                <a:ea typeface="Aptos Display" pitchFamily="34" charset="-122"/>
                <a:cs typeface="Aptos Display" pitchFamily="34" charset="-120"/>
              </a:rPr>
              <a:t>Support (0)</a:t>
            </a:r>
            <a:endParaRPr lang="en-US" sz="1000" dirty="0"/>
          </a:p>
        </p:txBody>
      </p:sp>
      <p:sp>
        <p:nvSpPr>
          <p:cNvPr id="26" name="Shape 24"/>
          <p:cNvSpPr/>
          <p:nvPr/>
        </p:nvSpPr>
        <p:spPr>
          <a:xfrm>
            <a:off x="777240" y="3557016"/>
            <a:ext cx="10625328" cy="603504"/>
          </a:xfrm>
          <a:prstGeom prst="roundRect">
            <a:avLst>
              <a:gd name="adj" fmla="val 19697"/>
            </a:avLst>
          </a:prstGeom>
          <a:solidFill>
            <a:srgbClr val="FFFFFF"/>
          </a:solidFill>
          <a:ln w="12700">
            <a:solidFill>
              <a:srgbClr val="FFFFFF">
                <a:alpha val="0"/>
              </a:srgbClr>
            </a:solidFill>
            <a:prstDash val="solid"/>
          </a:ln>
        </p:spPr>
        <p:txBody>
          <a:bodyPr/>
          <a:p/>
        </p:txBody>
      </p:sp>
      <p:sp>
        <p:nvSpPr>
          <p:cNvPr id="27" name="Shape 25"/>
          <p:cNvSpPr/>
          <p:nvPr/>
        </p:nvSpPr>
        <p:spPr>
          <a:xfrm>
            <a:off x="950976" y="3666744"/>
            <a:ext cx="420624" cy="356616"/>
          </a:xfrm>
          <a:prstGeom prst="roundRect">
            <a:avLst>
              <a:gd name="adj" fmla="val 33333"/>
            </a:avLst>
          </a:prstGeom>
          <a:solidFill>
            <a:srgbClr val="E6F5F2"/>
          </a:solidFill>
          <a:ln w="12700">
            <a:solidFill>
              <a:srgbClr val="E6F5F2">
                <a:alpha val="0"/>
              </a:srgbClr>
            </a:solidFill>
            <a:prstDash val="solid"/>
          </a:ln>
        </p:spPr>
        <p:txBody>
          <a:bodyPr/>
          <a:p/>
        </p:txBody>
      </p:sp>
      <p:sp>
        <p:nvSpPr>
          <p:cNvPr id="28" name="Text 26"/>
          <p:cNvSpPr/>
          <p:nvPr/>
        </p:nvSpPr>
        <p:spPr>
          <a:xfrm>
            <a:off x="950976" y="3666744"/>
            <a:ext cx="420624" cy="356616"/>
          </a:xfrm>
          <a:prstGeom prst="rect">
            <a:avLst/>
          </a:prstGeom>
          <a:noFill/>
          <a:ln/>
        </p:spPr>
        <p:txBody>
          <a:bodyPr wrap="square" lIns="0" tIns="0" rIns="0" bIns="0" rtlCol="0" anchor="ctr">
            <a:normAutofit/>
          </a:bodyPr>
          <a:lstStyle/>
          <a:p>
            <a:pPr algn="ctr" indent="0" marL="0">
              <a:buNone/>
            </a:pPr>
            <a:r>
              <a:rPr lang="en-US" sz="1300" b="1" dirty="0">
                <a:solidFill>
                  <a:srgbClr val="008E85"/>
                </a:solidFill>
                <a:latin typeface="Aptos Display" pitchFamily="34" charset="0"/>
                <a:ea typeface="Aptos Display" pitchFamily="34" charset="-122"/>
                <a:cs typeface="Aptos Display" pitchFamily="34" charset="-120"/>
              </a:rPr>
              <a:t>03</a:t>
            </a:r>
            <a:endParaRPr lang="en-US" sz="1300" dirty="0"/>
          </a:p>
        </p:txBody>
      </p:sp>
      <p:sp>
        <p:nvSpPr>
          <p:cNvPr id="29" name="Text 27"/>
          <p:cNvSpPr/>
          <p:nvPr/>
        </p:nvSpPr>
        <p:spPr>
          <a:xfrm>
            <a:off x="1517904" y="3685032"/>
            <a:ext cx="1965960" cy="265176"/>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Ongoing cancellation</a:t>
            </a:r>
            <a:endParaRPr lang="en-US" sz="1600" dirty="0"/>
          </a:p>
        </p:txBody>
      </p:sp>
      <p:sp>
        <p:nvSpPr>
          <p:cNvPr id="30" name="Text 28"/>
          <p:cNvSpPr/>
          <p:nvPr/>
        </p:nvSpPr>
        <p:spPr>
          <a:xfrm>
            <a:off x="3666744" y="3648456"/>
            <a:ext cx="5852160" cy="402336"/>
          </a:xfrm>
          <a:prstGeom prst="rect">
            <a:avLst/>
          </a:prstGeom>
          <a:noFill/>
          <a:ln/>
        </p:spPr>
        <p:txBody>
          <a:bodyPr wrap="square" lIns="0" tIns="0" rIns="0" bIns="0" rtlCol="0" anchor="ctr">
            <a:normAutofit/>
          </a:bodyPr>
          <a:lstStyle/>
          <a:p>
            <a:pPr indent="0" marL="0">
              <a:buNone/>
            </a:pPr>
            <a:r>
              <a:rPr lang="en-US" sz="1440" dirty="0">
                <a:solidFill>
                  <a:srgbClr val="587082"/>
                </a:solidFill>
                <a:latin typeface="Aptos" pitchFamily="34" charset="0"/>
                <a:ea typeface="Aptos" pitchFamily="34" charset="-122"/>
                <a:cs typeface="Aptos" pitchFamily="34" charset="-120"/>
              </a:rPr>
              <a:t>“Cancel our ongoing redesign.”</a:t>
            </a:r>
            <a:endParaRPr lang="en-US" sz="1440" dirty="0"/>
          </a:p>
        </p:txBody>
      </p:sp>
      <p:sp>
        <p:nvSpPr>
          <p:cNvPr id="31" name="Shape 29"/>
          <p:cNvSpPr/>
          <p:nvPr/>
        </p:nvSpPr>
        <p:spPr>
          <a:xfrm>
            <a:off x="9720072" y="3703320"/>
            <a:ext cx="1435608" cy="274320"/>
          </a:xfrm>
          <a:prstGeom prst="roundRect">
            <a:avLst>
              <a:gd name="adj" fmla="val 40000"/>
            </a:avLst>
          </a:prstGeom>
          <a:solidFill>
            <a:srgbClr val="0A2134"/>
          </a:solidFill>
          <a:ln w="12700">
            <a:solidFill>
              <a:srgbClr val="0A2134">
                <a:alpha val="0"/>
              </a:srgbClr>
            </a:solidFill>
            <a:prstDash val="solid"/>
          </a:ln>
        </p:spPr>
        <p:txBody>
          <a:bodyPr/>
          <a:p/>
        </p:txBody>
      </p:sp>
      <p:sp>
        <p:nvSpPr>
          <p:cNvPr id="32" name="Text 30"/>
          <p:cNvSpPr/>
          <p:nvPr/>
        </p:nvSpPr>
        <p:spPr>
          <a:xfrm>
            <a:off x="9811512" y="3712464"/>
            <a:ext cx="1252728"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FFFFFF"/>
                </a:solidFill>
                <a:latin typeface="Aptos Display" pitchFamily="34" charset="0"/>
                <a:ea typeface="Aptos Display" pitchFamily="34" charset="-122"/>
                <a:cs typeface="Aptos Display" pitchFamily="34" charset="-120"/>
              </a:rPr>
              <a:t>Support (0)</a:t>
            </a:r>
            <a:endParaRPr lang="en-US" sz="1000" dirty="0"/>
          </a:p>
        </p:txBody>
      </p:sp>
      <p:sp>
        <p:nvSpPr>
          <p:cNvPr id="33" name="Shape 31"/>
          <p:cNvSpPr/>
          <p:nvPr/>
        </p:nvSpPr>
        <p:spPr>
          <a:xfrm>
            <a:off x="777240" y="4270248"/>
            <a:ext cx="10625328" cy="603504"/>
          </a:xfrm>
          <a:prstGeom prst="roundRect">
            <a:avLst>
              <a:gd name="adj" fmla="val 19697"/>
            </a:avLst>
          </a:prstGeom>
          <a:solidFill>
            <a:srgbClr val="FFFFFF"/>
          </a:solidFill>
          <a:ln w="12700">
            <a:solidFill>
              <a:srgbClr val="FFFFFF">
                <a:alpha val="0"/>
              </a:srgbClr>
            </a:solidFill>
            <a:prstDash val="solid"/>
          </a:ln>
        </p:spPr>
        <p:txBody>
          <a:bodyPr/>
          <a:p/>
        </p:txBody>
      </p:sp>
      <p:sp>
        <p:nvSpPr>
          <p:cNvPr id="34" name="Shape 32"/>
          <p:cNvSpPr/>
          <p:nvPr/>
        </p:nvSpPr>
        <p:spPr>
          <a:xfrm>
            <a:off x="950976" y="4379976"/>
            <a:ext cx="420624" cy="356616"/>
          </a:xfrm>
          <a:prstGeom prst="roundRect">
            <a:avLst>
              <a:gd name="adj" fmla="val 33333"/>
            </a:avLst>
          </a:prstGeom>
          <a:solidFill>
            <a:srgbClr val="E6F5F2"/>
          </a:solidFill>
          <a:ln w="12700">
            <a:solidFill>
              <a:srgbClr val="E6F5F2">
                <a:alpha val="0"/>
              </a:srgbClr>
            </a:solidFill>
            <a:prstDash val="solid"/>
          </a:ln>
        </p:spPr>
        <p:txBody>
          <a:bodyPr/>
          <a:p/>
        </p:txBody>
      </p:sp>
      <p:sp>
        <p:nvSpPr>
          <p:cNvPr id="35" name="Text 33"/>
          <p:cNvSpPr/>
          <p:nvPr/>
        </p:nvSpPr>
        <p:spPr>
          <a:xfrm>
            <a:off x="950976" y="4379976"/>
            <a:ext cx="420624" cy="356616"/>
          </a:xfrm>
          <a:prstGeom prst="rect">
            <a:avLst/>
          </a:prstGeom>
          <a:noFill/>
          <a:ln/>
        </p:spPr>
        <p:txBody>
          <a:bodyPr wrap="square" lIns="0" tIns="0" rIns="0" bIns="0" rtlCol="0" anchor="ctr">
            <a:normAutofit/>
          </a:bodyPr>
          <a:lstStyle/>
          <a:p>
            <a:pPr algn="ctr" indent="0" marL="0">
              <a:buNone/>
            </a:pPr>
            <a:r>
              <a:rPr lang="en-US" sz="1300" b="1" dirty="0">
                <a:solidFill>
                  <a:srgbClr val="008E85"/>
                </a:solidFill>
                <a:latin typeface="Aptos Display" pitchFamily="34" charset="0"/>
                <a:ea typeface="Aptos Display" pitchFamily="34" charset="-122"/>
                <a:cs typeface="Aptos Display" pitchFamily="34" charset="-120"/>
              </a:rPr>
              <a:t>04</a:t>
            </a:r>
            <a:endParaRPr lang="en-US" sz="1300" dirty="0"/>
          </a:p>
        </p:txBody>
      </p:sp>
      <p:sp>
        <p:nvSpPr>
          <p:cNvPr id="36" name="Text 34"/>
          <p:cNvSpPr/>
          <p:nvPr/>
        </p:nvSpPr>
        <p:spPr>
          <a:xfrm>
            <a:off x="1517904" y="4398264"/>
            <a:ext cx="1965960" cy="265176"/>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Negation</a:t>
            </a:r>
            <a:endParaRPr lang="en-US" sz="1600" dirty="0"/>
          </a:p>
        </p:txBody>
      </p:sp>
      <p:sp>
        <p:nvSpPr>
          <p:cNvPr id="37" name="Text 35"/>
          <p:cNvSpPr/>
          <p:nvPr/>
        </p:nvSpPr>
        <p:spPr>
          <a:xfrm>
            <a:off x="3666744" y="4361688"/>
            <a:ext cx="5852160" cy="402336"/>
          </a:xfrm>
          <a:prstGeom prst="rect">
            <a:avLst/>
          </a:prstGeom>
          <a:noFill/>
          <a:ln/>
        </p:spPr>
        <p:txBody>
          <a:bodyPr wrap="square" lIns="0" tIns="0" rIns="0" bIns="0" rtlCol="0" anchor="ctr">
            <a:normAutofit/>
          </a:bodyPr>
          <a:lstStyle/>
          <a:p>
            <a:pPr indent="0" marL="0">
              <a:buNone/>
            </a:pPr>
            <a:r>
              <a:rPr lang="en-US" sz="1440" dirty="0">
                <a:solidFill>
                  <a:srgbClr val="587082"/>
                </a:solidFill>
                <a:latin typeface="Aptos" pitchFamily="34" charset="0"/>
                <a:ea typeface="Aptos" pitchFamily="34" charset="-122"/>
                <a:cs typeface="Aptos" pitchFamily="34" charset="-120"/>
              </a:rPr>
              <a:t>“Our site is not broken; we want a new quote.”</a:t>
            </a:r>
            <a:endParaRPr lang="en-US" sz="1440" dirty="0"/>
          </a:p>
        </p:txBody>
      </p:sp>
      <p:sp>
        <p:nvSpPr>
          <p:cNvPr id="38" name="Shape 36"/>
          <p:cNvSpPr/>
          <p:nvPr/>
        </p:nvSpPr>
        <p:spPr>
          <a:xfrm>
            <a:off x="9720072" y="4416552"/>
            <a:ext cx="1435608" cy="274320"/>
          </a:xfrm>
          <a:prstGeom prst="roundRect">
            <a:avLst>
              <a:gd name="adj" fmla="val 40000"/>
            </a:avLst>
          </a:prstGeom>
          <a:solidFill>
            <a:srgbClr val="008E85"/>
          </a:solidFill>
          <a:ln w="12700">
            <a:solidFill>
              <a:srgbClr val="008E85">
                <a:alpha val="0"/>
              </a:srgbClr>
            </a:solidFill>
            <a:prstDash val="solid"/>
          </a:ln>
        </p:spPr>
        <p:txBody>
          <a:bodyPr/>
          <a:p/>
        </p:txBody>
      </p:sp>
      <p:sp>
        <p:nvSpPr>
          <p:cNvPr id="39" name="Text 37"/>
          <p:cNvSpPr/>
          <p:nvPr/>
        </p:nvSpPr>
        <p:spPr>
          <a:xfrm>
            <a:off x="9811512" y="4425696"/>
            <a:ext cx="1252728"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FFFFFF"/>
                </a:solidFill>
                <a:latin typeface="Aptos Display" pitchFamily="34" charset="0"/>
                <a:ea typeface="Aptos Display" pitchFamily="34" charset="-122"/>
                <a:cs typeface="Aptos Display" pitchFamily="34" charset="-120"/>
              </a:rPr>
              <a:t>Sales (1)</a:t>
            </a:r>
            <a:endParaRPr lang="en-US" sz="1000" dirty="0"/>
          </a:p>
        </p:txBody>
      </p:sp>
      <p:sp>
        <p:nvSpPr>
          <p:cNvPr id="40" name="Shape 38"/>
          <p:cNvSpPr/>
          <p:nvPr/>
        </p:nvSpPr>
        <p:spPr>
          <a:xfrm>
            <a:off x="777240" y="4983480"/>
            <a:ext cx="10625328" cy="603504"/>
          </a:xfrm>
          <a:prstGeom prst="roundRect">
            <a:avLst>
              <a:gd name="adj" fmla="val 19697"/>
            </a:avLst>
          </a:prstGeom>
          <a:solidFill>
            <a:srgbClr val="FFFFFF"/>
          </a:solidFill>
          <a:ln w="12700">
            <a:solidFill>
              <a:srgbClr val="FFFFFF">
                <a:alpha val="0"/>
              </a:srgbClr>
            </a:solidFill>
            <a:prstDash val="solid"/>
          </a:ln>
        </p:spPr>
        <p:txBody>
          <a:bodyPr/>
          <a:p/>
        </p:txBody>
      </p:sp>
      <p:sp>
        <p:nvSpPr>
          <p:cNvPr id="41" name="Shape 39"/>
          <p:cNvSpPr/>
          <p:nvPr/>
        </p:nvSpPr>
        <p:spPr>
          <a:xfrm>
            <a:off x="950976" y="5093208"/>
            <a:ext cx="420624" cy="356616"/>
          </a:xfrm>
          <a:prstGeom prst="roundRect">
            <a:avLst>
              <a:gd name="adj" fmla="val 33333"/>
            </a:avLst>
          </a:prstGeom>
          <a:solidFill>
            <a:srgbClr val="E6F5F2"/>
          </a:solidFill>
          <a:ln w="12700">
            <a:solidFill>
              <a:srgbClr val="E6F5F2">
                <a:alpha val="0"/>
              </a:srgbClr>
            </a:solidFill>
            <a:prstDash val="solid"/>
          </a:ln>
        </p:spPr>
        <p:txBody>
          <a:bodyPr/>
          <a:p/>
        </p:txBody>
      </p:sp>
      <p:sp>
        <p:nvSpPr>
          <p:cNvPr id="42" name="Text 40"/>
          <p:cNvSpPr/>
          <p:nvPr/>
        </p:nvSpPr>
        <p:spPr>
          <a:xfrm>
            <a:off x="950976" y="5093208"/>
            <a:ext cx="420624" cy="356616"/>
          </a:xfrm>
          <a:prstGeom prst="rect">
            <a:avLst/>
          </a:prstGeom>
          <a:noFill/>
          <a:ln/>
        </p:spPr>
        <p:txBody>
          <a:bodyPr wrap="square" lIns="0" tIns="0" rIns="0" bIns="0" rtlCol="0" anchor="ctr">
            <a:normAutofit/>
          </a:bodyPr>
          <a:lstStyle/>
          <a:p>
            <a:pPr algn="ctr" indent="0" marL="0">
              <a:buNone/>
            </a:pPr>
            <a:r>
              <a:rPr lang="en-US" sz="1300" b="1" dirty="0">
                <a:solidFill>
                  <a:srgbClr val="008E85"/>
                </a:solidFill>
                <a:latin typeface="Aptos Display" pitchFamily="34" charset="0"/>
                <a:ea typeface="Aptos Display" pitchFamily="34" charset="-122"/>
                <a:cs typeface="Aptos Display" pitchFamily="34" charset="-120"/>
              </a:rPr>
              <a:t>05</a:t>
            </a:r>
            <a:endParaRPr lang="en-US" sz="1300" dirty="0"/>
          </a:p>
        </p:txBody>
      </p:sp>
      <p:sp>
        <p:nvSpPr>
          <p:cNvPr id="43" name="Text 41"/>
          <p:cNvSpPr/>
          <p:nvPr/>
        </p:nvSpPr>
        <p:spPr>
          <a:xfrm>
            <a:off x="1517904" y="5111496"/>
            <a:ext cx="1965960" cy="265176"/>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Mixed intent</a:t>
            </a:r>
            <a:endParaRPr lang="en-US" sz="1600" dirty="0"/>
          </a:p>
        </p:txBody>
      </p:sp>
      <p:sp>
        <p:nvSpPr>
          <p:cNvPr id="44" name="Text 42"/>
          <p:cNvSpPr/>
          <p:nvPr/>
        </p:nvSpPr>
        <p:spPr>
          <a:xfrm>
            <a:off x="3666744" y="5074920"/>
            <a:ext cx="5852160" cy="402336"/>
          </a:xfrm>
          <a:prstGeom prst="rect">
            <a:avLst/>
          </a:prstGeom>
          <a:noFill/>
          <a:ln/>
        </p:spPr>
        <p:txBody>
          <a:bodyPr wrap="square" lIns="0" tIns="0" rIns="0" bIns="0" rtlCol="0" anchor="ctr">
            <a:normAutofit/>
          </a:bodyPr>
          <a:lstStyle/>
          <a:p>
            <a:pPr indent="0" marL="0">
              <a:buNone/>
            </a:pPr>
            <a:r>
              <a:rPr lang="en-US" sz="1440" dirty="0">
                <a:solidFill>
                  <a:srgbClr val="587082"/>
                </a:solidFill>
                <a:latin typeface="Aptos" pitchFamily="34" charset="0"/>
                <a:ea typeface="Aptos" pitchFamily="34" charset="-122"/>
                <a:cs typeface="Aptos" pitchFamily="34" charset="-120"/>
              </a:rPr>
              <a:t>“Quote a second site; also fix the first.”</a:t>
            </a:r>
            <a:endParaRPr lang="en-US" sz="1440" dirty="0"/>
          </a:p>
        </p:txBody>
      </p:sp>
      <p:sp>
        <p:nvSpPr>
          <p:cNvPr id="45" name="Shape 43"/>
          <p:cNvSpPr/>
          <p:nvPr/>
        </p:nvSpPr>
        <p:spPr>
          <a:xfrm>
            <a:off x="9720072" y="5129784"/>
            <a:ext cx="1435608" cy="274320"/>
          </a:xfrm>
          <a:prstGeom prst="roundRect">
            <a:avLst>
              <a:gd name="adj" fmla="val 40000"/>
            </a:avLst>
          </a:prstGeom>
          <a:solidFill>
            <a:srgbClr val="0A2134"/>
          </a:solidFill>
          <a:ln w="12700">
            <a:solidFill>
              <a:srgbClr val="0A2134">
                <a:alpha val="0"/>
              </a:srgbClr>
            </a:solidFill>
            <a:prstDash val="solid"/>
          </a:ln>
        </p:spPr>
        <p:txBody>
          <a:bodyPr/>
          <a:p/>
        </p:txBody>
      </p:sp>
      <p:sp>
        <p:nvSpPr>
          <p:cNvPr id="46" name="Text 44"/>
          <p:cNvSpPr/>
          <p:nvPr/>
        </p:nvSpPr>
        <p:spPr>
          <a:xfrm>
            <a:off x="9811512" y="5138928"/>
            <a:ext cx="1252728"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FFFFFF"/>
                </a:solidFill>
                <a:latin typeface="Aptos Display" pitchFamily="34" charset="0"/>
                <a:ea typeface="Aptos Display" pitchFamily="34" charset="-122"/>
                <a:cs typeface="Aptos Display" pitchFamily="34" charset="-120"/>
              </a:rPr>
              <a:t>Support (0)</a:t>
            </a:r>
            <a:endParaRPr lang="en-US" sz="1000" dirty="0"/>
          </a:p>
        </p:txBody>
      </p:sp>
      <p:sp>
        <p:nvSpPr>
          <p:cNvPr id="47" name="Text 45"/>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Labeling rule: existing-service issues override new-purchase intent in mixed messages.</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5"/>
                                  </p:tgtEl>
                                  <p:attrNameLst>
                                    <p:attrName>style.visibility</p:attrName>
                                  </p:attrNameLst>
                                </p:cBhvr>
                                <p:to>
                                  <p:strVal val="visible"/>
                                </p:to>
                              </p:set>
                              <p:animEffect transition="in" filter="fade">
                                <p:cBhvr>
                                  <p:cTn id="23" dur="520"/>
                                  <p:tgtEl>
                                    <p:spTgt spid="15"/>
                                  </p:tgtEl>
                                </p:cBhvr>
                              </p:animEffect>
                            </p:childTnLst>
                          </p:cTn>
                        </p:par>
                      </p:childTnLst>
                    </p:cTn>
                  </p:par>
                  <p:par>
                    <p:cTn id="25" fill="hold">
                      <p:stCondLst>
                        <p:cond delay="1440"/>
                      </p:stCondLst>
                      <p:childTnLst>
                        <p:par>
                          <p:cTn id="26" fill="hold">
                            <p:childTnLst>
                              <p:set>
                                <p:cBhvr>
                                  <p:cTn id="27" dur="1" fill="hold">
                                    <p:stCondLst>
                                      <p:cond delay="0"/>
                                    </p:stCondLst>
                                  </p:cTn>
                                  <p:tgtEl>
                                    <p:spTgt spid="23"/>
                                  </p:tgtEl>
                                  <p:attrNameLst>
                                    <p:attrName>style.visibility</p:attrName>
                                  </p:attrNameLst>
                                </p:cBhvr>
                                <p:to>
                                  <p:strVal val="visible"/>
                                </p:to>
                              </p:set>
                              <p:animEffect transition="in" filter="fade">
                                <p:cBhvr>
                                  <p:cTn id="28" dur="520"/>
                                  <p:tgtEl>
                                    <p:spTgt spid="23"/>
                                  </p:tgtEl>
                                </p:cBhvr>
                              </p:animEffect>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DATASET</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05 / 21</a:t>
            </a:r>
            <a:endParaRPr lang="en-US" sz="1000" dirty="0"/>
          </a:p>
        </p:txBody>
      </p:sp>
      <p:sp>
        <p:nvSpPr>
          <p:cNvPr id="7" name="Shape 5"/>
          <p:cNvSpPr/>
          <p:nvPr/>
        </p:nvSpPr>
        <p:spPr>
          <a:xfrm>
            <a:off x="585216" y="6473952"/>
            <a:ext cx="2399306"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EXPERIMENTAL DESIGN</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A balanced dataset creates a fair comparison</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Synthetic English website-development messages; near-paraphrases stay together.</a:t>
            </a:r>
            <a:endParaRPr lang="en-US" sz="1420" dirty="0"/>
          </a:p>
        </p:txBody>
      </p:sp>
      <p:sp>
        <p:nvSpPr>
          <p:cNvPr id="12" name="Shape 10"/>
          <p:cNvSpPr/>
          <p:nvPr/>
        </p:nvSpPr>
        <p:spPr>
          <a:xfrm>
            <a:off x="713232" y="2185416"/>
            <a:ext cx="3913632" cy="3584448"/>
          </a:xfrm>
          <a:prstGeom prst="roundRect">
            <a:avLst>
              <a:gd name="adj" fmla="val 3316"/>
            </a:avLst>
          </a:prstGeom>
          <a:solidFill>
            <a:srgbClr val="0A2134"/>
          </a:solidFill>
          <a:ln w="12700">
            <a:solidFill>
              <a:srgbClr val="0A2134">
                <a:alpha val="0"/>
              </a:srgbClr>
            </a:solidFill>
            <a:prstDash val="solid"/>
          </a:ln>
        </p:spPr>
        <p:txBody>
          <a:bodyPr/>
          <a:p/>
        </p:txBody>
      </p:sp>
      <p:sp>
        <p:nvSpPr>
          <p:cNvPr id="13" name="Text 11"/>
          <p:cNvSpPr/>
          <p:nvPr/>
        </p:nvSpPr>
        <p:spPr>
          <a:xfrm>
            <a:off x="987552" y="2395728"/>
            <a:ext cx="2103120" cy="960120"/>
          </a:xfrm>
          <a:prstGeom prst="rect">
            <a:avLst/>
          </a:prstGeom>
          <a:noFill/>
          <a:ln/>
        </p:spPr>
        <p:txBody>
          <a:bodyPr wrap="square" lIns="0" tIns="0" rIns="0" bIns="0" rtlCol="0" anchor="ctr">
            <a:normAutofit/>
          </a:bodyPr>
          <a:lstStyle/>
          <a:p>
            <a:pPr indent="0" marL="0">
              <a:buNone/>
            </a:pPr>
            <a:r>
              <a:rPr lang="en-US" sz="5900" b="1" dirty="0">
                <a:solidFill>
                  <a:srgbClr val="FFFFFF"/>
                </a:solidFill>
                <a:latin typeface="Aptos Display" pitchFamily="34" charset="0"/>
                <a:ea typeface="Aptos Display" pitchFamily="34" charset="-122"/>
                <a:cs typeface="Aptos Display" pitchFamily="34" charset="-120"/>
              </a:rPr>
              <a:t>60</a:t>
            </a:r>
            <a:endParaRPr lang="en-US" sz="5900" dirty="0"/>
          </a:p>
        </p:txBody>
      </p:sp>
      <p:sp>
        <p:nvSpPr>
          <p:cNvPr id="14" name="Text 12"/>
          <p:cNvSpPr/>
          <p:nvPr/>
        </p:nvSpPr>
        <p:spPr>
          <a:xfrm>
            <a:off x="2761488" y="2779776"/>
            <a:ext cx="1563624" cy="310896"/>
          </a:xfrm>
          <a:prstGeom prst="rect">
            <a:avLst/>
          </a:prstGeom>
          <a:noFill/>
          <a:ln/>
        </p:spPr>
        <p:txBody>
          <a:bodyPr wrap="square" lIns="0" tIns="0" rIns="0" bIns="0" rtlCol="0" anchor="ctr">
            <a:normAutofit/>
          </a:bodyPr>
          <a:lstStyle/>
          <a:p>
            <a:pPr indent="0" marL="0">
              <a:buNone/>
            </a:pPr>
            <a:r>
              <a:rPr lang="en-US" sz="1400" b="1" dirty="0">
                <a:solidFill>
                  <a:srgbClr val="9BD9D4"/>
                </a:solidFill>
                <a:latin typeface="Aptos Display" pitchFamily="34" charset="0"/>
                <a:ea typeface="Aptos Display" pitchFamily="34" charset="-122"/>
                <a:cs typeface="Aptos Display" pitchFamily="34" charset="-120"/>
              </a:rPr>
              <a:t>MESSAGES</a:t>
            </a:r>
            <a:endParaRPr lang="en-US" sz="1400" dirty="0"/>
          </a:p>
        </p:txBody>
      </p:sp>
      <p:sp>
        <p:nvSpPr>
          <p:cNvPr id="15" name="Shape 13"/>
          <p:cNvSpPr/>
          <p:nvPr/>
        </p:nvSpPr>
        <p:spPr>
          <a:xfrm>
            <a:off x="1005840" y="3621024"/>
            <a:ext cx="1609344" cy="137160"/>
          </a:xfrm>
          <a:prstGeom prst="rect">
            <a:avLst/>
          </a:prstGeom>
          <a:solidFill>
            <a:srgbClr val="008E85"/>
          </a:solidFill>
          <a:ln w="12700">
            <a:solidFill>
              <a:srgbClr val="008E85">
                <a:alpha val="0"/>
              </a:srgbClr>
            </a:solidFill>
            <a:prstDash val="solid"/>
          </a:ln>
        </p:spPr>
        <p:txBody>
          <a:bodyPr/>
          <a:p/>
        </p:txBody>
      </p:sp>
      <p:sp>
        <p:nvSpPr>
          <p:cNvPr id="16" name="Shape 14"/>
          <p:cNvSpPr/>
          <p:nvPr/>
        </p:nvSpPr>
        <p:spPr>
          <a:xfrm>
            <a:off x="2651760" y="3621024"/>
            <a:ext cx="1600200" cy="137160"/>
          </a:xfrm>
          <a:prstGeom prst="rect">
            <a:avLst/>
          </a:prstGeom>
          <a:solidFill>
            <a:srgbClr val="7FA4B4"/>
          </a:solidFill>
          <a:ln w="12700">
            <a:solidFill>
              <a:srgbClr val="7FA4B4">
                <a:alpha val="0"/>
              </a:srgbClr>
            </a:solidFill>
            <a:prstDash val="solid"/>
          </a:ln>
        </p:spPr>
        <p:txBody>
          <a:bodyPr/>
          <a:p/>
        </p:txBody>
      </p:sp>
      <p:sp>
        <p:nvSpPr>
          <p:cNvPr id="17" name="Text 15"/>
          <p:cNvSpPr/>
          <p:nvPr/>
        </p:nvSpPr>
        <p:spPr>
          <a:xfrm>
            <a:off x="996696" y="3813048"/>
            <a:ext cx="1746504" cy="27432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30  SUPPORT (0)</a:t>
            </a:r>
            <a:endParaRPr lang="en-US" sz="1200" dirty="0"/>
          </a:p>
        </p:txBody>
      </p:sp>
      <p:sp>
        <p:nvSpPr>
          <p:cNvPr id="18" name="Text 16"/>
          <p:cNvSpPr/>
          <p:nvPr/>
        </p:nvSpPr>
        <p:spPr>
          <a:xfrm>
            <a:off x="2816352" y="3813048"/>
            <a:ext cx="1581912" cy="27432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30  SALES (1)</a:t>
            </a:r>
            <a:endParaRPr lang="en-US" sz="1200" dirty="0"/>
          </a:p>
        </p:txBody>
      </p:sp>
      <p:sp>
        <p:nvSpPr>
          <p:cNvPr id="19" name="Shape 17"/>
          <p:cNvSpPr/>
          <p:nvPr/>
        </p:nvSpPr>
        <p:spPr>
          <a:xfrm>
            <a:off x="1024128" y="4288536"/>
            <a:ext cx="3246120" cy="0"/>
          </a:xfrm>
          <a:prstGeom prst="line">
            <a:avLst/>
          </a:prstGeom>
          <a:noFill/>
          <a:ln w="13970">
            <a:solidFill>
              <a:srgbClr val="386071"/>
            </a:solidFill>
            <a:prstDash val="solid"/>
            <a:headEnd type="none"/>
            <a:tailEnd type="none"/>
          </a:ln>
        </p:spPr>
        <p:txBody>
          <a:bodyPr/>
          <a:p/>
        </p:txBody>
      </p:sp>
      <p:sp>
        <p:nvSpPr>
          <p:cNvPr id="20" name="Text 18"/>
          <p:cNvSpPr/>
          <p:nvPr/>
        </p:nvSpPr>
        <p:spPr>
          <a:xfrm>
            <a:off x="1014984" y="4480560"/>
            <a:ext cx="1097280" cy="219456"/>
          </a:xfrm>
          <a:prstGeom prst="rect">
            <a:avLst/>
          </a:prstGeom>
          <a:noFill/>
          <a:ln/>
        </p:spPr>
        <p:txBody>
          <a:bodyPr wrap="square" lIns="0" tIns="0" rIns="0" bIns="0" rtlCol="0" anchor="ctr">
            <a:normAutofit/>
          </a:bodyPr>
          <a:lstStyle/>
          <a:p>
            <a:pPr indent="0" marL="0">
              <a:buNone/>
            </a:pPr>
            <a:r>
              <a:rPr lang="en-US" sz="1200" b="1" dirty="0">
                <a:solidFill>
                  <a:srgbClr val="B9D3D6"/>
                </a:solidFill>
                <a:latin typeface="Aptos Display" pitchFamily="34" charset="0"/>
                <a:ea typeface="Aptos Display" pitchFamily="34" charset="-122"/>
                <a:cs typeface="Aptos Display" pitchFamily="34" charset="-120"/>
              </a:rPr>
              <a:t>TRAIN</a:t>
            </a:r>
            <a:endParaRPr lang="en-US" sz="1200" dirty="0"/>
          </a:p>
        </p:txBody>
      </p:sp>
      <p:sp>
        <p:nvSpPr>
          <p:cNvPr id="21" name="Text 19"/>
          <p:cNvSpPr/>
          <p:nvPr/>
        </p:nvSpPr>
        <p:spPr>
          <a:xfrm>
            <a:off x="1042416" y="4736592"/>
            <a:ext cx="731520" cy="36576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Aptos Display" pitchFamily="34" charset="0"/>
                <a:ea typeface="Aptos Display" pitchFamily="34" charset="-122"/>
                <a:cs typeface="Aptos Display" pitchFamily="34" charset="-120"/>
              </a:rPr>
              <a:t>40</a:t>
            </a:r>
            <a:endParaRPr lang="en-US" sz="2600" dirty="0"/>
          </a:p>
        </p:txBody>
      </p:sp>
      <p:sp>
        <p:nvSpPr>
          <p:cNvPr id="22" name="Text 20"/>
          <p:cNvSpPr/>
          <p:nvPr/>
        </p:nvSpPr>
        <p:spPr>
          <a:xfrm>
            <a:off x="1847088" y="4809744"/>
            <a:ext cx="1810512" cy="265176"/>
          </a:xfrm>
          <a:prstGeom prst="rect">
            <a:avLst/>
          </a:prstGeom>
          <a:noFill/>
          <a:ln/>
        </p:spPr>
        <p:txBody>
          <a:bodyPr wrap="square" lIns="0" tIns="0" rIns="0" bIns="0" rtlCol="0" anchor="ctr">
            <a:normAutofit/>
          </a:bodyPr>
          <a:lstStyle/>
          <a:p>
            <a:pPr indent="0" marL="0">
              <a:buNone/>
            </a:pPr>
            <a:r>
              <a:rPr lang="en-US" sz="1300" dirty="0">
                <a:solidFill>
                  <a:srgbClr val="9FD8D2"/>
                </a:solidFill>
                <a:latin typeface="Aptos" pitchFamily="34" charset="0"/>
                <a:ea typeface="Aptos" pitchFamily="34" charset="-122"/>
                <a:cs typeface="Aptos" pitchFamily="34" charset="-120"/>
              </a:rPr>
              <a:t>20 + 20</a:t>
            </a:r>
            <a:endParaRPr lang="en-US" sz="1300" dirty="0"/>
          </a:p>
        </p:txBody>
      </p:sp>
      <p:sp>
        <p:nvSpPr>
          <p:cNvPr id="23" name="Text 21"/>
          <p:cNvSpPr/>
          <p:nvPr/>
        </p:nvSpPr>
        <p:spPr>
          <a:xfrm>
            <a:off x="2980944" y="4480560"/>
            <a:ext cx="1143000" cy="219456"/>
          </a:xfrm>
          <a:prstGeom prst="rect">
            <a:avLst/>
          </a:prstGeom>
          <a:noFill/>
          <a:ln/>
        </p:spPr>
        <p:txBody>
          <a:bodyPr wrap="square" lIns="0" tIns="0" rIns="0" bIns="0" rtlCol="0" anchor="ctr">
            <a:normAutofit/>
          </a:bodyPr>
          <a:lstStyle/>
          <a:p>
            <a:pPr indent="0" marL="0">
              <a:buNone/>
            </a:pPr>
            <a:r>
              <a:rPr lang="en-US" sz="1200" b="1" dirty="0">
                <a:solidFill>
                  <a:srgbClr val="B9D3D6"/>
                </a:solidFill>
                <a:latin typeface="Aptos Display" pitchFamily="34" charset="0"/>
                <a:ea typeface="Aptos Display" pitchFamily="34" charset="-122"/>
                <a:cs typeface="Aptos Display" pitchFamily="34" charset="-120"/>
              </a:rPr>
              <a:t>TEST</a:t>
            </a:r>
            <a:endParaRPr lang="en-US" sz="1200" dirty="0"/>
          </a:p>
        </p:txBody>
      </p:sp>
      <p:sp>
        <p:nvSpPr>
          <p:cNvPr id="24" name="Text 22"/>
          <p:cNvSpPr/>
          <p:nvPr/>
        </p:nvSpPr>
        <p:spPr>
          <a:xfrm>
            <a:off x="2990088" y="4736592"/>
            <a:ext cx="777240" cy="36576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Aptos Display" pitchFamily="34" charset="0"/>
                <a:ea typeface="Aptos Display" pitchFamily="34" charset="-122"/>
                <a:cs typeface="Aptos Display" pitchFamily="34" charset="-120"/>
              </a:rPr>
              <a:t>20</a:t>
            </a:r>
            <a:endParaRPr lang="en-US" sz="2600" dirty="0"/>
          </a:p>
        </p:txBody>
      </p:sp>
      <p:sp>
        <p:nvSpPr>
          <p:cNvPr id="25" name="Text 23"/>
          <p:cNvSpPr/>
          <p:nvPr/>
        </p:nvSpPr>
        <p:spPr>
          <a:xfrm>
            <a:off x="2980944" y="5230368"/>
            <a:ext cx="1280160" cy="265176"/>
          </a:xfrm>
          <a:prstGeom prst="rect">
            <a:avLst/>
          </a:prstGeom>
          <a:noFill/>
          <a:ln/>
        </p:spPr>
        <p:txBody>
          <a:bodyPr wrap="square" lIns="0" tIns="0" rIns="0" bIns="0" rtlCol="0" anchor="ctr">
            <a:normAutofit/>
          </a:bodyPr>
          <a:lstStyle/>
          <a:p>
            <a:pPr indent="0" marL="0">
              <a:buNone/>
            </a:pPr>
            <a:r>
              <a:rPr lang="en-US" sz="1200" dirty="0">
                <a:solidFill>
                  <a:srgbClr val="9FD8D2"/>
                </a:solidFill>
                <a:latin typeface="Aptos" pitchFamily="34" charset="0"/>
                <a:ea typeface="Aptos" pitchFamily="34" charset="-122"/>
                <a:cs typeface="Aptos" pitchFamily="34" charset="-120"/>
              </a:rPr>
              <a:t>10 + 10</a:t>
            </a:r>
            <a:endParaRPr lang="en-US" sz="1200" dirty="0"/>
          </a:p>
        </p:txBody>
      </p:sp>
      <p:sp>
        <p:nvSpPr>
          <p:cNvPr id="26" name="Shape 24"/>
          <p:cNvSpPr/>
          <p:nvPr/>
        </p:nvSpPr>
        <p:spPr>
          <a:xfrm>
            <a:off x="4855464" y="2194560"/>
            <a:ext cx="6620256" cy="3575304"/>
          </a:xfrm>
          <a:prstGeom prst="roundRect">
            <a:avLst>
              <a:gd name="adj" fmla="val 3325"/>
            </a:avLst>
          </a:prstGeom>
          <a:solidFill>
            <a:srgbClr val="FFFFFF"/>
          </a:solidFill>
          <a:ln w="12700">
            <a:solidFill>
              <a:srgbClr val="FFFFFF">
                <a:alpha val="0"/>
              </a:srgbClr>
            </a:solidFill>
            <a:prstDash val="solid"/>
          </a:ln>
        </p:spPr>
        <p:txBody>
          <a:bodyPr/>
          <a:p/>
        </p:txBody>
      </p:sp>
      <p:sp>
        <p:nvSpPr>
          <p:cNvPr id="27" name="Text 25"/>
          <p:cNvSpPr/>
          <p:nvPr/>
        </p:nvSpPr>
        <p:spPr>
          <a:xfrm>
            <a:off x="5093208" y="2404872"/>
            <a:ext cx="6089904" cy="292608"/>
          </a:xfrm>
          <a:prstGeom prst="rect">
            <a:avLst/>
          </a:prstGeom>
          <a:noFill/>
          <a:ln/>
        </p:spPr>
        <p:txBody>
          <a:bodyPr wrap="square" lIns="0" tIns="0" rIns="0" bIns="0" rtlCol="0" anchor="ctr">
            <a:normAutofit/>
          </a:bodyPr>
          <a:lstStyle/>
          <a:p>
            <a:pPr indent="0" marL="0">
              <a:buNone/>
            </a:pPr>
            <a:r>
              <a:rPr lang="en-US" sz="1400" b="1" spc="50" kern="0" dirty="0">
                <a:solidFill>
                  <a:srgbClr val="112D40"/>
                </a:solidFill>
                <a:latin typeface="Aptos Display" pitchFamily="34" charset="0"/>
                <a:ea typeface="Aptos Display" pitchFamily="34" charset="-122"/>
                <a:cs typeface="Aptos Display" pitchFamily="34" charset="-120"/>
              </a:rPr>
              <a:t>SELECTED DATASET EXCERPTS</a:t>
            </a:r>
            <a:endParaRPr lang="en-US" sz="1400" dirty="0"/>
          </a:p>
        </p:txBody>
      </p:sp>
      <p:sp>
        <p:nvSpPr>
          <p:cNvPr id="28" name="Text 26"/>
          <p:cNvSpPr/>
          <p:nvPr/>
        </p:nvSpPr>
        <p:spPr>
          <a:xfrm>
            <a:off x="5111496" y="2880360"/>
            <a:ext cx="438912" cy="265176"/>
          </a:xfrm>
          <a:prstGeom prst="rect">
            <a:avLst/>
          </a:prstGeom>
          <a:noFill/>
          <a:ln/>
        </p:spPr>
        <p:txBody>
          <a:bodyPr wrap="square" lIns="0" tIns="0" rIns="0" bIns="0" rtlCol="0" anchor="ctr">
            <a:normAutofit/>
          </a:bodyPr>
          <a:lstStyle/>
          <a:p>
            <a:pPr indent="0" marL="0">
              <a:buNone/>
            </a:pPr>
            <a:r>
              <a:rPr lang="en-US" sz="1300" b="1" dirty="0">
                <a:solidFill>
                  <a:srgbClr val="008E85"/>
                </a:solidFill>
                <a:latin typeface="Aptos Display" pitchFamily="34" charset="0"/>
                <a:ea typeface="Aptos Display" pitchFamily="34" charset="-122"/>
                <a:cs typeface="Aptos Display" pitchFamily="34" charset="-120"/>
              </a:rPr>
              <a:t>M01</a:t>
            </a:r>
            <a:endParaRPr lang="en-US" sz="1300" dirty="0"/>
          </a:p>
        </p:txBody>
      </p:sp>
      <p:sp>
        <p:nvSpPr>
          <p:cNvPr id="29" name="Text 27"/>
          <p:cNvSpPr/>
          <p:nvPr/>
        </p:nvSpPr>
        <p:spPr>
          <a:xfrm>
            <a:off x="5623560" y="2798064"/>
            <a:ext cx="3767328" cy="658368"/>
          </a:xfrm>
          <a:prstGeom prst="rect">
            <a:avLst/>
          </a:prstGeom>
          <a:noFill/>
          <a:ln/>
        </p:spPr>
        <p:txBody>
          <a:bodyPr wrap="square" lIns="0" tIns="0" rIns="0" bIns="0" rtlCol="0" anchor="ctr">
            <a:normAutofit/>
          </a:bodyPr>
          <a:lstStyle/>
          <a:p>
            <a:pPr indent="0" marL="0">
              <a:buNone/>
            </a:pPr>
            <a:r>
              <a:rPr lang="en-US" sz="1250" dirty="0">
                <a:solidFill>
                  <a:srgbClr val="112D40"/>
                </a:solidFill>
                <a:latin typeface="Aptos" pitchFamily="34" charset="0"/>
                <a:ea typeface="Aptos" pitchFamily="34" charset="-122"/>
                <a:cs typeface="Aptos" pitchFamily="34" charset="-120"/>
              </a:rPr>
              <a:t>“Quote a second website? Also, the website... stopped loading.”</a:t>
            </a:r>
            <a:endParaRPr lang="en-US" sz="1250" dirty="0"/>
          </a:p>
        </p:txBody>
      </p:sp>
      <p:sp>
        <p:nvSpPr>
          <p:cNvPr id="30" name="Text 28"/>
          <p:cNvSpPr/>
          <p:nvPr/>
        </p:nvSpPr>
        <p:spPr>
          <a:xfrm>
            <a:off x="9464040" y="2880360"/>
            <a:ext cx="777240" cy="265176"/>
          </a:xfrm>
          <a:prstGeom prst="rect">
            <a:avLst/>
          </a:prstGeom>
          <a:noFill/>
          <a:ln/>
        </p:spPr>
        <p:txBody>
          <a:bodyPr wrap="square" lIns="0" tIns="0" rIns="0" bIns="0" rtlCol="0" anchor="ctr">
            <a:normAutofit/>
          </a:bodyPr>
          <a:lstStyle/>
          <a:p>
            <a:pPr indent="0" marL="0">
              <a:buNone/>
            </a:pPr>
            <a:r>
              <a:rPr lang="en-US" sz="1200" b="1" dirty="0">
                <a:solidFill>
                  <a:srgbClr val="112D40"/>
                </a:solidFill>
                <a:latin typeface="Aptos Display" pitchFamily="34" charset="0"/>
                <a:ea typeface="Aptos Display" pitchFamily="34" charset="-122"/>
                <a:cs typeface="Aptos Display" pitchFamily="34" charset="-120"/>
              </a:rPr>
              <a:t>Support</a:t>
            </a:r>
            <a:endParaRPr lang="en-US" sz="1200" dirty="0"/>
          </a:p>
        </p:txBody>
      </p:sp>
      <p:sp>
        <p:nvSpPr>
          <p:cNvPr id="31" name="Text 29"/>
          <p:cNvSpPr/>
          <p:nvPr/>
        </p:nvSpPr>
        <p:spPr>
          <a:xfrm>
            <a:off x="10341864" y="2880360"/>
            <a:ext cx="914400" cy="292608"/>
          </a:xfrm>
          <a:prstGeom prst="rect">
            <a:avLst/>
          </a:prstGeom>
          <a:noFill/>
          <a:ln/>
        </p:spPr>
        <p:txBody>
          <a:bodyPr wrap="square" lIns="0" tIns="0" rIns="0" bIns="0" rtlCol="0" anchor="ctr">
            <a:normAutofit/>
          </a:bodyPr>
          <a:lstStyle/>
          <a:p>
            <a:pPr indent="0" marL="0">
              <a:buNone/>
            </a:pPr>
            <a:r>
              <a:rPr lang="en-US" sz="1050" dirty="0">
                <a:solidFill>
                  <a:srgbClr val="587082"/>
                </a:solidFill>
                <a:latin typeface="Aptos" pitchFamily="34" charset="0"/>
                <a:ea typeface="Aptos" pitchFamily="34" charset="-122"/>
                <a:cs typeface="Aptos" pitchFamily="34" charset="-120"/>
              </a:rPr>
              <a:t>Mixed</a:t>
            </a:r>
            <a:endParaRPr lang="en-US" sz="1050" dirty="0"/>
          </a:p>
        </p:txBody>
      </p:sp>
      <p:sp>
        <p:nvSpPr>
          <p:cNvPr id="32" name="Shape 30"/>
          <p:cNvSpPr/>
          <p:nvPr/>
        </p:nvSpPr>
        <p:spPr>
          <a:xfrm>
            <a:off x="5093208" y="3456432"/>
            <a:ext cx="6089904" cy="0"/>
          </a:xfrm>
          <a:prstGeom prst="line">
            <a:avLst/>
          </a:prstGeom>
          <a:noFill/>
          <a:ln w="10160">
            <a:solidFill>
              <a:srgbClr val="D7E3E7"/>
            </a:solidFill>
            <a:prstDash val="solid"/>
            <a:headEnd type="none"/>
            <a:tailEnd type="none"/>
          </a:ln>
        </p:spPr>
        <p:txBody>
          <a:bodyPr/>
          <a:p/>
        </p:txBody>
      </p:sp>
      <p:sp>
        <p:nvSpPr>
          <p:cNvPr id="33" name="Text 31"/>
          <p:cNvSpPr/>
          <p:nvPr/>
        </p:nvSpPr>
        <p:spPr>
          <a:xfrm>
            <a:off x="5111496" y="3538728"/>
            <a:ext cx="438912" cy="265176"/>
          </a:xfrm>
          <a:prstGeom prst="rect">
            <a:avLst/>
          </a:prstGeom>
          <a:noFill/>
          <a:ln/>
        </p:spPr>
        <p:txBody>
          <a:bodyPr wrap="square" lIns="0" tIns="0" rIns="0" bIns="0" rtlCol="0" anchor="ctr">
            <a:normAutofit/>
          </a:bodyPr>
          <a:lstStyle/>
          <a:p>
            <a:pPr indent="0" marL="0">
              <a:buNone/>
            </a:pPr>
            <a:r>
              <a:rPr lang="en-US" sz="1300" b="1" dirty="0">
                <a:solidFill>
                  <a:srgbClr val="008E85"/>
                </a:solidFill>
                <a:latin typeface="Aptos Display" pitchFamily="34" charset="0"/>
                <a:ea typeface="Aptos Display" pitchFamily="34" charset="-122"/>
                <a:cs typeface="Aptos Display" pitchFamily="34" charset="-120"/>
              </a:rPr>
              <a:t>M11</a:t>
            </a:r>
            <a:endParaRPr lang="en-US" sz="1300" dirty="0"/>
          </a:p>
        </p:txBody>
      </p:sp>
      <p:sp>
        <p:nvSpPr>
          <p:cNvPr id="34" name="Text 32"/>
          <p:cNvSpPr/>
          <p:nvPr/>
        </p:nvSpPr>
        <p:spPr>
          <a:xfrm>
            <a:off x="5623560" y="3456432"/>
            <a:ext cx="3767328" cy="658368"/>
          </a:xfrm>
          <a:prstGeom prst="rect">
            <a:avLst/>
          </a:prstGeom>
          <a:noFill/>
          <a:ln/>
        </p:spPr>
        <p:txBody>
          <a:bodyPr wrap="square" lIns="0" tIns="0" rIns="0" bIns="0" rtlCol="0" anchor="ctr">
            <a:normAutofit/>
          </a:bodyPr>
          <a:lstStyle/>
          <a:p>
            <a:pPr indent="0" marL="0">
              <a:buNone/>
            </a:pPr>
            <a:r>
              <a:rPr lang="en-US" sz="1250" dirty="0">
                <a:solidFill>
                  <a:srgbClr val="112D40"/>
                </a:solidFill>
                <a:latin typeface="Aptos" pitchFamily="34" charset="0"/>
                <a:ea typeface="Aptos" pitchFamily="34" charset="-122"/>
                <a:cs typeface="Aptos" pitchFamily="34" charset="-120"/>
              </a:rPr>
              <a:t>“How much would a one-page landing site cost...?”</a:t>
            </a:r>
            <a:endParaRPr lang="en-US" sz="1250" dirty="0"/>
          </a:p>
        </p:txBody>
      </p:sp>
      <p:sp>
        <p:nvSpPr>
          <p:cNvPr id="35" name="Text 33"/>
          <p:cNvSpPr/>
          <p:nvPr/>
        </p:nvSpPr>
        <p:spPr>
          <a:xfrm>
            <a:off x="9464040" y="3538728"/>
            <a:ext cx="777240" cy="265176"/>
          </a:xfrm>
          <a:prstGeom prst="rect">
            <a:avLst/>
          </a:prstGeom>
          <a:noFill/>
          <a:ln/>
        </p:spPr>
        <p:txBody>
          <a:bodyPr wrap="square" lIns="0" tIns="0" rIns="0" bIns="0" rtlCol="0" anchor="ctr">
            <a:normAutofit/>
          </a:bodyPr>
          <a:lstStyle/>
          <a:p>
            <a:pPr indent="0" marL="0">
              <a:buNone/>
            </a:pPr>
            <a:r>
              <a:rPr lang="en-US" sz="1200" b="1" dirty="0">
                <a:solidFill>
                  <a:srgbClr val="112D40"/>
                </a:solidFill>
                <a:latin typeface="Aptos Display" pitchFamily="34" charset="0"/>
                <a:ea typeface="Aptos Display" pitchFamily="34" charset="-122"/>
                <a:cs typeface="Aptos Display" pitchFamily="34" charset="-120"/>
              </a:rPr>
              <a:t>Sales</a:t>
            </a:r>
            <a:endParaRPr lang="en-US" sz="1200" dirty="0"/>
          </a:p>
        </p:txBody>
      </p:sp>
      <p:sp>
        <p:nvSpPr>
          <p:cNvPr id="36" name="Text 34"/>
          <p:cNvSpPr/>
          <p:nvPr/>
        </p:nvSpPr>
        <p:spPr>
          <a:xfrm>
            <a:off x="10341864" y="3538728"/>
            <a:ext cx="914400" cy="292608"/>
          </a:xfrm>
          <a:prstGeom prst="rect">
            <a:avLst/>
          </a:prstGeom>
          <a:noFill/>
          <a:ln/>
        </p:spPr>
        <p:txBody>
          <a:bodyPr wrap="square" lIns="0" tIns="0" rIns="0" bIns="0" rtlCol="0" anchor="ctr">
            <a:normAutofit/>
          </a:bodyPr>
          <a:lstStyle/>
          <a:p>
            <a:pPr indent="0" marL="0">
              <a:buNone/>
            </a:pPr>
            <a:r>
              <a:rPr lang="en-US" sz="1050" dirty="0">
                <a:solidFill>
                  <a:srgbClr val="587082"/>
                </a:solidFill>
                <a:latin typeface="Aptos" pitchFamily="34" charset="0"/>
                <a:ea typeface="Aptos" pitchFamily="34" charset="-122"/>
                <a:cs typeface="Aptos" pitchFamily="34" charset="-120"/>
              </a:rPr>
              <a:t>Paraphrase</a:t>
            </a:r>
            <a:endParaRPr lang="en-US" sz="1050" dirty="0"/>
          </a:p>
        </p:txBody>
      </p:sp>
      <p:sp>
        <p:nvSpPr>
          <p:cNvPr id="37" name="Shape 35"/>
          <p:cNvSpPr/>
          <p:nvPr/>
        </p:nvSpPr>
        <p:spPr>
          <a:xfrm>
            <a:off x="5093208" y="4114800"/>
            <a:ext cx="6089904" cy="0"/>
          </a:xfrm>
          <a:prstGeom prst="line">
            <a:avLst/>
          </a:prstGeom>
          <a:noFill/>
          <a:ln w="10160">
            <a:solidFill>
              <a:srgbClr val="D7E3E7"/>
            </a:solidFill>
            <a:prstDash val="solid"/>
            <a:headEnd type="none"/>
            <a:tailEnd type="none"/>
          </a:ln>
        </p:spPr>
        <p:txBody>
          <a:bodyPr/>
          <a:p/>
        </p:txBody>
      </p:sp>
      <p:sp>
        <p:nvSpPr>
          <p:cNvPr id="38" name="Text 36"/>
          <p:cNvSpPr/>
          <p:nvPr/>
        </p:nvSpPr>
        <p:spPr>
          <a:xfrm>
            <a:off x="5111496" y="4197096"/>
            <a:ext cx="438912" cy="265176"/>
          </a:xfrm>
          <a:prstGeom prst="rect">
            <a:avLst/>
          </a:prstGeom>
          <a:noFill/>
          <a:ln/>
        </p:spPr>
        <p:txBody>
          <a:bodyPr wrap="square" lIns="0" tIns="0" rIns="0" bIns="0" rtlCol="0" anchor="ctr">
            <a:normAutofit/>
          </a:bodyPr>
          <a:lstStyle/>
          <a:p>
            <a:pPr indent="0" marL="0">
              <a:buNone/>
            </a:pPr>
            <a:r>
              <a:rPr lang="en-US" sz="1300" b="1" dirty="0">
                <a:solidFill>
                  <a:srgbClr val="008E85"/>
                </a:solidFill>
                <a:latin typeface="Aptos Display" pitchFamily="34" charset="0"/>
                <a:ea typeface="Aptos Display" pitchFamily="34" charset="-122"/>
                <a:cs typeface="Aptos Display" pitchFamily="34" charset="-120"/>
              </a:rPr>
              <a:t>M25</a:t>
            </a:r>
            <a:endParaRPr lang="en-US" sz="1300" dirty="0"/>
          </a:p>
        </p:txBody>
      </p:sp>
      <p:sp>
        <p:nvSpPr>
          <p:cNvPr id="39" name="Text 37"/>
          <p:cNvSpPr/>
          <p:nvPr/>
        </p:nvSpPr>
        <p:spPr>
          <a:xfrm>
            <a:off x="5623560" y="4114800"/>
            <a:ext cx="3767328" cy="658368"/>
          </a:xfrm>
          <a:prstGeom prst="rect">
            <a:avLst/>
          </a:prstGeom>
          <a:noFill/>
          <a:ln/>
        </p:spPr>
        <p:txBody>
          <a:bodyPr wrap="square" lIns="0" tIns="0" rIns="0" bIns="0" rtlCol="0" anchor="ctr">
            <a:normAutofit/>
          </a:bodyPr>
          <a:lstStyle/>
          <a:p>
            <a:pPr indent="0" marL="0">
              <a:buNone/>
            </a:pPr>
            <a:r>
              <a:rPr lang="en-US" sz="1250" dirty="0">
                <a:solidFill>
                  <a:srgbClr val="112D40"/>
                </a:solidFill>
                <a:latin typeface="Aptos" pitchFamily="34" charset="0"/>
                <a:ea typeface="Aptos" pitchFamily="34" charset="-122"/>
                <a:cs typeface="Aptos" pitchFamily="34" charset="-120"/>
              </a:rPr>
              <a:t>“Please cancel our ongoing website redesign project...”</a:t>
            </a:r>
            <a:endParaRPr lang="en-US" sz="1250" dirty="0"/>
          </a:p>
        </p:txBody>
      </p:sp>
      <p:sp>
        <p:nvSpPr>
          <p:cNvPr id="40" name="Text 38"/>
          <p:cNvSpPr/>
          <p:nvPr/>
        </p:nvSpPr>
        <p:spPr>
          <a:xfrm>
            <a:off x="9464040" y="4197096"/>
            <a:ext cx="777240" cy="265176"/>
          </a:xfrm>
          <a:prstGeom prst="rect">
            <a:avLst/>
          </a:prstGeom>
          <a:noFill/>
          <a:ln/>
        </p:spPr>
        <p:txBody>
          <a:bodyPr wrap="square" lIns="0" tIns="0" rIns="0" bIns="0" rtlCol="0" anchor="ctr">
            <a:normAutofit/>
          </a:bodyPr>
          <a:lstStyle/>
          <a:p>
            <a:pPr indent="0" marL="0">
              <a:buNone/>
            </a:pPr>
            <a:r>
              <a:rPr lang="en-US" sz="1200" b="1" dirty="0">
                <a:solidFill>
                  <a:srgbClr val="112D40"/>
                </a:solidFill>
                <a:latin typeface="Aptos Display" pitchFamily="34" charset="0"/>
                <a:ea typeface="Aptos Display" pitchFamily="34" charset="-122"/>
                <a:cs typeface="Aptos Display" pitchFamily="34" charset="-120"/>
              </a:rPr>
              <a:t>Support</a:t>
            </a:r>
            <a:endParaRPr lang="en-US" sz="1200" dirty="0"/>
          </a:p>
        </p:txBody>
      </p:sp>
      <p:sp>
        <p:nvSpPr>
          <p:cNvPr id="41" name="Text 39"/>
          <p:cNvSpPr/>
          <p:nvPr/>
        </p:nvSpPr>
        <p:spPr>
          <a:xfrm>
            <a:off x="10341864" y="4197096"/>
            <a:ext cx="914400" cy="292608"/>
          </a:xfrm>
          <a:prstGeom prst="rect">
            <a:avLst/>
          </a:prstGeom>
          <a:noFill/>
          <a:ln/>
        </p:spPr>
        <p:txBody>
          <a:bodyPr wrap="square" lIns="0" tIns="0" rIns="0" bIns="0" rtlCol="0" anchor="ctr">
            <a:normAutofit/>
          </a:bodyPr>
          <a:lstStyle/>
          <a:p>
            <a:pPr indent="0" marL="0">
              <a:buNone/>
            </a:pPr>
            <a:r>
              <a:rPr lang="en-US" sz="1050" dirty="0">
                <a:solidFill>
                  <a:srgbClr val="587082"/>
                </a:solidFill>
                <a:latin typeface="Aptos" pitchFamily="34" charset="0"/>
                <a:ea typeface="Aptos" pitchFamily="34" charset="-122"/>
                <a:cs typeface="Aptos" pitchFamily="34" charset="-120"/>
              </a:rPr>
              <a:t>Straightforward</a:t>
            </a:r>
            <a:endParaRPr lang="en-US" sz="1050" dirty="0"/>
          </a:p>
        </p:txBody>
      </p:sp>
      <p:sp>
        <p:nvSpPr>
          <p:cNvPr id="42" name="Shape 40"/>
          <p:cNvSpPr/>
          <p:nvPr/>
        </p:nvSpPr>
        <p:spPr>
          <a:xfrm>
            <a:off x="5093208" y="4773168"/>
            <a:ext cx="6089904" cy="0"/>
          </a:xfrm>
          <a:prstGeom prst="line">
            <a:avLst/>
          </a:prstGeom>
          <a:noFill/>
          <a:ln w="10160">
            <a:solidFill>
              <a:srgbClr val="D7E3E7"/>
            </a:solidFill>
            <a:prstDash val="solid"/>
            <a:headEnd type="none"/>
            <a:tailEnd type="none"/>
          </a:ln>
        </p:spPr>
        <p:txBody>
          <a:bodyPr/>
          <a:p/>
        </p:txBody>
      </p:sp>
      <p:sp>
        <p:nvSpPr>
          <p:cNvPr id="43" name="Text 41"/>
          <p:cNvSpPr/>
          <p:nvPr/>
        </p:nvSpPr>
        <p:spPr>
          <a:xfrm>
            <a:off x="5111496" y="4855464"/>
            <a:ext cx="438912" cy="265176"/>
          </a:xfrm>
          <a:prstGeom prst="rect">
            <a:avLst/>
          </a:prstGeom>
          <a:noFill/>
          <a:ln/>
        </p:spPr>
        <p:txBody>
          <a:bodyPr wrap="square" lIns="0" tIns="0" rIns="0" bIns="0" rtlCol="0" anchor="ctr">
            <a:normAutofit/>
          </a:bodyPr>
          <a:lstStyle/>
          <a:p>
            <a:pPr indent="0" marL="0">
              <a:buNone/>
            </a:pPr>
            <a:r>
              <a:rPr lang="en-US" sz="1300" b="1" dirty="0">
                <a:solidFill>
                  <a:srgbClr val="008E85"/>
                </a:solidFill>
                <a:latin typeface="Aptos Display" pitchFamily="34" charset="0"/>
                <a:ea typeface="Aptos Display" pitchFamily="34" charset="-122"/>
                <a:cs typeface="Aptos Display" pitchFamily="34" charset="-120"/>
              </a:rPr>
              <a:t>M53</a:t>
            </a:r>
            <a:endParaRPr lang="en-US" sz="1300" dirty="0"/>
          </a:p>
        </p:txBody>
      </p:sp>
      <p:sp>
        <p:nvSpPr>
          <p:cNvPr id="44" name="Text 42"/>
          <p:cNvSpPr/>
          <p:nvPr/>
        </p:nvSpPr>
        <p:spPr>
          <a:xfrm>
            <a:off x="5623560" y="4773168"/>
            <a:ext cx="3767328" cy="658368"/>
          </a:xfrm>
          <a:prstGeom prst="rect">
            <a:avLst/>
          </a:prstGeom>
          <a:noFill/>
          <a:ln/>
        </p:spPr>
        <p:txBody>
          <a:bodyPr wrap="square" lIns="0" tIns="0" rIns="0" bIns="0" rtlCol="0" anchor="ctr">
            <a:normAutofit/>
          </a:bodyPr>
          <a:lstStyle/>
          <a:p>
            <a:pPr indent="0" marL="0">
              <a:buNone/>
            </a:pPr>
            <a:r>
              <a:rPr lang="en-US" sz="1250" dirty="0">
                <a:solidFill>
                  <a:srgbClr val="112D40"/>
                </a:solidFill>
                <a:latin typeface="Aptos" pitchFamily="34" charset="0"/>
                <a:ea typeface="Aptos" pitchFamily="34" charset="-122"/>
                <a:cs typeface="Aptos" pitchFamily="34" charset="-120"/>
              </a:rPr>
              <a:t>“Our current website isn’t broken; we want a quote...”</a:t>
            </a:r>
            <a:endParaRPr lang="en-US" sz="1250" dirty="0"/>
          </a:p>
        </p:txBody>
      </p:sp>
      <p:sp>
        <p:nvSpPr>
          <p:cNvPr id="45" name="Text 43"/>
          <p:cNvSpPr/>
          <p:nvPr/>
        </p:nvSpPr>
        <p:spPr>
          <a:xfrm>
            <a:off x="9464040" y="4855464"/>
            <a:ext cx="777240" cy="265176"/>
          </a:xfrm>
          <a:prstGeom prst="rect">
            <a:avLst/>
          </a:prstGeom>
          <a:noFill/>
          <a:ln/>
        </p:spPr>
        <p:txBody>
          <a:bodyPr wrap="square" lIns="0" tIns="0" rIns="0" bIns="0" rtlCol="0" anchor="ctr">
            <a:normAutofit/>
          </a:bodyPr>
          <a:lstStyle/>
          <a:p>
            <a:pPr indent="0" marL="0">
              <a:buNone/>
            </a:pPr>
            <a:r>
              <a:rPr lang="en-US" sz="1200" b="1" dirty="0">
                <a:solidFill>
                  <a:srgbClr val="112D40"/>
                </a:solidFill>
                <a:latin typeface="Aptos Display" pitchFamily="34" charset="0"/>
                <a:ea typeface="Aptos Display" pitchFamily="34" charset="-122"/>
                <a:cs typeface="Aptos Display" pitchFamily="34" charset="-120"/>
              </a:rPr>
              <a:t>Sales</a:t>
            </a:r>
            <a:endParaRPr lang="en-US" sz="1200" dirty="0"/>
          </a:p>
        </p:txBody>
      </p:sp>
      <p:sp>
        <p:nvSpPr>
          <p:cNvPr id="46" name="Text 44"/>
          <p:cNvSpPr/>
          <p:nvPr/>
        </p:nvSpPr>
        <p:spPr>
          <a:xfrm>
            <a:off x="10341864" y="4855464"/>
            <a:ext cx="914400" cy="292608"/>
          </a:xfrm>
          <a:prstGeom prst="rect">
            <a:avLst/>
          </a:prstGeom>
          <a:noFill/>
          <a:ln/>
        </p:spPr>
        <p:txBody>
          <a:bodyPr wrap="square" lIns="0" tIns="0" rIns="0" bIns="0" rtlCol="0" anchor="ctr">
            <a:normAutofit/>
          </a:bodyPr>
          <a:lstStyle/>
          <a:p>
            <a:pPr indent="0" marL="0">
              <a:buNone/>
            </a:pPr>
            <a:r>
              <a:rPr lang="en-US" sz="1050" dirty="0">
                <a:solidFill>
                  <a:srgbClr val="587082"/>
                </a:solidFill>
                <a:latin typeface="Aptos" pitchFamily="34" charset="0"/>
                <a:ea typeface="Aptos" pitchFamily="34" charset="-122"/>
                <a:cs typeface="Aptos" pitchFamily="34" charset="-120"/>
              </a:rPr>
              <a:t>Negation</a:t>
            </a:r>
            <a:endParaRPr lang="en-US" sz="1050" dirty="0"/>
          </a:p>
        </p:txBody>
      </p:sp>
      <p:sp>
        <p:nvSpPr>
          <p:cNvPr id="47" name="Text 45"/>
          <p:cNvSpPr/>
          <p:nvPr/>
        </p:nvSpPr>
        <p:spPr>
          <a:xfrm>
            <a:off x="813816" y="5943600"/>
            <a:ext cx="10789920" cy="228600"/>
          </a:xfrm>
          <a:prstGeom prst="rect">
            <a:avLst/>
          </a:prstGeom>
          <a:noFill/>
          <a:ln/>
        </p:spPr>
        <p:txBody>
          <a:bodyPr wrap="square" lIns="0" tIns="0" rIns="0" bIns="0" rtlCol="0" anchor="ctr">
            <a:normAutofit/>
          </a:bodyPr>
          <a:lstStyle/>
          <a:p>
            <a:pPr indent="0" marL="0">
              <a:buNone/>
            </a:pPr>
            <a:r>
              <a:rPr lang="en-US" sz="1200" b="1" dirty="0">
                <a:solidFill>
                  <a:srgbClr val="587082"/>
                </a:solidFill>
                <a:latin typeface="Aptos Display" pitchFamily="34" charset="0"/>
                <a:ea typeface="Aptos Display" pitchFamily="34" charset="-122"/>
                <a:cs typeface="Aptos Display" pitchFamily="34" charset="-120"/>
              </a:rPr>
              <a:t>Grouped split: no group_id overlaps between train and test.</a:t>
            </a:r>
            <a:endParaRPr lang="en-US" sz="1200" dirty="0"/>
          </a:p>
        </p:txBody>
      </p:sp>
      <p:sp>
        <p:nvSpPr>
          <p:cNvPr id="48" name="Text 46"/>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Data source: project CSV; excerpts shortened for slide readability.</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27"/>
                                  </p:tgtEl>
                                  <p:attrNameLst>
                                    <p:attrName>style.visibility</p:attrName>
                                  </p:attrNameLst>
                                </p:cBhvr>
                                <p:to>
                                  <p:strVal val="visible"/>
                                </p:to>
                              </p:set>
                              <p:animEffect transition="in" filter="fade">
                                <p:cBhvr>
                                  <p:cTn id="23" dur="520"/>
                                  <p:tgtEl>
                                    <p:spTgt spid="27"/>
                                  </p:tgtEl>
                                </p:cBhvr>
                              </p:animEffect>
                            </p:childTnLst>
                          </p:cTn>
                        </p:par>
                      </p:childTnLst>
                    </p:cTn>
                  </p:par>
                  <p:par>
                    <p:cTn id="25" fill="hold">
                      <p:stCondLst>
                        <p:cond delay="1440"/>
                      </p:stCondLst>
                      <p:childTnLst>
                        <p:par>
                          <p:cTn id="26" fill="hold">
                            <p:childTnLst>
                              <p:set>
                                <p:cBhvr>
                                  <p:cTn id="27" dur="1" fill="hold">
                                    <p:stCondLst>
                                      <p:cond delay="0"/>
                                    </p:stCondLst>
                                  </p:cTn>
                                  <p:tgtEl>
                                    <p:spTgt spid="34"/>
                                  </p:tgtEl>
                                  <p:attrNameLst>
                                    <p:attrName>style.visibility</p:attrName>
                                  </p:attrNameLst>
                                </p:cBhvr>
                                <p:to>
                                  <p:strVal val="visible"/>
                                </p:to>
                              </p:set>
                              <p:animEffect transition="in" filter="fade">
                                <p:cBhvr>
                                  <p:cTn id="28" dur="520"/>
                                  <p:tgtEl>
                                    <p:spTgt spid="34"/>
                                  </p:tgtEl>
                                </p:cBhvr>
                              </p:animEffect>
                            </p:childTnLst>
                          </p:cTn>
                        </p:par>
                      </p:childTnLst>
                    </p:cTn>
                  </p:par>
                </p:childTnLst>
              </p:cTn>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DATASET · COVERAGE</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06 / 21</a:t>
            </a:r>
            <a:endParaRPr lang="en-US" sz="1000" dirty="0"/>
          </a:p>
        </p:txBody>
      </p:sp>
      <p:sp>
        <p:nvSpPr>
          <p:cNvPr id="7" name="Shape 5"/>
          <p:cNvSpPr/>
          <p:nvPr/>
        </p:nvSpPr>
        <p:spPr>
          <a:xfrm>
            <a:off x="585216" y="6473952"/>
            <a:ext cx="2879167"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DATASET DESIGN</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Four case types test more than obvious keywords</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The case mix is measured from the 60-row dataset, not invented.</a:t>
            </a:r>
            <a:endParaRPr lang="en-US" sz="1420" dirty="0"/>
          </a:p>
        </p:txBody>
      </p:sp>
      <p:sp>
        <p:nvSpPr>
          <p:cNvPr id="12" name="Text 10"/>
          <p:cNvSpPr/>
          <p:nvPr/>
        </p:nvSpPr>
        <p:spPr>
          <a:xfrm>
            <a:off x="877824" y="2532888"/>
            <a:ext cx="2011680" cy="338328"/>
          </a:xfrm>
          <a:prstGeom prst="rect">
            <a:avLst/>
          </a:prstGeom>
          <a:noFill/>
          <a:ln/>
        </p:spPr>
        <p:txBody>
          <a:bodyPr wrap="square" lIns="0" tIns="0" rIns="0" bIns="0" rtlCol="0" anchor="ctr">
            <a:normAutofit/>
          </a:bodyPr>
          <a:lstStyle/>
          <a:p>
            <a:pPr indent="0" marL="0">
              <a:buNone/>
            </a:pPr>
            <a:r>
              <a:rPr lang="en-US" sz="1700" b="1" dirty="0">
                <a:solidFill>
                  <a:srgbClr val="112D40"/>
                </a:solidFill>
                <a:latin typeface="Aptos Display" pitchFamily="34" charset="0"/>
                <a:ea typeface="Aptos Display" pitchFamily="34" charset="-122"/>
                <a:cs typeface="Aptos Display" pitchFamily="34" charset="-120"/>
              </a:rPr>
              <a:t>Straightforward</a:t>
            </a:r>
            <a:endParaRPr lang="en-US" sz="1700" dirty="0"/>
          </a:p>
        </p:txBody>
      </p:sp>
      <p:sp>
        <p:nvSpPr>
          <p:cNvPr id="13" name="Shape 11"/>
          <p:cNvSpPr/>
          <p:nvPr/>
        </p:nvSpPr>
        <p:spPr>
          <a:xfrm>
            <a:off x="3090672" y="2450592"/>
            <a:ext cx="7498080" cy="466344"/>
          </a:xfrm>
          <a:prstGeom prst="roundRect">
            <a:avLst>
              <a:gd name="adj" fmla="val 25490"/>
            </a:avLst>
          </a:prstGeom>
          <a:solidFill>
            <a:srgbClr val="E9EFF3"/>
          </a:solidFill>
          <a:ln w="12700">
            <a:solidFill>
              <a:srgbClr val="E9EFF3">
                <a:alpha val="0"/>
              </a:srgbClr>
            </a:solidFill>
            <a:prstDash val="solid"/>
          </a:ln>
        </p:spPr>
        <p:txBody>
          <a:bodyPr/>
          <a:p/>
        </p:txBody>
      </p:sp>
      <p:sp>
        <p:nvSpPr>
          <p:cNvPr id="14" name="Shape 12"/>
          <p:cNvSpPr/>
          <p:nvPr/>
        </p:nvSpPr>
        <p:spPr>
          <a:xfrm>
            <a:off x="3090672" y="2450592"/>
            <a:ext cx="1249680" cy="466344"/>
          </a:xfrm>
          <a:prstGeom prst="roundRect">
            <a:avLst>
              <a:gd name="adj" fmla="val 25490"/>
            </a:avLst>
          </a:prstGeom>
          <a:solidFill>
            <a:srgbClr val="0A2134"/>
          </a:solidFill>
          <a:ln w="12700">
            <a:solidFill>
              <a:srgbClr val="0A2134">
                <a:alpha val="0"/>
              </a:srgbClr>
            </a:solidFill>
            <a:prstDash val="solid"/>
          </a:ln>
        </p:spPr>
        <p:txBody>
          <a:bodyPr/>
          <a:p/>
        </p:txBody>
      </p:sp>
      <p:sp>
        <p:nvSpPr>
          <p:cNvPr id="15" name="Shape 13"/>
          <p:cNvSpPr/>
          <p:nvPr/>
        </p:nvSpPr>
        <p:spPr>
          <a:xfrm>
            <a:off x="4340352" y="2450592"/>
            <a:ext cx="1624584" cy="466344"/>
          </a:xfrm>
          <a:prstGeom prst="roundRect">
            <a:avLst>
              <a:gd name="adj" fmla="val 25490"/>
            </a:avLst>
          </a:prstGeom>
          <a:solidFill>
            <a:srgbClr val="008E85"/>
          </a:solidFill>
          <a:ln w="12700">
            <a:solidFill>
              <a:srgbClr val="008E85">
                <a:alpha val="0"/>
              </a:srgbClr>
            </a:solidFill>
            <a:prstDash val="solid"/>
          </a:ln>
        </p:spPr>
        <p:txBody>
          <a:bodyPr/>
          <a:p/>
        </p:txBody>
      </p:sp>
      <p:sp>
        <p:nvSpPr>
          <p:cNvPr id="16" name="Text 14"/>
          <p:cNvSpPr/>
          <p:nvPr/>
        </p:nvSpPr>
        <p:spPr>
          <a:xfrm>
            <a:off x="10570464" y="2560320"/>
            <a:ext cx="832104" cy="274320"/>
          </a:xfrm>
          <a:prstGeom prst="rect">
            <a:avLst/>
          </a:prstGeom>
          <a:noFill/>
          <a:ln/>
        </p:spPr>
        <p:txBody>
          <a:bodyPr wrap="square" lIns="0" tIns="0" rIns="0" bIns="0" rtlCol="0" anchor="ctr">
            <a:normAutofit/>
          </a:bodyPr>
          <a:lstStyle/>
          <a:p>
            <a:pPr algn="r" indent="0" marL="0">
              <a:buNone/>
            </a:pPr>
            <a:r>
              <a:rPr lang="en-US" sz="1300" b="1" dirty="0">
                <a:solidFill>
                  <a:srgbClr val="587082"/>
                </a:solidFill>
                <a:latin typeface="Aptos Display" pitchFamily="34" charset="0"/>
                <a:ea typeface="Aptos Display" pitchFamily="34" charset="-122"/>
                <a:cs typeface="Aptos Display" pitchFamily="34" charset="-120"/>
              </a:rPr>
              <a:t>23 total</a:t>
            </a:r>
            <a:endParaRPr lang="en-US" sz="1300" dirty="0"/>
          </a:p>
        </p:txBody>
      </p:sp>
      <p:sp>
        <p:nvSpPr>
          <p:cNvPr id="17" name="Text 15"/>
          <p:cNvSpPr/>
          <p:nvPr/>
        </p:nvSpPr>
        <p:spPr>
          <a:xfrm>
            <a:off x="877824" y="3282696"/>
            <a:ext cx="2011680" cy="338328"/>
          </a:xfrm>
          <a:prstGeom prst="rect">
            <a:avLst/>
          </a:prstGeom>
          <a:noFill/>
          <a:ln/>
        </p:spPr>
        <p:txBody>
          <a:bodyPr wrap="square" lIns="0" tIns="0" rIns="0" bIns="0" rtlCol="0" anchor="ctr">
            <a:normAutofit/>
          </a:bodyPr>
          <a:lstStyle/>
          <a:p>
            <a:pPr indent="0" marL="0">
              <a:buNone/>
            </a:pPr>
            <a:r>
              <a:rPr lang="en-US" sz="1700" b="1" dirty="0">
                <a:solidFill>
                  <a:srgbClr val="112D40"/>
                </a:solidFill>
                <a:latin typeface="Aptos Display" pitchFamily="34" charset="0"/>
                <a:ea typeface="Aptos Display" pitchFamily="34" charset="-122"/>
                <a:cs typeface="Aptos Display" pitchFamily="34" charset="-120"/>
              </a:rPr>
              <a:t>Paraphrase</a:t>
            </a:r>
            <a:endParaRPr lang="en-US" sz="1700" dirty="0"/>
          </a:p>
        </p:txBody>
      </p:sp>
      <p:sp>
        <p:nvSpPr>
          <p:cNvPr id="18" name="Shape 16"/>
          <p:cNvSpPr/>
          <p:nvPr/>
        </p:nvSpPr>
        <p:spPr>
          <a:xfrm>
            <a:off x="3090672" y="3200400"/>
            <a:ext cx="7498080" cy="466344"/>
          </a:xfrm>
          <a:prstGeom prst="roundRect">
            <a:avLst>
              <a:gd name="adj" fmla="val 25490"/>
            </a:avLst>
          </a:prstGeom>
          <a:solidFill>
            <a:srgbClr val="E9EFF3"/>
          </a:solidFill>
          <a:ln w="12700">
            <a:solidFill>
              <a:srgbClr val="E9EFF3">
                <a:alpha val="0"/>
              </a:srgbClr>
            </a:solidFill>
            <a:prstDash val="solid"/>
          </a:ln>
        </p:spPr>
        <p:txBody>
          <a:bodyPr/>
          <a:p/>
        </p:txBody>
      </p:sp>
      <p:sp>
        <p:nvSpPr>
          <p:cNvPr id="19" name="Shape 17"/>
          <p:cNvSpPr/>
          <p:nvPr/>
        </p:nvSpPr>
        <p:spPr>
          <a:xfrm>
            <a:off x="3090672" y="3200400"/>
            <a:ext cx="999744" cy="466344"/>
          </a:xfrm>
          <a:prstGeom prst="roundRect">
            <a:avLst>
              <a:gd name="adj" fmla="val 25490"/>
            </a:avLst>
          </a:prstGeom>
          <a:solidFill>
            <a:srgbClr val="0A2134"/>
          </a:solidFill>
          <a:ln w="12700">
            <a:solidFill>
              <a:srgbClr val="0A2134">
                <a:alpha val="0"/>
              </a:srgbClr>
            </a:solidFill>
            <a:prstDash val="solid"/>
          </a:ln>
        </p:spPr>
        <p:txBody>
          <a:bodyPr/>
          <a:p/>
        </p:txBody>
      </p:sp>
      <p:sp>
        <p:nvSpPr>
          <p:cNvPr id="20" name="Shape 18"/>
          <p:cNvSpPr/>
          <p:nvPr/>
        </p:nvSpPr>
        <p:spPr>
          <a:xfrm>
            <a:off x="4090416" y="3200400"/>
            <a:ext cx="999744" cy="466344"/>
          </a:xfrm>
          <a:prstGeom prst="roundRect">
            <a:avLst>
              <a:gd name="adj" fmla="val 25490"/>
            </a:avLst>
          </a:prstGeom>
          <a:solidFill>
            <a:srgbClr val="008E85"/>
          </a:solidFill>
          <a:ln w="12700">
            <a:solidFill>
              <a:srgbClr val="008E85">
                <a:alpha val="0"/>
              </a:srgbClr>
            </a:solidFill>
            <a:prstDash val="solid"/>
          </a:ln>
        </p:spPr>
        <p:txBody>
          <a:bodyPr/>
          <a:p/>
        </p:txBody>
      </p:sp>
      <p:sp>
        <p:nvSpPr>
          <p:cNvPr id="21" name="Text 19"/>
          <p:cNvSpPr/>
          <p:nvPr/>
        </p:nvSpPr>
        <p:spPr>
          <a:xfrm>
            <a:off x="10570464" y="3310128"/>
            <a:ext cx="832104" cy="274320"/>
          </a:xfrm>
          <a:prstGeom prst="rect">
            <a:avLst/>
          </a:prstGeom>
          <a:noFill/>
          <a:ln/>
        </p:spPr>
        <p:txBody>
          <a:bodyPr wrap="square" lIns="0" tIns="0" rIns="0" bIns="0" rtlCol="0" anchor="ctr">
            <a:normAutofit/>
          </a:bodyPr>
          <a:lstStyle/>
          <a:p>
            <a:pPr algn="r" indent="0" marL="0">
              <a:buNone/>
            </a:pPr>
            <a:r>
              <a:rPr lang="en-US" sz="1300" b="1" dirty="0">
                <a:solidFill>
                  <a:srgbClr val="587082"/>
                </a:solidFill>
                <a:latin typeface="Aptos Display" pitchFamily="34" charset="0"/>
                <a:ea typeface="Aptos Display" pitchFamily="34" charset="-122"/>
                <a:cs typeface="Aptos Display" pitchFamily="34" charset="-120"/>
              </a:rPr>
              <a:t>16 total</a:t>
            </a:r>
            <a:endParaRPr lang="en-US" sz="1300" dirty="0"/>
          </a:p>
        </p:txBody>
      </p:sp>
      <p:sp>
        <p:nvSpPr>
          <p:cNvPr id="22" name="Text 20"/>
          <p:cNvSpPr/>
          <p:nvPr/>
        </p:nvSpPr>
        <p:spPr>
          <a:xfrm>
            <a:off x="877824" y="4032504"/>
            <a:ext cx="2011680" cy="338328"/>
          </a:xfrm>
          <a:prstGeom prst="rect">
            <a:avLst/>
          </a:prstGeom>
          <a:noFill/>
          <a:ln/>
        </p:spPr>
        <p:txBody>
          <a:bodyPr wrap="square" lIns="0" tIns="0" rIns="0" bIns="0" rtlCol="0" anchor="ctr">
            <a:normAutofit/>
          </a:bodyPr>
          <a:lstStyle/>
          <a:p>
            <a:pPr indent="0" marL="0">
              <a:buNone/>
            </a:pPr>
            <a:r>
              <a:rPr lang="en-US" sz="1700" b="1" dirty="0">
                <a:solidFill>
                  <a:srgbClr val="112D40"/>
                </a:solidFill>
                <a:latin typeface="Aptos Display" pitchFamily="34" charset="0"/>
                <a:ea typeface="Aptos Display" pitchFamily="34" charset="-122"/>
                <a:cs typeface="Aptos Display" pitchFamily="34" charset="-120"/>
              </a:rPr>
              <a:t>Negation</a:t>
            </a:r>
            <a:endParaRPr lang="en-US" sz="1700" dirty="0"/>
          </a:p>
        </p:txBody>
      </p:sp>
      <p:sp>
        <p:nvSpPr>
          <p:cNvPr id="23" name="Shape 21"/>
          <p:cNvSpPr/>
          <p:nvPr/>
        </p:nvSpPr>
        <p:spPr>
          <a:xfrm>
            <a:off x="3090672" y="3950208"/>
            <a:ext cx="7498080" cy="466344"/>
          </a:xfrm>
          <a:prstGeom prst="roundRect">
            <a:avLst>
              <a:gd name="adj" fmla="val 25490"/>
            </a:avLst>
          </a:prstGeom>
          <a:solidFill>
            <a:srgbClr val="E9EFF3"/>
          </a:solidFill>
          <a:ln w="12700">
            <a:solidFill>
              <a:srgbClr val="E9EFF3">
                <a:alpha val="0"/>
              </a:srgbClr>
            </a:solidFill>
            <a:prstDash val="solid"/>
          </a:ln>
        </p:spPr>
        <p:txBody>
          <a:bodyPr/>
          <a:p/>
        </p:txBody>
      </p:sp>
      <p:sp>
        <p:nvSpPr>
          <p:cNvPr id="24" name="Shape 22"/>
          <p:cNvSpPr/>
          <p:nvPr/>
        </p:nvSpPr>
        <p:spPr>
          <a:xfrm>
            <a:off x="3090672" y="3950208"/>
            <a:ext cx="624840" cy="466344"/>
          </a:xfrm>
          <a:prstGeom prst="roundRect">
            <a:avLst>
              <a:gd name="adj" fmla="val 25490"/>
            </a:avLst>
          </a:prstGeom>
          <a:solidFill>
            <a:srgbClr val="0A2134"/>
          </a:solidFill>
          <a:ln w="12700">
            <a:solidFill>
              <a:srgbClr val="0A2134">
                <a:alpha val="0"/>
              </a:srgbClr>
            </a:solidFill>
            <a:prstDash val="solid"/>
          </a:ln>
        </p:spPr>
        <p:txBody>
          <a:bodyPr/>
          <a:p/>
        </p:txBody>
      </p:sp>
      <p:sp>
        <p:nvSpPr>
          <p:cNvPr id="25" name="Shape 23"/>
          <p:cNvSpPr/>
          <p:nvPr/>
        </p:nvSpPr>
        <p:spPr>
          <a:xfrm>
            <a:off x="3715512" y="3950208"/>
            <a:ext cx="1124712" cy="466344"/>
          </a:xfrm>
          <a:prstGeom prst="roundRect">
            <a:avLst>
              <a:gd name="adj" fmla="val 25490"/>
            </a:avLst>
          </a:prstGeom>
          <a:solidFill>
            <a:srgbClr val="008E85"/>
          </a:solidFill>
          <a:ln w="12700">
            <a:solidFill>
              <a:srgbClr val="008E85">
                <a:alpha val="0"/>
              </a:srgbClr>
            </a:solidFill>
            <a:prstDash val="solid"/>
          </a:ln>
        </p:spPr>
        <p:txBody>
          <a:bodyPr/>
          <a:p/>
        </p:txBody>
      </p:sp>
      <p:sp>
        <p:nvSpPr>
          <p:cNvPr id="26" name="Text 24"/>
          <p:cNvSpPr/>
          <p:nvPr/>
        </p:nvSpPr>
        <p:spPr>
          <a:xfrm>
            <a:off x="10570464" y="4059936"/>
            <a:ext cx="832104" cy="274320"/>
          </a:xfrm>
          <a:prstGeom prst="rect">
            <a:avLst/>
          </a:prstGeom>
          <a:noFill/>
          <a:ln/>
        </p:spPr>
        <p:txBody>
          <a:bodyPr wrap="square" lIns="0" tIns="0" rIns="0" bIns="0" rtlCol="0" anchor="ctr">
            <a:normAutofit/>
          </a:bodyPr>
          <a:lstStyle/>
          <a:p>
            <a:pPr algn="r" indent="0" marL="0">
              <a:buNone/>
            </a:pPr>
            <a:r>
              <a:rPr lang="en-US" sz="1300" b="1" dirty="0">
                <a:solidFill>
                  <a:srgbClr val="587082"/>
                </a:solidFill>
                <a:latin typeface="Aptos Display" pitchFamily="34" charset="0"/>
                <a:ea typeface="Aptos Display" pitchFamily="34" charset="-122"/>
                <a:cs typeface="Aptos Display" pitchFamily="34" charset="-120"/>
              </a:rPr>
              <a:t>14 total</a:t>
            </a:r>
            <a:endParaRPr lang="en-US" sz="1300" dirty="0"/>
          </a:p>
        </p:txBody>
      </p:sp>
      <p:sp>
        <p:nvSpPr>
          <p:cNvPr id="27" name="Text 25"/>
          <p:cNvSpPr/>
          <p:nvPr/>
        </p:nvSpPr>
        <p:spPr>
          <a:xfrm>
            <a:off x="877824" y="4782312"/>
            <a:ext cx="2011680" cy="338328"/>
          </a:xfrm>
          <a:prstGeom prst="rect">
            <a:avLst/>
          </a:prstGeom>
          <a:noFill/>
          <a:ln/>
        </p:spPr>
        <p:txBody>
          <a:bodyPr wrap="square" lIns="0" tIns="0" rIns="0" bIns="0" rtlCol="0" anchor="ctr">
            <a:normAutofit/>
          </a:bodyPr>
          <a:lstStyle/>
          <a:p>
            <a:pPr indent="0" marL="0">
              <a:buNone/>
            </a:pPr>
            <a:r>
              <a:rPr lang="en-US" sz="1700" b="1" dirty="0">
                <a:solidFill>
                  <a:srgbClr val="112D40"/>
                </a:solidFill>
                <a:latin typeface="Aptos Display" pitchFamily="34" charset="0"/>
                <a:ea typeface="Aptos Display" pitchFamily="34" charset="-122"/>
                <a:cs typeface="Aptos Display" pitchFamily="34" charset="-120"/>
              </a:rPr>
              <a:t>Mixed</a:t>
            </a:r>
            <a:endParaRPr lang="en-US" sz="1700" dirty="0"/>
          </a:p>
        </p:txBody>
      </p:sp>
      <p:sp>
        <p:nvSpPr>
          <p:cNvPr id="28" name="Shape 26"/>
          <p:cNvSpPr/>
          <p:nvPr/>
        </p:nvSpPr>
        <p:spPr>
          <a:xfrm>
            <a:off x="3090672" y="4700016"/>
            <a:ext cx="7498080" cy="466344"/>
          </a:xfrm>
          <a:prstGeom prst="roundRect">
            <a:avLst>
              <a:gd name="adj" fmla="val 25490"/>
            </a:avLst>
          </a:prstGeom>
          <a:solidFill>
            <a:srgbClr val="E9EFF3"/>
          </a:solidFill>
          <a:ln w="12700">
            <a:solidFill>
              <a:srgbClr val="E9EFF3">
                <a:alpha val="0"/>
              </a:srgbClr>
            </a:solidFill>
            <a:prstDash val="solid"/>
          </a:ln>
        </p:spPr>
        <p:txBody>
          <a:bodyPr/>
          <a:p/>
        </p:txBody>
      </p:sp>
      <p:sp>
        <p:nvSpPr>
          <p:cNvPr id="29" name="Shape 27"/>
          <p:cNvSpPr/>
          <p:nvPr/>
        </p:nvSpPr>
        <p:spPr>
          <a:xfrm>
            <a:off x="3090672" y="4700016"/>
            <a:ext cx="874776" cy="466344"/>
          </a:xfrm>
          <a:prstGeom prst="roundRect">
            <a:avLst>
              <a:gd name="adj" fmla="val 25490"/>
            </a:avLst>
          </a:prstGeom>
          <a:solidFill>
            <a:srgbClr val="0A2134"/>
          </a:solidFill>
          <a:ln w="12700">
            <a:solidFill>
              <a:srgbClr val="0A2134">
                <a:alpha val="0"/>
              </a:srgbClr>
            </a:solidFill>
            <a:prstDash val="solid"/>
          </a:ln>
        </p:spPr>
        <p:txBody>
          <a:bodyPr/>
          <a:p/>
        </p:txBody>
      </p:sp>
      <p:sp>
        <p:nvSpPr>
          <p:cNvPr id="30" name="Shape 28"/>
          <p:cNvSpPr/>
          <p:nvPr/>
        </p:nvSpPr>
        <p:spPr>
          <a:xfrm>
            <a:off x="3965448" y="4700016"/>
            <a:ext cx="0" cy="466344"/>
          </a:xfrm>
          <a:prstGeom prst="roundRect">
            <a:avLst>
              <a:gd name="adj" fmla="val Infinity"/>
            </a:avLst>
          </a:prstGeom>
          <a:solidFill>
            <a:srgbClr val="008E85"/>
          </a:solidFill>
          <a:ln w="12700">
            <a:solidFill>
              <a:srgbClr val="008E85">
                <a:alpha val="0"/>
              </a:srgbClr>
            </a:solidFill>
            <a:prstDash val="solid"/>
          </a:ln>
        </p:spPr>
        <p:txBody>
          <a:bodyPr/>
          <a:p/>
        </p:txBody>
      </p:sp>
      <p:sp>
        <p:nvSpPr>
          <p:cNvPr id="31" name="Text 29"/>
          <p:cNvSpPr/>
          <p:nvPr/>
        </p:nvSpPr>
        <p:spPr>
          <a:xfrm>
            <a:off x="10570464" y="4809744"/>
            <a:ext cx="832104" cy="274320"/>
          </a:xfrm>
          <a:prstGeom prst="rect">
            <a:avLst/>
          </a:prstGeom>
          <a:noFill/>
          <a:ln/>
        </p:spPr>
        <p:txBody>
          <a:bodyPr wrap="square" lIns="0" tIns="0" rIns="0" bIns="0" rtlCol="0" anchor="ctr">
            <a:normAutofit/>
          </a:bodyPr>
          <a:lstStyle/>
          <a:p>
            <a:pPr algn="r" indent="0" marL="0">
              <a:buNone/>
            </a:pPr>
            <a:r>
              <a:rPr lang="en-US" sz="1300" b="1" dirty="0">
                <a:solidFill>
                  <a:srgbClr val="587082"/>
                </a:solidFill>
                <a:latin typeface="Aptos Display" pitchFamily="34" charset="0"/>
                <a:ea typeface="Aptos Display" pitchFamily="34" charset="-122"/>
                <a:cs typeface="Aptos Display" pitchFamily="34" charset="-120"/>
              </a:rPr>
              <a:t>7 total</a:t>
            </a:r>
            <a:endParaRPr lang="en-US" sz="1300" dirty="0"/>
          </a:p>
        </p:txBody>
      </p:sp>
      <p:sp>
        <p:nvSpPr>
          <p:cNvPr id="32" name="Shape 30"/>
          <p:cNvSpPr/>
          <p:nvPr/>
        </p:nvSpPr>
        <p:spPr>
          <a:xfrm>
            <a:off x="3127248" y="5577840"/>
            <a:ext cx="164592" cy="164592"/>
          </a:xfrm>
          <a:prstGeom prst="roundRect">
            <a:avLst>
              <a:gd name="adj" fmla="val 72222"/>
            </a:avLst>
          </a:prstGeom>
          <a:solidFill>
            <a:srgbClr val="0A2134"/>
          </a:solidFill>
          <a:ln w="12700">
            <a:solidFill>
              <a:srgbClr val="0A2134">
                <a:alpha val="0"/>
              </a:srgbClr>
            </a:solidFill>
            <a:prstDash val="solid"/>
          </a:ln>
        </p:spPr>
        <p:txBody>
          <a:bodyPr/>
          <a:p/>
        </p:txBody>
      </p:sp>
      <p:sp>
        <p:nvSpPr>
          <p:cNvPr id="33" name="Text 31"/>
          <p:cNvSpPr/>
          <p:nvPr/>
        </p:nvSpPr>
        <p:spPr>
          <a:xfrm>
            <a:off x="3374136" y="5559552"/>
            <a:ext cx="1527048" cy="228600"/>
          </a:xfrm>
          <a:prstGeom prst="rect">
            <a:avLst/>
          </a:prstGeom>
          <a:noFill/>
          <a:ln/>
        </p:spPr>
        <p:txBody>
          <a:bodyPr wrap="square" lIns="0" tIns="0" rIns="0" bIns="0" rtlCol="0" anchor="ctr">
            <a:normAutofit/>
          </a:bodyPr>
          <a:lstStyle/>
          <a:p>
            <a:pPr indent="0" marL="0">
              <a:buNone/>
            </a:pPr>
            <a:r>
              <a:rPr lang="en-US" sz="1250" b="1" dirty="0">
                <a:solidFill>
                  <a:srgbClr val="587082"/>
                </a:solidFill>
                <a:latin typeface="Aptos Display" pitchFamily="34" charset="0"/>
                <a:ea typeface="Aptos Display" pitchFamily="34" charset="-122"/>
                <a:cs typeface="Aptos Display" pitchFamily="34" charset="-120"/>
              </a:rPr>
              <a:t>Support (0)</a:t>
            </a:r>
            <a:endParaRPr lang="en-US" sz="1250" dirty="0"/>
          </a:p>
        </p:txBody>
      </p:sp>
      <p:sp>
        <p:nvSpPr>
          <p:cNvPr id="34" name="Shape 32"/>
          <p:cNvSpPr/>
          <p:nvPr/>
        </p:nvSpPr>
        <p:spPr>
          <a:xfrm>
            <a:off x="5166360" y="5577840"/>
            <a:ext cx="164592" cy="164592"/>
          </a:xfrm>
          <a:prstGeom prst="roundRect">
            <a:avLst>
              <a:gd name="adj" fmla="val 72222"/>
            </a:avLst>
          </a:prstGeom>
          <a:solidFill>
            <a:srgbClr val="008E85"/>
          </a:solidFill>
          <a:ln w="12700">
            <a:solidFill>
              <a:srgbClr val="008E85">
                <a:alpha val="0"/>
              </a:srgbClr>
            </a:solidFill>
            <a:prstDash val="solid"/>
          </a:ln>
        </p:spPr>
        <p:txBody>
          <a:bodyPr/>
          <a:p/>
        </p:txBody>
      </p:sp>
      <p:sp>
        <p:nvSpPr>
          <p:cNvPr id="35" name="Text 33"/>
          <p:cNvSpPr/>
          <p:nvPr/>
        </p:nvSpPr>
        <p:spPr>
          <a:xfrm>
            <a:off x="5413248" y="5559552"/>
            <a:ext cx="1527048" cy="228600"/>
          </a:xfrm>
          <a:prstGeom prst="rect">
            <a:avLst/>
          </a:prstGeom>
          <a:noFill/>
          <a:ln/>
        </p:spPr>
        <p:txBody>
          <a:bodyPr wrap="square" lIns="0" tIns="0" rIns="0" bIns="0" rtlCol="0" anchor="ctr">
            <a:normAutofit/>
          </a:bodyPr>
          <a:lstStyle/>
          <a:p>
            <a:pPr indent="0" marL="0">
              <a:buNone/>
            </a:pPr>
            <a:r>
              <a:rPr lang="en-US" sz="1250" b="1" dirty="0">
                <a:solidFill>
                  <a:srgbClr val="587082"/>
                </a:solidFill>
                <a:latin typeface="Aptos Display" pitchFamily="34" charset="0"/>
                <a:ea typeface="Aptos Display" pitchFamily="34" charset="-122"/>
                <a:cs typeface="Aptos Display" pitchFamily="34" charset="-120"/>
              </a:rPr>
              <a:t>Sales (1)</a:t>
            </a:r>
            <a:endParaRPr lang="en-US" sz="1250" dirty="0"/>
          </a:p>
        </p:txBody>
      </p:sp>
      <p:sp>
        <p:nvSpPr>
          <p:cNvPr id="36" name="Shape 34"/>
          <p:cNvSpPr/>
          <p:nvPr/>
        </p:nvSpPr>
        <p:spPr>
          <a:xfrm>
            <a:off x="832104" y="5907024"/>
            <a:ext cx="10597896" cy="329184"/>
          </a:xfrm>
          <a:prstGeom prst="roundRect">
            <a:avLst>
              <a:gd name="adj" fmla="val 36111"/>
            </a:avLst>
          </a:prstGeom>
          <a:solidFill>
            <a:srgbClr val="E6F5F2"/>
          </a:solidFill>
          <a:ln w="12700">
            <a:solidFill>
              <a:srgbClr val="E6F5F2">
                <a:alpha val="0"/>
              </a:srgbClr>
            </a:solidFill>
            <a:prstDash val="solid"/>
          </a:ln>
        </p:spPr>
        <p:txBody>
          <a:bodyPr/>
          <a:p/>
        </p:txBody>
      </p:sp>
      <p:sp>
        <p:nvSpPr>
          <p:cNvPr id="37" name="Text 35"/>
          <p:cNvSpPr/>
          <p:nvPr/>
        </p:nvSpPr>
        <p:spPr>
          <a:xfrm>
            <a:off x="978408" y="5943600"/>
            <a:ext cx="10259568" cy="246888"/>
          </a:xfrm>
          <a:prstGeom prst="rect">
            <a:avLst/>
          </a:prstGeom>
          <a:noFill/>
          <a:ln/>
        </p:spPr>
        <p:txBody>
          <a:bodyPr wrap="square" lIns="0" tIns="0" rIns="0" bIns="0" rtlCol="0" anchor="ctr">
            <a:normAutofit/>
          </a:bodyPr>
          <a:lstStyle/>
          <a:p>
            <a:pPr indent="0" marL="0">
              <a:buNone/>
            </a:pPr>
            <a:r>
              <a:rPr lang="en-US" sz="1280" b="1" dirty="0">
                <a:solidFill>
                  <a:srgbClr val="112D40"/>
                </a:solidFill>
                <a:latin typeface="Aptos Display" pitchFamily="34" charset="0"/>
                <a:ea typeface="Aptos Display" pitchFamily="34" charset="-122"/>
                <a:cs typeface="Aptos Display" pitchFamily="34" charset="-120"/>
              </a:rPr>
              <a:t>Mixed cases: all 7 are Support because existing-service issues take priority.</a:t>
            </a:r>
            <a:endParaRPr lang="en-US" sz="128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2"/>
                                  </p:tgtEl>
                                  <p:attrNameLst>
                                    <p:attrName>style.visibility</p:attrName>
                                  </p:attrNameLst>
                                </p:cBhvr>
                                <p:to>
                                  <p:strVal val="visible"/>
                                </p:to>
                              </p:set>
                              <p:animEffect transition="in" filter="fade">
                                <p:cBhvr>
                                  <p:cTn id="23" dur="520"/>
                                  <p:tgtEl>
                                    <p:spTgt spid="12"/>
                                  </p:tgtEl>
                                </p:cBhvr>
                              </p:animEffect>
                            </p:childTnLst>
                          </p:cTn>
                        </p:par>
                      </p:childTnLst>
                    </p:cTn>
                  </p:par>
                  <p:par>
                    <p:cTn id="25" fill="hold">
                      <p:stCondLst>
                        <p:cond delay="1440"/>
                      </p:stCondLst>
                      <p:childTnLst>
                        <p:par>
                          <p:cTn id="26" fill="hold">
                            <p:childTnLst>
                              <p:set>
                                <p:cBhvr>
                                  <p:cTn id="27" dur="1" fill="hold">
                                    <p:stCondLst>
                                      <p:cond delay="0"/>
                                    </p:stCondLst>
                                  </p:cTn>
                                  <p:tgtEl>
                                    <p:spTgt spid="33"/>
                                  </p:tgtEl>
                                  <p:attrNameLst>
                                    <p:attrName>style.visibility</p:attrName>
                                  </p:attrNameLst>
                                </p:cBhvr>
                                <p:to>
                                  <p:strVal val="visible"/>
                                </p:to>
                              </p:set>
                              <p:animEffect transition="in" filter="fade">
                                <p:cBhvr>
                                  <p:cTn id="28" dur="520"/>
                                  <p:tgtEl>
                                    <p:spTgt spid="33"/>
                                  </p:tgtEl>
                                </p:cBhvr>
                              </p:animEffect>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DATASET · METHODOLOGY</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07 / 21</a:t>
            </a:r>
            <a:endParaRPr lang="en-US" sz="1000" dirty="0"/>
          </a:p>
        </p:txBody>
      </p:sp>
      <p:sp>
        <p:nvSpPr>
          <p:cNvPr id="7" name="Shape 5"/>
          <p:cNvSpPr/>
          <p:nvPr/>
        </p:nvSpPr>
        <p:spPr>
          <a:xfrm>
            <a:off x="585216" y="6473952"/>
            <a:ext cx="3359029"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EXPERIMENTAL VALIDITY</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Separate training from the final test—by group</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Near-duplicate paraphrases must not leak across the split.</a:t>
            </a:r>
            <a:endParaRPr lang="en-US" sz="1420" dirty="0"/>
          </a:p>
        </p:txBody>
      </p:sp>
      <p:sp>
        <p:nvSpPr>
          <p:cNvPr id="12" name="Shape 10"/>
          <p:cNvSpPr/>
          <p:nvPr/>
        </p:nvSpPr>
        <p:spPr>
          <a:xfrm>
            <a:off x="868680" y="2423160"/>
            <a:ext cx="4517136" cy="2267712"/>
          </a:xfrm>
          <a:prstGeom prst="roundRect">
            <a:avLst>
              <a:gd name="adj" fmla="val 5242"/>
            </a:avLst>
          </a:prstGeom>
          <a:solidFill>
            <a:srgbClr val="FFFFFF"/>
          </a:solidFill>
          <a:ln w="12700">
            <a:solidFill>
              <a:srgbClr val="FFFFFF">
                <a:alpha val="0"/>
              </a:srgbClr>
            </a:solidFill>
            <a:prstDash val="solid"/>
          </a:ln>
        </p:spPr>
        <p:txBody>
          <a:bodyPr/>
          <a:p/>
        </p:txBody>
      </p:sp>
      <p:sp>
        <p:nvSpPr>
          <p:cNvPr id="13" name="Text 11"/>
          <p:cNvSpPr/>
          <p:nvPr/>
        </p:nvSpPr>
        <p:spPr>
          <a:xfrm>
            <a:off x="1133856" y="2670048"/>
            <a:ext cx="3968496" cy="356616"/>
          </a:xfrm>
          <a:prstGeom prst="rect">
            <a:avLst/>
          </a:prstGeom>
          <a:noFill/>
          <a:ln/>
        </p:spPr>
        <p:txBody>
          <a:bodyPr wrap="square" lIns="0" tIns="0" rIns="0" bIns="0" rtlCol="0" anchor="ctr">
            <a:normAutofit/>
          </a:bodyPr>
          <a:lstStyle/>
          <a:p>
            <a:pPr indent="0" marL="0">
              <a:buNone/>
            </a:pPr>
            <a:r>
              <a:rPr lang="en-US" sz="1800" b="1" dirty="0">
                <a:solidFill>
                  <a:srgbClr val="008E85"/>
                </a:solidFill>
                <a:latin typeface="Aptos Display" pitchFamily="34" charset="0"/>
                <a:ea typeface="Aptos Display" pitchFamily="34" charset="-122"/>
                <a:cs typeface="Aptos Display" pitchFamily="34" charset="-120"/>
              </a:rPr>
              <a:t>TRAINING</a:t>
            </a:r>
            <a:endParaRPr lang="en-US" sz="1800" dirty="0"/>
          </a:p>
        </p:txBody>
      </p:sp>
      <p:sp>
        <p:nvSpPr>
          <p:cNvPr id="14" name="Text 12"/>
          <p:cNvSpPr/>
          <p:nvPr/>
        </p:nvSpPr>
        <p:spPr>
          <a:xfrm>
            <a:off x="1133856" y="3108960"/>
            <a:ext cx="3611880" cy="539496"/>
          </a:xfrm>
          <a:prstGeom prst="rect">
            <a:avLst/>
          </a:prstGeom>
          <a:noFill/>
          <a:ln/>
        </p:spPr>
        <p:txBody>
          <a:bodyPr wrap="square" lIns="0" tIns="0" rIns="0" bIns="0" rtlCol="0" anchor="ctr">
            <a:normAutofit/>
          </a:bodyPr>
          <a:lstStyle/>
          <a:p>
            <a:pPr indent="0" marL="0">
              <a:buNone/>
            </a:pPr>
            <a:r>
              <a:rPr lang="en-US" sz="3200" b="1" dirty="0">
                <a:solidFill>
                  <a:srgbClr val="112D40"/>
                </a:solidFill>
                <a:latin typeface="Aptos Display" pitchFamily="34" charset="0"/>
                <a:ea typeface="Aptos Display" pitchFamily="34" charset="-122"/>
                <a:cs typeface="Aptos Display" pitchFamily="34" charset="-120"/>
              </a:rPr>
              <a:t>40 messages</a:t>
            </a:r>
            <a:endParaRPr lang="en-US" sz="3200" dirty="0"/>
          </a:p>
        </p:txBody>
      </p:sp>
      <p:sp>
        <p:nvSpPr>
          <p:cNvPr id="15" name="Text 13"/>
          <p:cNvSpPr/>
          <p:nvPr/>
        </p:nvSpPr>
        <p:spPr>
          <a:xfrm>
            <a:off x="1133856" y="3767328"/>
            <a:ext cx="3749040" cy="320040"/>
          </a:xfrm>
          <a:prstGeom prst="rect">
            <a:avLst/>
          </a:prstGeom>
          <a:noFill/>
          <a:ln/>
        </p:spPr>
        <p:txBody>
          <a:bodyPr wrap="square" lIns="0" tIns="0" rIns="0" bIns="0" rtlCol="0" anchor="ctr">
            <a:normAutofit/>
          </a:bodyPr>
          <a:lstStyle/>
          <a:p>
            <a:pPr indent="0" marL="0">
              <a:buNone/>
            </a:pPr>
            <a:r>
              <a:rPr lang="en-US" sz="1500" dirty="0">
                <a:solidFill>
                  <a:srgbClr val="587082"/>
                </a:solidFill>
                <a:latin typeface="Aptos" pitchFamily="34" charset="0"/>
                <a:ea typeface="Aptos" pitchFamily="34" charset="-122"/>
                <a:cs typeface="Aptos" pitchFamily="34" charset="-120"/>
              </a:rPr>
              <a:t>20 Support  +  20 Sales</a:t>
            </a:r>
            <a:endParaRPr lang="en-US" sz="1500" dirty="0"/>
          </a:p>
        </p:txBody>
      </p:sp>
      <p:sp>
        <p:nvSpPr>
          <p:cNvPr id="16" name="Shape 14"/>
          <p:cNvSpPr/>
          <p:nvPr/>
        </p:nvSpPr>
        <p:spPr>
          <a:xfrm>
            <a:off x="5568696" y="2423160"/>
            <a:ext cx="4773168" cy="2267712"/>
          </a:xfrm>
          <a:prstGeom prst="roundRect">
            <a:avLst>
              <a:gd name="adj" fmla="val 5242"/>
            </a:avLst>
          </a:prstGeom>
          <a:solidFill>
            <a:srgbClr val="0A2134"/>
          </a:solidFill>
          <a:ln w="12700">
            <a:solidFill>
              <a:srgbClr val="0A2134">
                <a:alpha val="0"/>
              </a:srgbClr>
            </a:solidFill>
            <a:prstDash val="solid"/>
          </a:ln>
        </p:spPr>
        <p:txBody>
          <a:bodyPr/>
          <a:p/>
        </p:txBody>
      </p:sp>
      <p:sp>
        <p:nvSpPr>
          <p:cNvPr id="17" name="Text 15"/>
          <p:cNvSpPr/>
          <p:nvPr/>
        </p:nvSpPr>
        <p:spPr>
          <a:xfrm>
            <a:off x="5843016" y="2670048"/>
            <a:ext cx="4069080" cy="365760"/>
          </a:xfrm>
          <a:prstGeom prst="rect">
            <a:avLst/>
          </a:prstGeom>
          <a:noFill/>
          <a:ln/>
        </p:spPr>
        <p:txBody>
          <a:bodyPr wrap="square" lIns="0" tIns="0" rIns="0" bIns="0" rtlCol="0" anchor="ctr">
            <a:normAutofit/>
          </a:bodyPr>
          <a:lstStyle/>
          <a:p>
            <a:pPr indent="0" marL="0">
              <a:buNone/>
            </a:pPr>
            <a:r>
              <a:rPr lang="en-US" sz="1800" b="1" dirty="0">
                <a:solidFill>
                  <a:srgbClr val="8AE5DB"/>
                </a:solidFill>
                <a:latin typeface="Aptos Display" pitchFamily="34" charset="0"/>
                <a:ea typeface="Aptos Display" pitchFamily="34" charset="-122"/>
                <a:cs typeface="Aptos Display" pitchFamily="34" charset="-120"/>
              </a:rPr>
              <a:t>HELD-OUT TEST</a:t>
            </a:r>
            <a:endParaRPr lang="en-US" sz="1800" dirty="0"/>
          </a:p>
        </p:txBody>
      </p:sp>
      <p:sp>
        <p:nvSpPr>
          <p:cNvPr id="18" name="Text 16"/>
          <p:cNvSpPr/>
          <p:nvPr/>
        </p:nvSpPr>
        <p:spPr>
          <a:xfrm>
            <a:off x="5843016" y="3108960"/>
            <a:ext cx="3776472" cy="539496"/>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20 messages</a:t>
            </a:r>
            <a:endParaRPr lang="en-US" sz="3200" dirty="0"/>
          </a:p>
        </p:txBody>
      </p:sp>
      <p:sp>
        <p:nvSpPr>
          <p:cNvPr id="19" name="Text 17"/>
          <p:cNvSpPr/>
          <p:nvPr/>
        </p:nvSpPr>
        <p:spPr>
          <a:xfrm>
            <a:off x="5843016" y="3767328"/>
            <a:ext cx="3904488" cy="320040"/>
          </a:xfrm>
          <a:prstGeom prst="rect">
            <a:avLst/>
          </a:prstGeom>
          <a:noFill/>
          <a:ln/>
        </p:spPr>
        <p:txBody>
          <a:bodyPr wrap="square" lIns="0" tIns="0" rIns="0" bIns="0" rtlCol="0" anchor="ctr">
            <a:normAutofit/>
          </a:bodyPr>
          <a:lstStyle/>
          <a:p>
            <a:pPr indent="0" marL="0">
              <a:buNone/>
            </a:pPr>
            <a:r>
              <a:rPr lang="en-US" sz="1500" dirty="0">
                <a:solidFill>
                  <a:srgbClr val="BDD7E0"/>
                </a:solidFill>
                <a:latin typeface="Aptos" pitchFamily="34" charset="0"/>
                <a:ea typeface="Aptos" pitchFamily="34" charset="-122"/>
                <a:cs typeface="Aptos" pitchFamily="34" charset="-120"/>
              </a:rPr>
              <a:t>10 Support  +  10 Sales</a:t>
            </a:r>
            <a:endParaRPr lang="en-US" sz="1500" dirty="0"/>
          </a:p>
        </p:txBody>
      </p:sp>
      <p:sp>
        <p:nvSpPr>
          <p:cNvPr id="20" name="Shape 18"/>
          <p:cNvSpPr/>
          <p:nvPr/>
        </p:nvSpPr>
        <p:spPr>
          <a:xfrm>
            <a:off x="5440680" y="2468880"/>
            <a:ext cx="0" cy="2221992"/>
          </a:xfrm>
          <a:prstGeom prst="line">
            <a:avLst/>
          </a:prstGeom>
          <a:noFill/>
          <a:ln w="30480">
            <a:solidFill>
              <a:srgbClr val="008E85"/>
            </a:solidFill>
            <a:prstDash val="solid"/>
            <a:headEnd type="none"/>
            <a:tailEnd type="none"/>
          </a:ln>
        </p:spPr>
        <p:txBody>
          <a:bodyPr/>
          <a:p/>
        </p:txBody>
      </p:sp>
      <p:sp>
        <p:nvSpPr>
          <p:cNvPr id="21" name="Shape 19"/>
          <p:cNvSpPr/>
          <p:nvPr/>
        </p:nvSpPr>
        <p:spPr>
          <a:xfrm>
            <a:off x="905256" y="5010912"/>
            <a:ext cx="9436608" cy="731520"/>
          </a:xfrm>
          <a:prstGeom prst="roundRect">
            <a:avLst>
              <a:gd name="adj" fmla="val 16250"/>
            </a:avLst>
          </a:prstGeom>
          <a:solidFill>
            <a:srgbClr val="E6F5F2"/>
          </a:solidFill>
          <a:ln w="12700">
            <a:solidFill>
              <a:srgbClr val="E6F5F2">
                <a:alpha val="0"/>
              </a:srgbClr>
            </a:solidFill>
            <a:prstDash val="solid"/>
          </a:ln>
        </p:spPr>
        <p:txBody>
          <a:bodyPr/>
          <a:p/>
        </p:txBody>
      </p:sp>
      <p:sp>
        <p:nvSpPr>
          <p:cNvPr id="22" name="Text 20"/>
          <p:cNvSpPr/>
          <p:nvPr/>
        </p:nvSpPr>
        <p:spPr>
          <a:xfrm>
            <a:off x="1161288" y="5193792"/>
            <a:ext cx="8869680" cy="320040"/>
          </a:xfrm>
          <a:prstGeom prst="rect">
            <a:avLst/>
          </a:prstGeom>
          <a:noFill/>
          <a:ln/>
        </p:spPr>
        <p:txBody>
          <a:bodyPr wrap="square" lIns="0" tIns="0" rIns="0" bIns="0" rtlCol="0" anchor="ctr">
            <a:normAutofit/>
          </a:bodyPr>
          <a:lstStyle/>
          <a:p>
            <a:pPr indent="0" marL="0">
              <a:buNone/>
            </a:pPr>
            <a:r>
              <a:rPr lang="en-US" sz="1700" b="1" dirty="0">
                <a:solidFill>
                  <a:srgbClr val="112D40"/>
                </a:solidFill>
                <a:latin typeface="Aptos Display" pitchFamily="34" charset="0"/>
                <a:ea typeface="Aptos Display" pitchFamily="34" charset="-122"/>
                <a:cs typeface="Aptos Display" pitchFamily="34" charset="-120"/>
              </a:rPr>
              <a:t>group_id prevents near-paraphrase families from appearing in both sets.</a:t>
            </a:r>
            <a:endParaRPr lang="en-US" sz="1700" dirty="0"/>
          </a:p>
        </p:txBody>
      </p:sp>
      <p:sp>
        <p:nvSpPr>
          <p:cNvPr id="23" name="Text 21"/>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Validation: 0 group overlap; 40/20 split frozen before the model evaluation.</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7"/>
                                  </p:tgtEl>
                                  <p:attrNameLst>
                                    <p:attrName>style.visibility</p:attrName>
                                  </p:attrNameLst>
                                </p:cBhvr>
                                <p:to>
                                  <p:strVal val="visible"/>
                                </p:to>
                              </p:set>
                              <p:animEffect transition="in" filter="fade">
                                <p:cBhvr>
                                  <p:cTn id="23" dur="520"/>
                                  <p:tgtEl>
                                    <p:spTgt spid="17"/>
                                  </p:tgtEl>
                                </p:cBhvr>
                              </p:animEffect>
                            </p:childTnLst>
                          </p:cTn>
                        </p:par>
                      </p:childTnLst>
                    </p:cTn>
                  </p:par>
                  <p:par>
                    <p:cTn id="25" fill="hold">
                      <p:stCondLst>
                        <p:cond delay="1440"/>
                      </p:stCondLst>
                      <p:childTnLst>
                        <p:par>
                          <p:cTn id="26" fill="hold">
                            <p:childTnLst>
                              <p:set>
                                <p:cBhvr>
                                  <p:cTn id="27" dur="1" fill="hold">
                                    <p:stCondLst>
                                      <p:cond delay="0"/>
                                    </p:stCondLst>
                                  </p:cTn>
                                  <p:tgtEl>
                                    <p:spTgt spid="14"/>
                                  </p:tgtEl>
                                  <p:attrNameLst>
                                    <p:attrName>style.visibility</p:attrName>
                                  </p:attrNameLst>
                                </p:cBhvr>
                                <p:to>
                                  <p:strVal val="visible"/>
                                </p:to>
                              </p:set>
                              <p:animEffect transition="in" filter="fade">
                                <p:cBhvr>
                                  <p:cTn id="28" dur="520"/>
                                  <p:tgtEl>
                                    <p:spTgt spid="14"/>
                                  </p:tgtEl>
                                </p:cBhvr>
                              </p:animEffect>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DECISION MODEL</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08 / 21</a:t>
            </a:r>
            <a:endParaRPr lang="en-US" sz="1000" dirty="0"/>
          </a:p>
        </p:txBody>
      </p:sp>
      <p:sp>
        <p:nvSpPr>
          <p:cNvPr id="7" name="Shape 5"/>
          <p:cNvSpPr/>
          <p:nvPr/>
        </p:nvSpPr>
        <p:spPr>
          <a:xfrm>
            <a:off x="585216" y="6473952"/>
            <a:ext cx="3838890"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MODEL A</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DeBERTa makes zero-shot decisions from label descriptions</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Pretrained on external language data; no fine-tuning on our 40 messages.</a:t>
            </a:r>
            <a:endParaRPr lang="en-US" sz="1420" dirty="0"/>
          </a:p>
        </p:txBody>
      </p:sp>
      <p:sp>
        <p:nvSpPr>
          <p:cNvPr id="12" name="Shape 10"/>
          <p:cNvSpPr/>
          <p:nvPr/>
        </p:nvSpPr>
        <p:spPr>
          <a:xfrm>
            <a:off x="804672" y="2450592"/>
            <a:ext cx="2441448" cy="1051560"/>
          </a:xfrm>
          <a:prstGeom prst="roundRect">
            <a:avLst>
              <a:gd name="adj" fmla="val 11304"/>
            </a:avLst>
          </a:prstGeom>
          <a:solidFill>
            <a:srgbClr val="FFFFFF"/>
          </a:solidFill>
          <a:ln w="12700">
            <a:solidFill>
              <a:srgbClr val="FFFFFF">
                <a:alpha val="0"/>
              </a:srgbClr>
            </a:solidFill>
            <a:prstDash val="solid"/>
          </a:ln>
        </p:spPr>
        <p:txBody>
          <a:bodyPr/>
          <a:p/>
        </p:txBody>
      </p:sp>
      <p:sp>
        <p:nvSpPr>
          <p:cNvPr id="13" name="Text 11"/>
          <p:cNvSpPr/>
          <p:nvPr/>
        </p:nvSpPr>
        <p:spPr>
          <a:xfrm>
            <a:off x="960120" y="2587752"/>
            <a:ext cx="283464" cy="256032"/>
          </a:xfrm>
          <a:prstGeom prst="rect">
            <a:avLst/>
          </a:prstGeom>
          <a:noFill/>
          <a:ln/>
        </p:spPr>
        <p:txBody>
          <a:bodyPr wrap="square" lIns="0" tIns="0" rIns="0" bIns="0" rtlCol="0" anchor="ctr">
            <a:normAutofit/>
          </a:bodyPr>
          <a:lstStyle/>
          <a:p>
            <a:pPr indent="0" marL="0">
              <a:buNone/>
            </a:pPr>
            <a:r>
              <a:rPr lang="en-US" sz="1700" b="1" dirty="0">
                <a:solidFill>
                  <a:srgbClr val="008E85"/>
                </a:solidFill>
                <a:latin typeface="Aptos Display" pitchFamily="34" charset="0"/>
                <a:ea typeface="Aptos Display" pitchFamily="34" charset="-122"/>
                <a:cs typeface="Aptos Display" pitchFamily="34" charset="-120"/>
              </a:rPr>
              <a:t>1</a:t>
            </a:r>
            <a:endParaRPr lang="en-US" sz="1700" dirty="0"/>
          </a:p>
        </p:txBody>
      </p:sp>
      <p:sp>
        <p:nvSpPr>
          <p:cNvPr id="14" name="Text 12"/>
          <p:cNvSpPr/>
          <p:nvPr/>
        </p:nvSpPr>
        <p:spPr>
          <a:xfrm>
            <a:off x="1261872" y="2587752"/>
            <a:ext cx="1865376" cy="274320"/>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Customer text</a:t>
            </a:r>
            <a:endParaRPr lang="en-US" sz="1600" dirty="0"/>
          </a:p>
        </p:txBody>
      </p:sp>
      <p:sp>
        <p:nvSpPr>
          <p:cNvPr id="15" name="Text 13"/>
          <p:cNvSpPr/>
          <p:nvPr/>
        </p:nvSpPr>
        <p:spPr>
          <a:xfrm>
            <a:off x="969264" y="3017520"/>
            <a:ext cx="2167128" cy="219456"/>
          </a:xfrm>
          <a:prstGeom prst="rect">
            <a:avLst/>
          </a:prstGeom>
          <a:noFill/>
          <a:ln/>
        </p:spPr>
        <p:txBody>
          <a:bodyPr wrap="square" lIns="0" tIns="0" rIns="0" bIns="0" rtlCol="0" anchor="ctr">
            <a:normAutofit/>
          </a:bodyPr>
          <a:lstStyle/>
          <a:p>
            <a:pPr indent="0" marL="0">
              <a:buNone/>
            </a:pPr>
            <a:r>
              <a:rPr lang="en-US" sz="1150" dirty="0">
                <a:solidFill>
                  <a:srgbClr val="587082"/>
                </a:solidFill>
                <a:latin typeface="Aptos" pitchFamily="34" charset="0"/>
                <a:ea typeface="Aptos" pitchFamily="34" charset="-122"/>
                <a:cs typeface="Aptos" pitchFamily="34" charset="-120"/>
              </a:rPr>
              <a:t>Input message</a:t>
            </a:r>
            <a:endParaRPr lang="en-US" sz="1150" dirty="0"/>
          </a:p>
        </p:txBody>
      </p:sp>
      <p:sp>
        <p:nvSpPr>
          <p:cNvPr id="16" name="Shape 14"/>
          <p:cNvSpPr/>
          <p:nvPr/>
        </p:nvSpPr>
        <p:spPr>
          <a:xfrm>
            <a:off x="3264408" y="2962656"/>
            <a:ext cx="292608" cy="0"/>
          </a:xfrm>
          <a:prstGeom prst="line">
            <a:avLst/>
          </a:prstGeom>
          <a:noFill/>
          <a:ln w="30480">
            <a:solidFill>
              <a:srgbClr val="008E85"/>
            </a:solidFill>
            <a:prstDash val="solid"/>
            <a:headEnd type="none"/>
            <a:tailEnd type="none"/>
          </a:ln>
        </p:spPr>
        <p:txBody>
          <a:bodyPr/>
          <a:p/>
        </p:txBody>
      </p:sp>
      <p:sp>
        <p:nvSpPr>
          <p:cNvPr id="17" name="Shape 15"/>
          <p:cNvSpPr/>
          <p:nvPr/>
        </p:nvSpPr>
        <p:spPr>
          <a:xfrm>
            <a:off x="3465576" y="2894076"/>
            <a:ext cx="182880" cy="137160"/>
          </a:xfrm>
          <a:prstGeom prst="chevron">
            <a:avLst/>
          </a:prstGeom>
          <a:solidFill>
            <a:srgbClr val="008E85"/>
          </a:solidFill>
          <a:ln w="12700">
            <a:solidFill>
              <a:srgbClr val="008E85">
                <a:alpha val="0"/>
              </a:srgbClr>
            </a:solidFill>
            <a:prstDash val="solid"/>
          </a:ln>
        </p:spPr>
        <p:txBody>
          <a:bodyPr/>
          <a:p/>
        </p:txBody>
      </p:sp>
      <p:sp>
        <p:nvSpPr>
          <p:cNvPr id="18" name="Shape 16"/>
          <p:cNvSpPr/>
          <p:nvPr/>
        </p:nvSpPr>
        <p:spPr>
          <a:xfrm>
            <a:off x="3511296" y="2450592"/>
            <a:ext cx="2441448" cy="1051560"/>
          </a:xfrm>
          <a:prstGeom prst="roundRect">
            <a:avLst>
              <a:gd name="adj" fmla="val 11304"/>
            </a:avLst>
          </a:prstGeom>
          <a:solidFill>
            <a:srgbClr val="FFFFFF"/>
          </a:solidFill>
          <a:ln w="12700">
            <a:solidFill>
              <a:srgbClr val="FFFFFF">
                <a:alpha val="0"/>
              </a:srgbClr>
            </a:solidFill>
            <a:prstDash val="solid"/>
          </a:ln>
        </p:spPr>
        <p:txBody>
          <a:bodyPr/>
          <a:p/>
        </p:txBody>
      </p:sp>
      <p:sp>
        <p:nvSpPr>
          <p:cNvPr id="19" name="Text 17"/>
          <p:cNvSpPr/>
          <p:nvPr/>
        </p:nvSpPr>
        <p:spPr>
          <a:xfrm>
            <a:off x="3666744" y="2587752"/>
            <a:ext cx="283464" cy="256032"/>
          </a:xfrm>
          <a:prstGeom prst="rect">
            <a:avLst/>
          </a:prstGeom>
          <a:noFill/>
          <a:ln/>
        </p:spPr>
        <p:txBody>
          <a:bodyPr wrap="square" lIns="0" tIns="0" rIns="0" bIns="0" rtlCol="0" anchor="ctr">
            <a:normAutofit/>
          </a:bodyPr>
          <a:lstStyle/>
          <a:p>
            <a:pPr indent="0" marL="0">
              <a:buNone/>
            </a:pPr>
            <a:r>
              <a:rPr lang="en-US" sz="1700" b="1" dirty="0">
                <a:solidFill>
                  <a:srgbClr val="008E85"/>
                </a:solidFill>
                <a:latin typeface="Aptos Display" pitchFamily="34" charset="0"/>
                <a:ea typeface="Aptos Display" pitchFamily="34" charset="-122"/>
                <a:cs typeface="Aptos Display" pitchFamily="34" charset="-120"/>
              </a:rPr>
              <a:t>2</a:t>
            </a:r>
            <a:endParaRPr lang="en-US" sz="1700" dirty="0"/>
          </a:p>
        </p:txBody>
      </p:sp>
      <p:sp>
        <p:nvSpPr>
          <p:cNvPr id="20" name="Text 18"/>
          <p:cNvSpPr/>
          <p:nvPr/>
        </p:nvSpPr>
        <p:spPr>
          <a:xfrm>
            <a:off x="3968496" y="2587752"/>
            <a:ext cx="1865376" cy="274320"/>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Candidate labels</a:t>
            </a:r>
            <a:endParaRPr lang="en-US" sz="1600" dirty="0"/>
          </a:p>
        </p:txBody>
      </p:sp>
      <p:sp>
        <p:nvSpPr>
          <p:cNvPr id="21" name="Text 19"/>
          <p:cNvSpPr/>
          <p:nvPr/>
        </p:nvSpPr>
        <p:spPr>
          <a:xfrm>
            <a:off x="3675888" y="3017520"/>
            <a:ext cx="2167128" cy="219456"/>
          </a:xfrm>
          <a:prstGeom prst="rect">
            <a:avLst/>
          </a:prstGeom>
          <a:noFill/>
          <a:ln/>
        </p:spPr>
        <p:txBody>
          <a:bodyPr wrap="square" lIns="0" tIns="0" rIns="0" bIns="0" rtlCol="0" anchor="ctr">
            <a:normAutofit/>
          </a:bodyPr>
          <a:lstStyle/>
          <a:p>
            <a:pPr indent="0" marL="0">
              <a:buNone/>
            </a:pPr>
            <a:r>
              <a:rPr lang="en-US" sz="1150" dirty="0">
                <a:solidFill>
                  <a:srgbClr val="587082"/>
                </a:solidFill>
                <a:latin typeface="Aptos" pitchFamily="34" charset="0"/>
                <a:ea typeface="Aptos" pitchFamily="34" charset="-122"/>
                <a:cs typeface="Aptos" pitchFamily="34" charset="-120"/>
              </a:rPr>
              <a:t>Support vs. Sales intent</a:t>
            </a:r>
            <a:endParaRPr lang="en-US" sz="1150" dirty="0"/>
          </a:p>
        </p:txBody>
      </p:sp>
      <p:sp>
        <p:nvSpPr>
          <p:cNvPr id="22" name="Shape 20"/>
          <p:cNvSpPr/>
          <p:nvPr/>
        </p:nvSpPr>
        <p:spPr>
          <a:xfrm>
            <a:off x="5971032" y="2962656"/>
            <a:ext cx="292608" cy="0"/>
          </a:xfrm>
          <a:prstGeom prst="line">
            <a:avLst/>
          </a:prstGeom>
          <a:noFill/>
          <a:ln w="30480">
            <a:solidFill>
              <a:srgbClr val="008E85"/>
            </a:solidFill>
            <a:prstDash val="solid"/>
            <a:headEnd type="none"/>
            <a:tailEnd type="none"/>
          </a:ln>
        </p:spPr>
        <p:txBody>
          <a:bodyPr/>
          <a:p/>
        </p:txBody>
      </p:sp>
      <p:sp>
        <p:nvSpPr>
          <p:cNvPr id="23" name="Shape 21"/>
          <p:cNvSpPr/>
          <p:nvPr/>
        </p:nvSpPr>
        <p:spPr>
          <a:xfrm>
            <a:off x="6172200" y="2894076"/>
            <a:ext cx="182880" cy="137160"/>
          </a:xfrm>
          <a:prstGeom prst="chevron">
            <a:avLst/>
          </a:prstGeom>
          <a:solidFill>
            <a:srgbClr val="008E85"/>
          </a:solidFill>
          <a:ln w="12700">
            <a:solidFill>
              <a:srgbClr val="008E85">
                <a:alpha val="0"/>
              </a:srgbClr>
            </a:solidFill>
            <a:prstDash val="solid"/>
          </a:ln>
        </p:spPr>
        <p:txBody>
          <a:bodyPr/>
          <a:p/>
        </p:txBody>
      </p:sp>
      <p:sp>
        <p:nvSpPr>
          <p:cNvPr id="24" name="Shape 22"/>
          <p:cNvSpPr/>
          <p:nvPr/>
        </p:nvSpPr>
        <p:spPr>
          <a:xfrm>
            <a:off x="6217920" y="2450592"/>
            <a:ext cx="2441448" cy="1051560"/>
          </a:xfrm>
          <a:prstGeom prst="roundRect">
            <a:avLst>
              <a:gd name="adj" fmla="val 11304"/>
            </a:avLst>
          </a:prstGeom>
          <a:solidFill>
            <a:srgbClr val="0A2134"/>
          </a:solidFill>
          <a:ln w="12700">
            <a:solidFill>
              <a:srgbClr val="0A2134">
                <a:alpha val="0"/>
              </a:srgbClr>
            </a:solidFill>
            <a:prstDash val="solid"/>
          </a:ln>
        </p:spPr>
        <p:txBody>
          <a:bodyPr/>
          <a:p/>
        </p:txBody>
      </p:sp>
      <p:sp>
        <p:nvSpPr>
          <p:cNvPr id="25" name="Text 23"/>
          <p:cNvSpPr/>
          <p:nvPr/>
        </p:nvSpPr>
        <p:spPr>
          <a:xfrm>
            <a:off x="6373368" y="2587752"/>
            <a:ext cx="283464" cy="256032"/>
          </a:xfrm>
          <a:prstGeom prst="rect">
            <a:avLst/>
          </a:prstGeom>
          <a:noFill/>
          <a:ln/>
        </p:spPr>
        <p:txBody>
          <a:bodyPr wrap="square" lIns="0" tIns="0" rIns="0" bIns="0" rtlCol="0" anchor="ctr">
            <a:normAutofit/>
          </a:bodyPr>
          <a:lstStyle/>
          <a:p>
            <a:pPr indent="0" marL="0">
              <a:buNone/>
            </a:pPr>
            <a:r>
              <a:rPr lang="en-US" sz="1700" b="1" dirty="0">
                <a:solidFill>
                  <a:srgbClr val="81D8D0"/>
                </a:solidFill>
                <a:latin typeface="Aptos Display" pitchFamily="34" charset="0"/>
                <a:ea typeface="Aptos Display" pitchFamily="34" charset="-122"/>
                <a:cs typeface="Aptos Display" pitchFamily="34" charset="-120"/>
              </a:rPr>
              <a:t>3</a:t>
            </a:r>
            <a:endParaRPr lang="en-US" sz="1700" dirty="0"/>
          </a:p>
        </p:txBody>
      </p:sp>
      <p:sp>
        <p:nvSpPr>
          <p:cNvPr id="26" name="Text 24"/>
          <p:cNvSpPr/>
          <p:nvPr/>
        </p:nvSpPr>
        <p:spPr>
          <a:xfrm>
            <a:off x="6675120" y="2587752"/>
            <a:ext cx="1865376" cy="27432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Display" pitchFamily="34" charset="0"/>
                <a:ea typeface="Aptos Display" pitchFamily="34" charset="-122"/>
                <a:cs typeface="Aptos Display" pitchFamily="34" charset="-120"/>
              </a:rPr>
              <a:t>Zero-shot model</a:t>
            </a:r>
            <a:endParaRPr lang="en-US" sz="1600" dirty="0"/>
          </a:p>
        </p:txBody>
      </p:sp>
      <p:sp>
        <p:nvSpPr>
          <p:cNvPr id="27" name="Text 25"/>
          <p:cNvSpPr/>
          <p:nvPr/>
        </p:nvSpPr>
        <p:spPr>
          <a:xfrm>
            <a:off x="6382512" y="3017520"/>
            <a:ext cx="2167128" cy="219456"/>
          </a:xfrm>
          <a:prstGeom prst="rect">
            <a:avLst/>
          </a:prstGeom>
          <a:noFill/>
          <a:ln/>
        </p:spPr>
        <p:txBody>
          <a:bodyPr wrap="square" lIns="0" tIns="0" rIns="0" bIns="0" rtlCol="0" anchor="ctr">
            <a:normAutofit/>
          </a:bodyPr>
          <a:lstStyle/>
          <a:p>
            <a:pPr indent="0" marL="0">
              <a:buNone/>
            </a:pPr>
            <a:r>
              <a:rPr lang="en-US" sz="1150" dirty="0">
                <a:solidFill>
                  <a:srgbClr val="B7D5DA"/>
                </a:solidFill>
                <a:latin typeface="Aptos" pitchFamily="34" charset="0"/>
                <a:ea typeface="Aptos" pitchFamily="34" charset="-122"/>
                <a:cs typeface="Aptos" pitchFamily="34" charset="-120"/>
              </a:rPr>
              <a:t>DeBERTa (NLI)</a:t>
            </a:r>
            <a:endParaRPr lang="en-US" sz="1150" dirty="0"/>
          </a:p>
        </p:txBody>
      </p:sp>
      <p:sp>
        <p:nvSpPr>
          <p:cNvPr id="28" name="Shape 26"/>
          <p:cNvSpPr/>
          <p:nvPr/>
        </p:nvSpPr>
        <p:spPr>
          <a:xfrm>
            <a:off x="8677656" y="2962656"/>
            <a:ext cx="292608" cy="0"/>
          </a:xfrm>
          <a:prstGeom prst="line">
            <a:avLst/>
          </a:prstGeom>
          <a:noFill/>
          <a:ln w="30480">
            <a:solidFill>
              <a:srgbClr val="008E85"/>
            </a:solidFill>
            <a:prstDash val="solid"/>
            <a:headEnd type="none"/>
            <a:tailEnd type="none"/>
          </a:ln>
        </p:spPr>
        <p:txBody>
          <a:bodyPr/>
          <a:p/>
        </p:txBody>
      </p:sp>
      <p:sp>
        <p:nvSpPr>
          <p:cNvPr id="29" name="Shape 27"/>
          <p:cNvSpPr/>
          <p:nvPr/>
        </p:nvSpPr>
        <p:spPr>
          <a:xfrm>
            <a:off x="8878824" y="2894076"/>
            <a:ext cx="182880" cy="137160"/>
          </a:xfrm>
          <a:prstGeom prst="chevron">
            <a:avLst/>
          </a:prstGeom>
          <a:solidFill>
            <a:srgbClr val="008E85"/>
          </a:solidFill>
          <a:ln w="12700">
            <a:solidFill>
              <a:srgbClr val="008E85">
                <a:alpha val="0"/>
              </a:srgbClr>
            </a:solidFill>
            <a:prstDash val="solid"/>
          </a:ln>
        </p:spPr>
        <p:txBody>
          <a:bodyPr/>
          <a:p/>
        </p:txBody>
      </p:sp>
      <p:sp>
        <p:nvSpPr>
          <p:cNvPr id="30" name="Shape 28"/>
          <p:cNvSpPr/>
          <p:nvPr/>
        </p:nvSpPr>
        <p:spPr>
          <a:xfrm>
            <a:off x="8924544" y="2450592"/>
            <a:ext cx="2441448" cy="1051560"/>
          </a:xfrm>
          <a:prstGeom prst="roundRect">
            <a:avLst>
              <a:gd name="adj" fmla="val 11304"/>
            </a:avLst>
          </a:prstGeom>
          <a:solidFill>
            <a:srgbClr val="FFFFFF"/>
          </a:solidFill>
          <a:ln w="12700">
            <a:solidFill>
              <a:srgbClr val="FFFFFF">
                <a:alpha val="0"/>
              </a:srgbClr>
            </a:solidFill>
            <a:prstDash val="solid"/>
          </a:ln>
        </p:spPr>
        <p:txBody>
          <a:bodyPr/>
          <a:p/>
        </p:txBody>
      </p:sp>
      <p:sp>
        <p:nvSpPr>
          <p:cNvPr id="31" name="Text 29"/>
          <p:cNvSpPr/>
          <p:nvPr/>
        </p:nvSpPr>
        <p:spPr>
          <a:xfrm>
            <a:off x="9079992" y="2587752"/>
            <a:ext cx="283464" cy="256032"/>
          </a:xfrm>
          <a:prstGeom prst="rect">
            <a:avLst/>
          </a:prstGeom>
          <a:noFill/>
          <a:ln/>
        </p:spPr>
        <p:txBody>
          <a:bodyPr wrap="square" lIns="0" tIns="0" rIns="0" bIns="0" rtlCol="0" anchor="ctr">
            <a:normAutofit/>
          </a:bodyPr>
          <a:lstStyle/>
          <a:p>
            <a:pPr indent="0" marL="0">
              <a:buNone/>
            </a:pPr>
            <a:r>
              <a:rPr lang="en-US" sz="1700" b="1" dirty="0">
                <a:solidFill>
                  <a:srgbClr val="008E85"/>
                </a:solidFill>
                <a:latin typeface="Aptos Display" pitchFamily="34" charset="0"/>
                <a:ea typeface="Aptos Display" pitchFamily="34" charset="-122"/>
                <a:cs typeface="Aptos Display" pitchFamily="34" charset="-120"/>
              </a:rPr>
              <a:t>4</a:t>
            </a:r>
            <a:endParaRPr lang="en-US" sz="1700" dirty="0"/>
          </a:p>
        </p:txBody>
      </p:sp>
      <p:sp>
        <p:nvSpPr>
          <p:cNvPr id="32" name="Text 30"/>
          <p:cNvSpPr/>
          <p:nvPr/>
        </p:nvSpPr>
        <p:spPr>
          <a:xfrm>
            <a:off x="9381744" y="2587752"/>
            <a:ext cx="1865376" cy="274320"/>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Routing flag</a:t>
            </a:r>
            <a:endParaRPr lang="en-US" sz="1600" dirty="0"/>
          </a:p>
        </p:txBody>
      </p:sp>
      <p:sp>
        <p:nvSpPr>
          <p:cNvPr id="33" name="Text 31"/>
          <p:cNvSpPr/>
          <p:nvPr/>
        </p:nvSpPr>
        <p:spPr>
          <a:xfrm>
            <a:off x="9089136" y="3017520"/>
            <a:ext cx="2167128" cy="219456"/>
          </a:xfrm>
          <a:prstGeom prst="rect">
            <a:avLst/>
          </a:prstGeom>
          <a:noFill/>
          <a:ln/>
        </p:spPr>
        <p:txBody>
          <a:bodyPr wrap="square" lIns="0" tIns="0" rIns="0" bIns="0" rtlCol="0" anchor="ctr">
            <a:normAutofit/>
          </a:bodyPr>
          <a:lstStyle/>
          <a:p>
            <a:pPr indent="0" marL="0">
              <a:buNone/>
            </a:pPr>
            <a:r>
              <a:rPr lang="en-US" sz="1150" dirty="0">
                <a:solidFill>
                  <a:srgbClr val="587082"/>
                </a:solidFill>
                <a:latin typeface="Aptos" pitchFamily="34" charset="0"/>
                <a:ea typeface="Aptos" pitchFamily="34" charset="-122"/>
                <a:cs typeface="Aptos" pitchFamily="34" charset="-120"/>
              </a:rPr>
              <a:t>0 or 1</a:t>
            </a:r>
            <a:endParaRPr lang="en-US" sz="1150" dirty="0"/>
          </a:p>
        </p:txBody>
      </p:sp>
      <p:sp>
        <p:nvSpPr>
          <p:cNvPr id="34" name="Shape 32"/>
          <p:cNvSpPr/>
          <p:nvPr/>
        </p:nvSpPr>
        <p:spPr>
          <a:xfrm>
            <a:off x="804672" y="3776472"/>
            <a:ext cx="10579608" cy="1755648"/>
          </a:xfrm>
          <a:prstGeom prst="roundRect">
            <a:avLst>
              <a:gd name="adj" fmla="val 6771"/>
            </a:avLst>
          </a:prstGeom>
          <a:solidFill>
            <a:srgbClr val="FFFFFF"/>
          </a:solidFill>
          <a:ln w="12700">
            <a:solidFill>
              <a:srgbClr val="FFFFFF">
                <a:alpha val="0"/>
              </a:srgbClr>
            </a:solidFill>
            <a:prstDash val="solid"/>
          </a:ln>
        </p:spPr>
        <p:txBody>
          <a:bodyPr/>
          <a:p/>
        </p:txBody>
      </p:sp>
      <p:sp>
        <p:nvSpPr>
          <p:cNvPr id="35" name="Text 33"/>
          <p:cNvSpPr/>
          <p:nvPr/>
        </p:nvSpPr>
        <p:spPr>
          <a:xfrm>
            <a:off x="978408" y="3858768"/>
            <a:ext cx="8229600" cy="228600"/>
          </a:xfrm>
          <a:prstGeom prst="rect">
            <a:avLst/>
          </a:prstGeom>
          <a:noFill/>
          <a:ln/>
        </p:spPr>
        <p:txBody>
          <a:bodyPr wrap="square" lIns="0" tIns="0" rIns="0" bIns="0" rtlCol="0" anchor="ctr">
            <a:normAutofit/>
          </a:bodyPr>
          <a:lstStyle/>
          <a:p>
            <a:pPr indent="0" marL="0">
              <a:buNone/>
            </a:pPr>
            <a:r>
              <a:rPr lang="en-US" sz="1070" b="1" spc="70" kern="0" dirty="0">
                <a:solidFill>
                  <a:srgbClr val="008E85"/>
                </a:solidFill>
                <a:latin typeface="Aptos Display" pitchFamily="34" charset="0"/>
                <a:ea typeface="Aptos Display" pitchFamily="34" charset="-122"/>
                <a:cs typeface="Aptos Display" pitchFamily="34" charset="-120"/>
              </a:rPr>
              <a:t>REAL NOTEBOOK CODE  ·  src/kio/decision_model.ipynb, Cell 2</a:t>
            </a:r>
            <a:endParaRPr lang="en-US" sz="1070" dirty="0"/>
          </a:p>
        </p:txBody>
      </p:sp>
      <p:pic>
        <p:nvPicPr>
          <p:cNvPr id="36" name="Image 0" descr="/mnt/data/kio_deck_assets/deberta-important-snippet.png">    </p:cNvPr>
          <p:cNvPicPr>
            <a:picLocks noChangeAspect="1"/>
          </p:cNvPicPr>
          <p:nvPr/>
        </p:nvPicPr>
        <p:blipFill>
          <a:blip r:embed="rId1"/>
          <a:stretch>
            <a:fillRect/>
          </a:stretch>
        </p:blipFill>
        <p:spPr>
          <a:xfrm>
            <a:off x="1005840" y="4279392"/>
            <a:ext cx="9820656" cy="932688"/>
          </a:xfrm>
          <a:prstGeom prst="rect">
            <a:avLst/>
          </a:prstGeom>
        </p:spPr>
      </p:pic>
      <p:sp>
        <p:nvSpPr>
          <p:cNvPr id="37" name="Text 34"/>
          <p:cNvSpPr/>
          <p:nvPr/>
        </p:nvSpPr>
        <p:spPr>
          <a:xfrm>
            <a:off x="1051560" y="5202936"/>
            <a:ext cx="9765792" cy="228600"/>
          </a:xfrm>
          <a:prstGeom prst="rect">
            <a:avLst/>
          </a:prstGeom>
          <a:noFill/>
          <a:ln/>
        </p:spPr>
        <p:txBody>
          <a:bodyPr wrap="square" lIns="0" tIns="0" rIns="0" bIns="0" rtlCol="0" anchor="ctr">
            <a:normAutofit/>
          </a:bodyPr>
          <a:lstStyle/>
          <a:p>
            <a:pPr indent="0" marL="0">
              <a:buNone/>
            </a:pPr>
            <a:r>
              <a:rPr lang="en-US" sz="1200" dirty="0">
                <a:solidFill>
                  <a:srgbClr val="587082"/>
                </a:solidFill>
                <a:latin typeface="Aptos" pitchFamily="34" charset="0"/>
                <a:ea typeface="Aptos" pitchFamily="34" charset="-122"/>
                <a:cs typeface="Aptos" pitchFamily="34" charset="-120"/>
              </a:rPr>
              <a:t>Candidate intent descriptions: existing service issue  /  new sales inquiry.</a:t>
            </a:r>
            <a:endParaRPr lang="en-US" sz="1200" dirty="0"/>
          </a:p>
        </p:txBody>
      </p:sp>
      <p:sp>
        <p:nvSpPr>
          <p:cNvPr id="38" name="Shape 35"/>
          <p:cNvSpPr/>
          <p:nvPr/>
        </p:nvSpPr>
        <p:spPr>
          <a:xfrm>
            <a:off x="868680" y="5696712"/>
            <a:ext cx="6455664" cy="329184"/>
          </a:xfrm>
          <a:prstGeom prst="roundRect">
            <a:avLst>
              <a:gd name="adj" fmla="val 36111"/>
            </a:avLst>
          </a:prstGeom>
          <a:solidFill>
            <a:srgbClr val="E6F5F2"/>
          </a:solidFill>
          <a:ln w="12700">
            <a:solidFill>
              <a:srgbClr val="E6F5F2">
                <a:alpha val="0"/>
              </a:srgbClr>
            </a:solidFill>
            <a:prstDash val="solid"/>
          </a:ln>
        </p:spPr>
        <p:txBody>
          <a:bodyPr/>
          <a:p/>
        </p:txBody>
      </p:sp>
      <p:sp>
        <p:nvSpPr>
          <p:cNvPr id="39" name="Text 36"/>
          <p:cNvSpPr/>
          <p:nvPr/>
        </p:nvSpPr>
        <p:spPr>
          <a:xfrm>
            <a:off x="1014984" y="5751576"/>
            <a:ext cx="6117336" cy="219456"/>
          </a:xfrm>
          <a:prstGeom prst="rect">
            <a:avLst/>
          </a:prstGeom>
          <a:noFill/>
          <a:ln/>
        </p:spPr>
        <p:txBody>
          <a:bodyPr wrap="square" lIns="0" tIns="0" rIns="0" bIns="0" rtlCol="0" anchor="ctr">
            <a:normAutofit/>
          </a:bodyPr>
          <a:lstStyle/>
          <a:p>
            <a:pPr indent="0" marL="0">
              <a:buNone/>
            </a:pPr>
            <a:r>
              <a:rPr lang="en-US" sz="1100" b="1" dirty="0">
                <a:solidFill>
                  <a:srgbClr val="008E85"/>
                </a:solidFill>
                <a:latin typeface="Aptos Display" pitchFamily="34" charset="0"/>
                <a:ea typeface="Aptos Display" pitchFamily="34" charset="-122"/>
                <a:cs typeface="Aptos Display" pitchFamily="34" charset="-120"/>
              </a:rPr>
              <a:t>Model card: MIT license   |   Framework: Hugging Face Transformers</a:t>
            </a:r>
            <a:endParaRPr lang="en-US" sz="1100" dirty="0"/>
          </a:p>
        </p:txBody>
      </p:sp>
      <p:sp>
        <p:nvSpPr>
          <p:cNvPr id="40" name="Text 37"/>
          <p:cNvSpPr/>
          <p:nvPr/>
        </p:nvSpPr>
        <p:spPr>
          <a:xfrm>
            <a:off x="7516368" y="5705856"/>
            <a:ext cx="3794760" cy="301752"/>
          </a:xfrm>
          <a:prstGeom prst="rect">
            <a:avLst/>
          </a:prstGeom>
          <a:noFill/>
          <a:ln/>
        </p:spPr>
        <p:txBody>
          <a:bodyPr wrap="square" lIns="0" tIns="0" rIns="0" bIns="0" rtlCol="0" anchor="ctr">
            <a:normAutofit/>
          </a:bodyPr>
          <a:lstStyle/>
          <a:p>
            <a:pPr algn="r" indent="0" marL="0">
              <a:buNone/>
            </a:pPr>
            <a:r>
              <a:rPr lang="en-US" sz="1120" dirty="0">
                <a:solidFill>
                  <a:srgbClr val="587082"/>
                </a:solidFill>
                <a:latin typeface="Aptos" pitchFamily="34" charset="0"/>
                <a:ea typeface="Aptos" pitchFamily="34" charset="-122"/>
                <a:cs typeface="Aptos" pitchFamily="34" charset="-120"/>
              </a:rPr>
              <a:t>Structured flag validation is required by the project contract.</a:t>
            </a:r>
            <a:endParaRPr lang="en-US" sz="1120" dirty="0"/>
          </a:p>
        </p:txBody>
      </p:sp>
      <p:sp>
        <p:nvSpPr>
          <p:cNvPr id="41" name="Text 38"/>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Model: MoritzLaurer/DeBERTa-v3-base-mnli-fever-anli   •   Hugging Face model card</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4"/>
                                  </p:tgtEl>
                                  <p:attrNameLst>
                                    <p:attrName>style.visibility</p:attrName>
                                  </p:attrNameLst>
                                </p:cBhvr>
                                <p:to>
                                  <p:strVal val="visible"/>
                                </p:to>
                              </p:set>
                              <p:animEffect transition="in" filter="fade">
                                <p:cBhvr>
                                  <p:cTn id="23" dur="520"/>
                                  <p:tgtEl>
                                    <p:spTgt spid="14"/>
                                  </p:tgtEl>
                                </p:cBhvr>
                              </p:animEffect>
                            </p:childTnLst>
                          </p:cTn>
                        </p:par>
                      </p:childTnLst>
                    </p:cTn>
                  </p:par>
                  <p:par>
                    <p:cTn id="25" fill="hold">
                      <p:stCondLst>
                        <p:cond delay="1440"/>
                      </p:stCondLst>
                      <p:childTnLst>
                        <p:par>
                          <p:cTn id="26" fill="hold">
                            <p:childTnLst>
                              <p:set>
                                <p:cBhvr>
                                  <p:cTn id="27" dur="1" fill="hold">
                                    <p:stCondLst>
                                      <p:cond delay="0"/>
                                    </p:stCondLst>
                                  </p:cTn>
                                  <p:tgtEl>
                                    <p:spTgt spid="15"/>
                                  </p:tgtEl>
                                  <p:attrNameLst>
                                    <p:attrName>style.visibility</p:attrName>
                                  </p:attrNameLst>
                                </p:cBhvr>
                                <p:to>
                                  <p:strVal val="visible"/>
                                </p:to>
                              </p:set>
                              <p:animEffect transition="in" filter="fade">
                                <p:cBhvr>
                                  <p:cTn id="28" dur="520"/>
                                  <p:tgtEl>
                                    <p:spTgt spid="15"/>
                                  </p:tgtEl>
                                </p:cBhvr>
                              </p:animEffect>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DECISION MODEL · IMPLEMENTATION</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09 / 21</a:t>
            </a:r>
            <a:endParaRPr lang="en-US" sz="1000" dirty="0"/>
          </a:p>
        </p:txBody>
      </p:sp>
      <p:sp>
        <p:nvSpPr>
          <p:cNvPr id="7" name="Shape 5"/>
          <p:cNvSpPr/>
          <p:nvPr/>
        </p:nvSpPr>
        <p:spPr>
          <a:xfrm>
            <a:off x="585216" y="6473952"/>
            <a:ext cx="4318751"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DECISION SERVICE</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Pretrained language inference, then a routing flag</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Candidate-label descriptions are compared with each incoming message.</a:t>
            </a:r>
            <a:endParaRPr lang="en-US" sz="1420" dirty="0"/>
          </a:p>
        </p:txBody>
      </p:sp>
      <p:sp>
        <p:nvSpPr>
          <p:cNvPr id="12" name="Shape 10"/>
          <p:cNvSpPr/>
          <p:nvPr/>
        </p:nvSpPr>
        <p:spPr>
          <a:xfrm>
            <a:off x="804672" y="2221992"/>
            <a:ext cx="6675120" cy="3474720"/>
          </a:xfrm>
          <a:prstGeom prst="roundRect">
            <a:avLst>
              <a:gd name="adj" fmla="val 3421"/>
            </a:avLst>
          </a:prstGeom>
          <a:solidFill>
            <a:srgbClr val="FFFFFF"/>
          </a:solidFill>
          <a:ln w="12700">
            <a:solidFill>
              <a:srgbClr val="FFFFFF">
                <a:alpha val="0"/>
              </a:srgbClr>
            </a:solidFill>
            <a:prstDash val="solid"/>
          </a:ln>
        </p:spPr>
        <p:txBody>
          <a:bodyPr/>
          <a:p/>
        </p:txBody>
      </p:sp>
      <p:sp>
        <p:nvSpPr>
          <p:cNvPr id="13" name="Text 11"/>
          <p:cNvSpPr/>
          <p:nvPr/>
        </p:nvSpPr>
        <p:spPr>
          <a:xfrm>
            <a:off x="1033272" y="2487168"/>
            <a:ext cx="6126480" cy="310896"/>
          </a:xfrm>
          <a:prstGeom prst="rect">
            <a:avLst/>
          </a:prstGeom>
          <a:noFill/>
          <a:ln/>
        </p:spPr>
        <p:txBody>
          <a:bodyPr wrap="square" lIns="0" tIns="0" rIns="0" bIns="0" rtlCol="0" anchor="ctr">
            <a:normAutofit/>
          </a:bodyPr>
          <a:lstStyle/>
          <a:p>
            <a:pPr indent="0" marL="0">
              <a:buNone/>
            </a:pPr>
            <a:r>
              <a:rPr lang="en-US" sz="1300" b="1" dirty="0">
                <a:solidFill>
                  <a:srgbClr val="008E85"/>
                </a:solidFill>
                <a:latin typeface="Aptos Display" pitchFamily="34" charset="0"/>
                <a:ea typeface="Aptos Display" pitchFamily="34" charset="-122"/>
                <a:cs typeface="Aptos Display" pitchFamily="34" charset="-120"/>
              </a:rPr>
              <a:t>REAL NOTEBOOK SNIPPET  ·  decision_model.ipynb</a:t>
            </a:r>
            <a:endParaRPr lang="en-US" sz="1300" dirty="0"/>
          </a:p>
        </p:txBody>
      </p:sp>
      <p:pic>
        <p:nvPicPr>
          <p:cNvPr id="14" name="Image 0" descr="/mnt/data/kio_deck_assets/deberta-real-notebook.png">    </p:cNvPr>
          <p:cNvPicPr>
            <a:picLocks noChangeAspect="1"/>
          </p:cNvPicPr>
          <p:nvPr/>
        </p:nvPicPr>
        <p:blipFill>
          <a:blip r:embed="rId1"/>
          <a:stretch>
            <a:fillRect/>
          </a:stretch>
        </p:blipFill>
        <p:spPr>
          <a:xfrm>
            <a:off x="1024128" y="2916936"/>
            <a:ext cx="6236208" cy="1984248"/>
          </a:xfrm>
          <a:prstGeom prst="rect">
            <a:avLst/>
          </a:prstGeom>
        </p:spPr>
      </p:pic>
      <p:sp>
        <p:nvSpPr>
          <p:cNvPr id="15" name="Shape 12"/>
          <p:cNvSpPr/>
          <p:nvPr/>
        </p:nvSpPr>
        <p:spPr>
          <a:xfrm>
            <a:off x="7699248" y="2221992"/>
            <a:ext cx="3712464" cy="3474720"/>
          </a:xfrm>
          <a:prstGeom prst="roundRect">
            <a:avLst>
              <a:gd name="adj" fmla="val 3421"/>
            </a:avLst>
          </a:prstGeom>
          <a:solidFill>
            <a:srgbClr val="0A2134"/>
          </a:solidFill>
          <a:ln w="12700">
            <a:solidFill>
              <a:srgbClr val="0A2134">
                <a:alpha val="0"/>
              </a:srgbClr>
            </a:solidFill>
            <a:prstDash val="solid"/>
          </a:ln>
        </p:spPr>
        <p:txBody>
          <a:bodyPr/>
          <a:p/>
        </p:txBody>
      </p:sp>
      <p:sp>
        <p:nvSpPr>
          <p:cNvPr id="16" name="Text 13"/>
          <p:cNvSpPr/>
          <p:nvPr/>
        </p:nvSpPr>
        <p:spPr>
          <a:xfrm>
            <a:off x="7964424" y="2487168"/>
            <a:ext cx="3200400" cy="310896"/>
          </a:xfrm>
          <a:prstGeom prst="rect">
            <a:avLst/>
          </a:prstGeom>
          <a:noFill/>
          <a:ln/>
        </p:spPr>
        <p:txBody>
          <a:bodyPr wrap="square" lIns="0" tIns="0" rIns="0" bIns="0" rtlCol="0" anchor="ctr">
            <a:normAutofit/>
          </a:bodyPr>
          <a:lstStyle/>
          <a:p>
            <a:pPr indent="0" marL="0">
              <a:buNone/>
            </a:pPr>
            <a:r>
              <a:rPr lang="en-US" sz="1500" b="1" dirty="0">
                <a:solidFill>
                  <a:srgbClr val="A3EAE0"/>
                </a:solidFill>
                <a:latin typeface="Aptos Display" pitchFamily="34" charset="0"/>
                <a:ea typeface="Aptos Display" pitchFamily="34" charset="-122"/>
                <a:cs typeface="Aptos Display" pitchFamily="34" charset="-120"/>
              </a:rPr>
              <a:t>SETUP</a:t>
            </a:r>
            <a:endParaRPr lang="en-US" sz="1500" dirty="0"/>
          </a:p>
        </p:txBody>
      </p:sp>
      <p:sp>
        <p:nvSpPr>
          <p:cNvPr id="17" name="Text 14"/>
          <p:cNvSpPr/>
          <p:nvPr/>
        </p:nvSpPr>
        <p:spPr>
          <a:xfrm>
            <a:off x="7964424" y="2935224"/>
            <a:ext cx="3026664" cy="2212848"/>
          </a:xfrm>
          <a:prstGeom prst="rect">
            <a:avLst/>
          </a:prstGeom>
          <a:noFill/>
          <a:ln/>
        </p:spPr>
        <p:txBody>
          <a:bodyPr wrap="square" lIns="0" tIns="0" rIns="0" bIns="0" rtlCol="0" anchor="t">
            <a:normAutofit/>
          </a:bodyPr>
          <a:lstStyle/>
          <a:p>
            <a:pPr indent="0" marL="0">
              <a:buNone/>
            </a:pPr>
            <a:r>
              <a:rPr lang="en-US" sz="1570" dirty="0">
                <a:solidFill>
                  <a:srgbClr val="FFFFFF"/>
                </a:solidFill>
                <a:latin typeface="Aptos" pitchFamily="34" charset="0"/>
                <a:ea typeface="Aptos" pitchFamily="34" charset="-122"/>
                <a:cs typeface="Aptos" pitchFamily="34" charset="-120"/>
              </a:rPr>
              <a:t>Model  ·  DeBERTa-v3 NLI</a:t>
            </a:r>
            <a:endParaRPr lang="en-US" sz="1570" dirty="0"/>
          </a:p>
          <a:p>
            <a:pPr indent="0" marL="0">
              <a:buNone/>
            </a:pPr>
            <a:endParaRPr lang="en-US" sz="1570" dirty="0"/>
          </a:p>
          <a:p>
            <a:pPr indent="0" marL="0">
              <a:buNone/>
            </a:pPr>
            <a:r>
              <a:rPr lang="en-US" sz="1570" dirty="0">
                <a:solidFill>
                  <a:srgbClr val="FFFFFF"/>
                </a:solidFill>
                <a:latin typeface="Aptos" pitchFamily="34" charset="0"/>
                <a:ea typeface="Aptos" pitchFamily="34" charset="-122"/>
                <a:cs typeface="Aptos" pitchFamily="34" charset="-120"/>
              </a:rPr>
              <a:t>Task  ·  Zero-shot classification</a:t>
            </a:r>
            <a:endParaRPr lang="en-US" sz="1570" dirty="0"/>
          </a:p>
          <a:p>
            <a:pPr indent="0" marL="0">
              <a:buNone/>
            </a:pPr>
            <a:endParaRPr lang="en-US" sz="1570" dirty="0"/>
          </a:p>
          <a:p>
            <a:pPr indent="0" marL="0">
              <a:buNone/>
            </a:pPr>
            <a:r>
              <a:rPr lang="en-US" sz="1570" dirty="0">
                <a:solidFill>
                  <a:srgbClr val="FFFFFF"/>
                </a:solidFill>
                <a:latin typeface="Aptos" pitchFamily="34" charset="0"/>
                <a:ea typeface="Aptos" pitchFamily="34" charset="-122"/>
                <a:cs typeface="Aptos" pitchFamily="34" charset="-120"/>
              </a:rPr>
              <a:t>Fine-tuning  ·  None</a:t>
            </a:r>
            <a:endParaRPr lang="en-US" sz="1570" dirty="0"/>
          </a:p>
          <a:p>
            <a:pPr indent="0" marL="0">
              <a:buNone/>
            </a:pPr>
            <a:endParaRPr lang="en-US" sz="1570" dirty="0"/>
          </a:p>
          <a:p>
            <a:pPr indent="0" marL="0">
              <a:buNone/>
            </a:pPr>
            <a:r>
              <a:rPr lang="en-US" sz="1570" dirty="0">
                <a:solidFill>
                  <a:srgbClr val="FFFFFF"/>
                </a:solidFill>
                <a:latin typeface="Aptos" pitchFamily="34" charset="0"/>
                <a:ea typeface="Aptos" pitchFamily="34" charset="-122"/>
                <a:cs typeface="Aptos" pitchFamily="34" charset="-120"/>
              </a:rPr>
              <a:t>License  ·  MIT</a:t>
            </a:r>
            <a:endParaRPr lang="en-US" sz="1570" dirty="0"/>
          </a:p>
        </p:txBody>
      </p:sp>
      <p:sp>
        <p:nvSpPr>
          <p:cNvPr id="18" name="Shape 15"/>
          <p:cNvSpPr/>
          <p:nvPr/>
        </p:nvSpPr>
        <p:spPr>
          <a:xfrm>
            <a:off x="832104" y="5815584"/>
            <a:ext cx="10533888" cy="365760"/>
          </a:xfrm>
          <a:prstGeom prst="roundRect">
            <a:avLst>
              <a:gd name="adj" fmla="val 32500"/>
            </a:avLst>
          </a:prstGeom>
          <a:solidFill>
            <a:srgbClr val="E6F5F2"/>
          </a:solidFill>
          <a:ln w="12700">
            <a:solidFill>
              <a:srgbClr val="E6F5F2">
                <a:alpha val="0"/>
              </a:srgbClr>
            </a:solidFill>
            <a:prstDash val="solid"/>
          </a:ln>
        </p:spPr>
        <p:txBody>
          <a:bodyPr/>
          <a:p/>
        </p:txBody>
      </p:sp>
      <p:sp>
        <p:nvSpPr>
          <p:cNvPr id="19" name="Text 16"/>
          <p:cNvSpPr/>
          <p:nvPr/>
        </p:nvSpPr>
        <p:spPr>
          <a:xfrm>
            <a:off x="987552" y="5879592"/>
            <a:ext cx="10259568" cy="219456"/>
          </a:xfrm>
          <a:prstGeom prst="rect">
            <a:avLst/>
          </a:prstGeom>
          <a:noFill/>
          <a:ln/>
        </p:spPr>
        <p:txBody>
          <a:bodyPr wrap="square" lIns="0" tIns="0" rIns="0" bIns="0" rtlCol="0" anchor="ctr">
            <a:normAutofit/>
          </a:bodyPr>
          <a:lstStyle/>
          <a:p>
            <a:pPr indent="0" marL="0">
              <a:buNone/>
            </a:pPr>
            <a:r>
              <a:rPr lang="en-US" sz="1190" b="1" dirty="0">
                <a:solidFill>
                  <a:srgbClr val="112D40"/>
                </a:solidFill>
                <a:latin typeface="Aptos Display" pitchFamily="34" charset="0"/>
                <a:ea typeface="Aptos Display" pitchFamily="34" charset="-122"/>
                <a:cs typeface="Aptos Display" pitchFamily="34" charset="-120"/>
              </a:rPr>
              <a:t>Output contract: only “customer_service” or “sales” should map to flag 0 or 1; unexpected values must be rejected.</a:t>
            </a:r>
            <a:endParaRPr lang="en-US" sz="119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3"/>
                                  </p:tgtEl>
                                  <p:attrNameLst>
                                    <p:attrName>style.visibility</p:attrName>
                                  </p:attrNameLst>
                                </p:cBhvr>
                                <p:to>
                                  <p:strVal val="visible"/>
                                </p:to>
                              </p:set>
                              <p:animEffect transition="in" filter="fade">
                                <p:cBhvr>
                                  <p:cTn id="23" dur="520"/>
                                  <p:tgtEl>
                                    <p:spTgt spid="13"/>
                                  </p:tgtEl>
                                </p:cBhvr>
                              </p:animEffect>
                            </p:childTnLst>
                          </p:cTn>
                        </p:par>
                      </p:childTnLst>
                    </p:cTn>
                  </p:par>
                  <p:par>
                    <p:cTn id="25" fill="hold">
                      <p:stCondLst>
                        <p:cond delay="1440"/>
                      </p:stCondLst>
                      <p:childTnLst>
                        <p:par>
                          <p:cTn id="26" fill="hold">
                            <p:childTnLst>
                              <p:set>
                                <p:cBhvr>
                                  <p:cTn id="27" dur="1" fill="hold">
                                    <p:stCondLst>
                                      <p:cond delay="0"/>
                                    </p:stCondLst>
                                  </p:cTn>
                                  <p:tgtEl>
                                    <p:spTgt spid="17"/>
                                  </p:tgtEl>
                                  <p:attrNameLst>
                                    <p:attrName>style.visibility</p:attrName>
                                  </p:attrNameLst>
                                </p:cBhvr>
                                <p:to>
                                  <p:strVal val="visible"/>
                                </p:to>
                              </p:set>
                              <p:animEffect transition="in" filter="fade">
                                <p:cBhvr>
                                  <p:cTn id="28" dur="520"/>
                                  <p:tgtEl>
                                    <p:spTgt spid="17"/>
                                  </p:tgtEl>
                                </p:cBhvr>
                              </p:animEffect>
                            </p:childTnLst>
                          </p:cTn>
                        </p:par>
                      </p:childTnLst>
                    </p:cTn>
                  </p:par>
                </p:childTnLst>
              </p:cTn>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DECISION RESULTS</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10 / 21</a:t>
            </a:r>
            <a:endParaRPr lang="en-US" sz="1000" dirty="0"/>
          </a:p>
        </p:txBody>
      </p:sp>
      <p:sp>
        <p:nvSpPr>
          <p:cNvPr id="7" name="Shape 5"/>
          <p:cNvSpPr/>
          <p:nvPr/>
        </p:nvSpPr>
        <p:spPr>
          <a:xfrm>
            <a:off x="585216" y="6473952"/>
            <a:ext cx="4798612"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HELD-OUT EVALUATION</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DeBERTa finds all Support—but misses half of Sales</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The descriptive-label experiment is exploratory, not an untouched second test.</a:t>
            </a:r>
            <a:endParaRPr lang="en-US" sz="1420" dirty="0"/>
          </a:p>
        </p:txBody>
      </p:sp>
      <p:sp>
        <p:nvSpPr>
          <p:cNvPr id="12" name="Shape 10"/>
          <p:cNvSpPr/>
          <p:nvPr/>
        </p:nvSpPr>
        <p:spPr>
          <a:xfrm>
            <a:off x="704088" y="2203704"/>
            <a:ext cx="3246120" cy="3410712"/>
          </a:xfrm>
          <a:prstGeom prst="roundRect">
            <a:avLst>
              <a:gd name="adj" fmla="val 3662"/>
            </a:avLst>
          </a:prstGeom>
          <a:solidFill>
            <a:srgbClr val="0A2134"/>
          </a:solidFill>
          <a:ln w="12700">
            <a:solidFill>
              <a:srgbClr val="0A2134">
                <a:alpha val="0"/>
              </a:srgbClr>
            </a:solidFill>
            <a:prstDash val="solid"/>
          </a:ln>
        </p:spPr>
        <p:txBody>
          <a:bodyPr/>
          <a:p/>
        </p:txBody>
      </p:sp>
      <p:sp>
        <p:nvSpPr>
          <p:cNvPr id="13" name="Text 11"/>
          <p:cNvSpPr/>
          <p:nvPr/>
        </p:nvSpPr>
        <p:spPr>
          <a:xfrm>
            <a:off x="941832" y="2596896"/>
            <a:ext cx="2606040" cy="996696"/>
          </a:xfrm>
          <a:prstGeom prst="rect">
            <a:avLst/>
          </a:prstGeom>
          <a:noFill/>
          <a:ln/>
        </p:spPr>
        <p:txBody>
          <a:bodyPr wrap="square" lIns="0" tIns="0" rIns="0" bIns="0" rtlCol="0" anchor="ctr">
            <a:normAutofit/>
          </a:bodyPr>
          <a:lstStyle/>
          <a:p>
            <a:pPr indent="0" marL="0">
              <a:buNone/>
            </a:pPr>
            <a:r>
              <a:rPr lang="en-US" sz="5200" b="1" dirty="0">
                <a:solidFill>
                  <a:srgbClr val="FFFFFF"/>
                </a:solidFill>
                <a:latin typeface="Aptos Display" pitchFamily="34" charset="0"/>
                <a:ea typeface="Aptos Display" pitchFamily="34" charset="-122"/>
                <a:cs typeface="Aptos Display" pitchFamily="34" charset="-120"/>
              </a:rPr>
              <a:t>75%</a:t>
            </a:r>
            <a:endParaRPr lang="en-US" sz="5200" dirty="0"/>
          </a:p>
        </p:txBody>
      </p:sp>
      <p:sp>
        <p:nvSpPr>
          <p:cNvPr id="14" name="Text 12"/>
          <p:cNvSpPr/>
          <p:nvPr/>
        </p:nvSpPr>
        <p:spPr>
          <a:xfrm>
            <a:off x="1005840" y="3694176"/>
            <a:ext cx="2633472" cy="283464"/>
          </a:xfrm>
          <a:prstGeom prst="rect">
            <a:avLst/>
          </a:prstGeom>
          <a:noFill/>
          <a:ln/>
        </p:spPr>
        <p:txBody>
          <a:bodyPr wrap="square" lIns="0" tIns="0" rIns="0" bIns="0" rtlCol="0" anchor="ctr">
            <a:normAutofit/>
          </a:bodyPr>
          <a:lstStyle/>
          <a:p>
            <a:pPr indent="0" marL="0">
              <a:buNone/>
            </a:pPr>
            <a:r>
              <a:rPr lang="en-US" sz="1900" b="1" dirty="0">
                <a:solidFill>
                  <a:srgbClr val="9DE4DA"/>
                </a:solidFill>
                <a:latin typeface="Aptos Display" pitchFamily="34" charset="0"/>
                <a:ea typeface="Aptos Display" pitchFamily="34" charset="-122"/>
                <a:cs typeface="Aptos Display" pitchFamily="34" charset="-120"/>
              </a:rPr>
              <a:t>15 / 20 correct</a:t>
            </a:r>
            <a:endParaRPr lang="en-US" sz="1900" dirty="0"/>
          </a:p>
        </p:txBody>
      </p:sp>
      <p:sp>
        <p:nvSpPr>
          <p:cNvPr id="15" name="Shape 13"/>
          <p:cNvSpPr/>
          <p:nvPr/>
        </p:nvSpPr>
        <p:spPr>
          <a:xfrm>
            <a:off x="987552" y="4224528"/>
            <a:ext cx="2697480" cy="0"/>
          </a:xfrm>
          <a:prstGeom prst="line">
            <a:avLst/>
          </a:prstGeom>
          <a:noFill/>
          <a:ln w="12700">
            <a:solidFill>
              <a:srgbClr val="466474"/>
            </a:solidFill>
            <a:prstDash val="solid"/>
            <a:headEnd type="none"/>
            <a:tailEnd type="none"/>
          </a:ln>
        </p:spPr>
        <p:txBody>
          <a:bodyPr/>
          <a:p/>
        </p:txBody>
      </p:sp>
      <p:sp>
        <p:nvSpPr>
          <p:cNvPr id="16" name="Text 14"/>
          <p:cNvSpPr/>
          <p:nvPr/>
        </p:nvSpPr>
        <p:spPr>
          <a:xfrm>
            <a:off x="978408" y="4443984"/>
            <a:ext cx="2633472" cy="29260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Aptos" pitchFamily="34" charset="0"/>
                <a:ea typeface="Aptos" pitchFamily="34" charset="-122"/>
                <a:cs typeface="Aptos" pitchFamily="34" charset="-120"/>
              </a:rPr>
              <a:t>Baseline labels    70%</a:t>
            </a:r>
            <a:endParaRPr lang="en-US" sz="1500" dirty="0"/>
          </a:p>
        </p:txBody>
      </p:sp>
      <p:sp>
        <p:nvSpPr>
          <p:cNvPr id="17" name="Text 15"/>
          <p:cNvSpPr/>
          <p:nvPr/>
        </p:nvSpPr>
        <p:spPr>
          <a:xfrm>
            <a:off x="978408" y="4882896"/>
            <a:ext cx="2651760" cy="292608"/>
          </a:xfrm>
          <a:prstGeom prst="rect">
            <a:avLst/>
          </a:prstGeom>
          <a:noFill/>
          <a:ln/>
        </p:spPr>
        <p:txBody>
          <a:bodyPr wrap="square" lIns="0" tIns="0" rIns="0" bIns="0" rtlCol="0" anchor="ctr">
            <a:normAutofit/>
          </a:bodyPr>
          <a:lstStyle/>
          <a:p>
            <a:pPr indent="0" marL="0">
              <a:buNone/>
            </a:pPr>
            <a:r>
              <a:rPr lang="en-US" sz="1500" b="1" dirty="0">
                <a:solidFill>
                  <a:srgbClr val="A6E6DE"/>
                </a:solidFill>
                <a:latin typeface="Aptos Display" pitchFamily="34" charset="0"/>
                <a:ea typeface="Aptos Display" pitchFamily="34" charset="-122"/>
                <a:cs typeface="Aptos Display" pitchFamily="34" charset="-120"/>
              </a:rPr>
              <a:t>Descriptive labels    75%</a:t>
            </a:r>
            <a:endParaRPr lang="en-US" sz="1500" dirty="0"/>
          </a:p>
        </p:txBody>
      </p:sp>
      <p:sp>
        <p:nvSpPr>
          <p:cNvPr id="18" name="Shape 16"/>
          <p:cNvSpPr/>
          <p:nvPr/>
        </p:nvSpPr>
        <p:spPr>
          <a:xfrm>
            <a:off x="4178808" y="2203704"/>
            <a:ext cx="7178040" cy="3419856"/>
          </a:xfrm>
          <a:prstGeom prst="roundRect">
            <a:avLst>
              <a:gd name="adj" fmla="val 3476"/>
            </a:avLst>
          </a:prstGeom>
          <a:solidFill>
            <a:srgbClr val="FFFFFF"/>
          </a:solidFill>
          <a:ln w="12700">
            <a:solidFill>
              <a:srgbClr val="FFFFFF">
                <a:alpha val="0"/>
              </a:srgbClr>
            </a:solidFill>
            <a:prstDash val="solid"/>
          </a:ln>
        </p:spPr>
        <p:txBody>
          <a:bodyPr/>
          <a:p/>
        </p:txBody>
      </p:sp>
      <p:sp>
        <p:nvSpPr>
          <p:cNvPr id="19" name="Text 17"/>
          <p:cNvSpPr/>
          <p:nvPr/>
        </p:nvSpPr>
        <p:spPr>
          <a:xfrm>
            <a:off x="4443984" y="2450592"/>
            <a:ext cx="6464808" cy="292608"/>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DECISION MODEL  ·  CONFUSION MATRIX</a:t>
            </a:r>
            <a:endParaRPr lang="en-US" sz="1600" dirty="0"/>
          </a:p>
        </p:txBody>
      </p:sp>
      <p:sp>
        <p:nvSpPr>
          <p:cNvPr id="20" name="Text 18"/>
          <p:cNvSpPr/>
          <p:nvPr/>
        </p:nvSpPr>
        <p:spPr>
          <a:xfrm>
            <a:off x="6711696" y="2962656"/>
            <a:ext cx="1801368" cy="265176"/>
          </a:xfrm>
          <a:prstGeom prst="rect">
            <a:avLst/>
          </a:prstGeom>
          <a:noFill/>
          <a:ln/>
        </p:spPr>
        <p:txBody>
          <a:bodyPr wrap="square" lIns="0" tIns="0" rIns="0" bIns="0" rtlCol="0" anchor="ctr">
            <a:normAutofit/>
          </a:bodyPr>
          <a:lstStyle/>
          <a:p>
            <a:pPr algn="ctr" indent="0" marL="0">
              <a:buNone/>
            </a:pPr>
            <a:r>
              <a:rPr lang="en-US" sz="1200" b="1" dirty="0">
                <a:solidFill>
                  <a:srgbClr val="587082"/>
                </a:solidFill>
                <a:latin typeface="Aptos Display" pitchFamily="34" charset="0"/>
                <a:ea typeface="Aptos Display" pitchFamily="34" charset="-122"/>
                <a:cs typeface="Aptos Display" pitchFamily="34" charset="-120"/>
              </a:rPr>
              <a:t>Predicted Support</a:t>
            </a:r>
            <a:endParaRPr lang="en-US" sz="1200" dirty="0"/>
          </a:p>
        </p:txBody>
      </p:sp>
      <p:sp>
        <p:nvSpPr>
          <p:cNvPr id="21" name="Text 19"/>
          <p:cNvSpPr/>
          <p:nvPr/>
        </p:nvSpPr>
        <p:spPr>
          <a:xfrm>
            <a:off x="8997696" y="2962656"/>
            <a:ext cx="1700784" cy="265176"/>
          </a:xfrm>
          <a:prstGeom prst="rect">
            <a:avLst/>
          </a:prstGeom>
          <a:noFill/>
          <a:ln/>
        </p:spPr>
        <p:txBody>
          <a:bodyPr wrap="square" lIns="0" tIns="0" rIns="0" bIns="0" rtlCol="0" anchor="ctr">
            <a:normAutofit/>
          </a:bodyPr>
          <a:lstStyle/>
          <a:p>
            <a:pPr algn="ctr" indent="0" marL="0">
              <a:buNone/>
            </a:pPr>
            <a:r>
              <a:rPr lang="en-US" sz="1200" b="1" dirty="0">
                <a:solidFill>
                  <a:srgbClr val="587082"/>
                </a:solidFill>
                <a:latin typeface="Aptos Display" pitchFamily="34" charset="0"/>
                <a:ea typeface="Aptos Display" pitchFamily="34" charset="-122"/>
                <a:cs typeface="Aptos Display" pitchFamily="34" charset="-120"/>
              </a:rPr>
              <a:t>Predicted Sales</a:t>
            </a:r>
            <a:endParaRPr lang="en-US" sz="1200" dirty="0"/>
          </a:p>
        </p:txBody>
      </p:sp>
      <p:sp>
        <p:nvSpPr>
          <p:cNvPr id="22" name="Text 20"/>
          <p:cNvSpPr/>
          <p:nvPr/>
        </p:nvSpPr>
        <p:spPr>
          <a:xfrm>
            <a:off x="4462272" y="3547872"/>
            <a:ext cx="1975104" cy="356616"/>
          </a:xfrm>
          <a:prstGeom prst="rect">
            <a:avLst/>
          </a:prstGeom>
          <a:noFill/>
          <a:ln/>
        </p:spPr>
        <p:txBody>
          <a:bodyPr wrap="square" lIns="0" tIns="0" rIns="0" bIns="0" rtlCol="0" anchor="ctr">
            <a:normAutofit/>
          </a:bodyPr>
          <a:lstStyle/>
          <a:p>
            <a:pPr indent="0" marL="0">
              <a:buNone/>
            </a:pPr>
            <a:r>
              <a:rPr lang="en-US" sz="1300" b="1" dirty="0">
                <a:solidFill>
                  <a:srgbClr val="112D40"/>
                </a:solidFill>
                <a:latin typeface="Aptos Display" pitchFamily="34" charset="0"/>
                <a:ea typeface="Aptos Display" pitchFamily="34" charset="-122"/>
                <a:cs typeface="Aptos Display" pitchFamily="34" charset="-120"/>
              </a:rPr>
              <a:t>Actual Support</a:t>
            </a:r>
            <a:endParaRPr lang="en-US" sz="1300" dirty="0"/>
          </a:p>
        </p:txBody>
      </p:sp>
      <p:sp>
        <p:nvSpPr>
          <p:cNvPr id="23" name="Shape 21"/>
          <p:cNvSpPr/>
          <p:nvPr/>
        </p:nvSpPr>
        <p:spPr>
          <a:xfrm>
            <a:off x="6830568" y="3337560"/>
            <a:ext cx="2103120" cy="740664"/>
          </a:xfrm>
          <a:prstGeom prst="roundRect">
            <a:avLst>
              <a:gd name="adj" fmla="val 16049"/>
            </a:avLst>
          </a:prstGeom>
          <a:solidFill>
            <a:srgbClr val="E6F5F2"/>
          </a:solidFill>
          <a:ln w="12700">
            <a:solidFill>
              <a:srgbClr val="E6F5F2">
                <a:alpha val="0"/>
              </a:srgbClr>
            </a:solidFill>
            <a:prstDash val="solid"/>
          </a:ln>
        </p:spPr>
        <p:txBody>
          <a:bodyPr/>
          <a:p/>
        </p:txBody>
      </p:sp>
      <p:sp>
        <p:nvSpPr>
          <p:cNvPr id="24" name="Text 22"/>
          <p:cNvSpPr/>
          <p:nvPr/>
        </p:nvSpPr>
        <p:spPr>
          <a:xfrm>
            <a:off x="6830568" y="3401568"/>
            <a:ext cx="2103120" cy="457200"/>
          </a:xfrm>
          <a:prstGeom prst="rect">
            <a:avLst/>
          </a:prstGeom>
          <a:noFill/>
          <a:ln/>
        </p:spPr>
        <p:txBody>
          <a:bodyPr wrap="square" lIns="0" tIns="0" rIns="0" bIns="0" rtlCol="0" anchor="ctr">
            <a:normAutofit/>
          </a:bodyPr>
          <a:lstStyle/>
          <a:p>
            <a:pPr algn="ctr" indent="0" marL="0">
              <a:buNone/>
            </a:pPr>
            <a:r>
              <a:rPr lang="en-US" sz="2700" b="1" dirty="0">
                <a:solidFill>
                  <a:srgbClr val="008E85"/>
                </a:solidFill>
                <a:latin typeface="Aptos Display" pitchFamily="34" charset="0"/>
                <a:ea typeface="Aptos Display" pitchFamily="34" charset="-122"/>
                <a:cs typeface="Aptos Display" pitchFamily="34" charset="-120"/>
              </a:rPr>
              <a:t>10</a:t>
            </a:r>
            <a:endParaRPr lang="en-US" sz="2700" dirty="0"/>
          </a:p>
        </p:txBody>
      </p:sp>
      <p:sp>
        <p:nvSpPr>
          <p:cNvPr id="25" name="Shape 23"/>
          <p:cNvSpPr/>
          <p:nvPr/>
        </p:nvSpPr>
        <p:spPr>
          <a:xfrm>
            <a:off x="9107424" y="3337560"/>
            <a:ext cx="2103120" cy="740664"/>
          </a:xfrm>
          <a:prstGeom prst="roundRect">
            <a:avLst>
              <a:gd name="adj" fmla="val 16049"/>
            </a:avLst>
          </a:prstGeom>
          <a:solidFill>
            <a:srgbClr val="E9EFF3"/>
          </a:solidFill>
          <a:ln w="12700">
            <a:solidFill>
              <a:srgbClr val="E9EFF3">
                <a:alpha val="0"/>
              </a:srgbClr>
            </a:solidFill>
            <a:prstDash val="solid"/>
          </a:ln>
        </p:spPr>
        <p:txBody>
          <a:bodyPr/>
          <a:p/>
        </p:txBody>
      </p:sp>
      <p:sp>
        <p:nvSpPr>
          <p:cNvPr id="26" name="Text 24"/>
          <p:cNvSpPr/>
          <p:nvPr/>
        </p:nvSpPr>
        <p:spPr>
          <a:xfrm>
            <a:off x="9107424" y="3401568"/>
            <a:ext cx="2103120" cy="457200"/>
          </a:xfrm>
          <a:prstGeom prst="rect">
            <a:avLst/>
          </a:prstGeom>
          <a:noFill/>
          <a:ln/>
        </p:spPr>
        <p:txBody>
          <a:bodyPr wrap="square" lIns="0" tIns="0" rIns="0" bIns="0" rtlCol="0" anchor="ctr">
            <a:normAutofit/>
          </a:bodyPr>
          <a:lstStyle/>
          <a:p>
            <a:pPr algn="ctr" indent="0" marL="0">
              <a:buNone/>
            </a:pPr>
            <a:r>
              <a:rPr lang="en-US" sz="2700" b="1" dirty="0">
                <a:solidFill>
                  <a:srgbClr val="112D40"/>
                </a:solidFill>
                <a:latin typeface="Aptos Display" pitchFamily="34" charset="0"/>
                <a:ea typeface="Aptos Display" pitchFamily="34" charset="-122"/>
                <a:cs typeface="Aptos Display" pitchFamily="34" charset="-120"/>
              </a:rPr>
              <a:t>0</a:t>
            </a:r>
            <a:endParaRPr lang="en-US" sz="2700" dirty="0"/>
          </a:p>
        </p:txBody>
      </p:sp>
      <p:sp>
        <p:nvSpPr>
          <p:cNvPr id="27" name="Text 25"/>
          <p:cNvSpPr/>
          <p:nvPr/>
        </p:nvSpPr>
        <p:spPr>
          <a:xfrm>
            <a:off x="4462272" y="4425696"/>
            <a:ext cx="1975104" cy="356616"/>
          </a:xfrm>
          <a:prstGeom prst="rect">
            <a:avLst/>
          </a:prstGeom>
          <a:noFill/>
          <a:ln/>
        </p:spPr>
        <p:txBody>
          <a:bodyPr wrap="square" lIns="0" tIns="0" rIns="0" bIns="0" rtlCol="0" anchor="ctr">
            <a:normAutofit/>
          </a:bodyPr>
          <a:lstStyle/>
          <a:p>
            <a:pPr indent="0" marL="0">
              <a:buNone/>
            </a:pPr>
            <a:r>
              <a:rPr lang="en-US" sz="1300" b="1" dirty="0">
                <a:solidFill>
                  <a:srgbClr val="112D40"/>
                </a:solidFill>
                <a:latin typeface="Aptos Display" pitchFamily="34" charset="0"/>
                <a:ea typeface="Aptos Display" pitchFamily="34" charset="-122"/>
                <a:cs typeface="Aptos Display" pitchFamily="34" charset="-120"/>
              </a:rPr>
              <a:t>Actual Sales</a:t>
            </a:r>
            <a:endParaRPr lang="en-US" sz="1300" dirty="0"/>
          </a:p>
        </p:txBody>
      </p:sp>
      <p:sp>
        <p:nvSpPr>
          <p:cNvPr id="28" name="Shape 26"/>
          <p:cNvSpPr/>
          <p:nvPr/>
        </p:nvSpPr>
        <p:spPr>
          <a:xfrm>
            <a:off x="6830568" y="4215384"/>
            <a:ext cx="2103120" cy="740664"/>
          </a:xfrm>
          <a:prstGeom prst="roundRect">
            <a:avLst>
              <a:gd name="adj" fmla="val 16049"/>
            </a:avLst>
          </a:prstGeom>
          <a:solidFill>
            <a:srgbClr val="E9EFF3"/>
          </a:solidFill>
          <a:ln w="12700">
            <a:solidFill>
              <a:srgbClr val="E9EFF3">
                <a:alpha val="0"/>
              </a:srgbClr>
            </a:solidFill>
            <a:prstDash val="solid"/>
          </a:ln>
        </p:spPr>
        <p:txBody>
          <a:bodyPr/>
          <a:p/>
        </p:txBody>
      </p:sp>
      <p:sp>
        <p:nvSpPr>
          <p:cNvPr id="29" name="Text 27"/>
          <p:cNvSpPr/>
          <p:nvPr/>
        </p:nvSpPr>
        <p:spPr>
          <a:xfrm>
            <a:off x="6830568" y="4279392"/>
            <a:ext cx="2103120" cy="457200"/>
          </a:xfrm>
          <a:prstGeom prst="rect">
            <a:avLst/>
          </a:prstGeom>
          <a:noFill/>
          <a:ln/>
        </p:spPr>
        <p:txBody>
          <a:bodyPr wrap="square" lIns="0" tIns="0" rIns="0" bIns="0" rtlCol="0" anchor="ctr">
            <a:normAutofit/>
          </a:bodyPr>
          <a:lstStyle/>
          <a:p>
            <a:pPr algn="ctr" indent="0" marL="0">
              <a:buNone/>
            </a:pPr>
            <a:r>
              <a:rPr lang="en-US" sz="2700" b="1" dirty="0">
                <a:solidFill>
                  <a:srgbClr val="112D40"/>
                </a:solidFill>
                <a:latin typeface="Aptos Display" pitchFamily="34" charset="0"/>
                <a:ea typeface="Aptos Display" pitchFamily="34" charset="-122"/>
                <a:cs typeface="Aptos Display" pitchFamily="34" charset="-120"/>
              </a:rPr>
              <a:t>5</a:t>
            </a:r>
            <a:endParaRPr lang="en-US" sz="2700" dirty="0"/>
          </a:p>
        </p:txBody>
      </p:sp>
      <p:sp>
        <p:nvSpPr>
          <p:cNvPr id="30" name="Shape 28"/>
          <p:cNvSpPr/>
          <p:nvPr/>
        </p:nvSpPr>
        <p:spPr>
          <a:xfrm>
            <a:off x="9107424" y="4215384"/>
            <a:ext cx="2103120" cy="740664"/>
          </a:xfrm>
          <a:prstGeom prst="roundRect">
            <a:avLst>
              <a:gd name="adj" fmla="val 16049"/>
            </a:avLst>
          </a:prstGeom>
          <a:solidFill>
            <a:srgbClr val="E6F5F2"/>
          </a:solidFill>
          <a:ln w="12700">
            <a:solidFill>
              <a:srgbClr val="E6F5F2">
                <a:alpha val="0"/>
              </a:srgbClr>
            </a:solidFill>
            <a:prstDash val="solid"/>
          </a:ln>
        </p:spPr>
        <p:txBody>
          <a:bodyPr/>
          <a:p/>
        </p:txBody>
      </p:sp>
      <p:sp>
        <p:nvSpPr>
          <p:cNvPr id="31" name="Text 29"/>
          <p:cNvSpPr/>
          <p:nvPr/>
        </p:nvSpPr>
        <p:spPr>
          <a:xfrm>
            <a:off x="9107424" y="4279392"/>
            <a:ext cx="2103120" cy="457200"/>
          </a:xfrm>
          <a:prstGeom prst="rect">
            <a:avLst/>
          </a:prstGeom>
          <a:noFill/>
          <a:ln/>
        </p:spPr>
        <p:txBody>
          <a:bodyPr wrap="square" lIns="0" tIns="0" rIns="0" bIns="0" rtlCol="0" anchor="ctr">
            <a:normAutofit/>
          </a:bodyPr>
          <a:lstStyle/>
          <a:p>
            <a:pPr algn="ctr" indent="0" marL="0">
              <a:buNone/>
            </a:pPr>
            <a:r>
              <a:rPr lang="en-US" sz="2700" b="1" dirty="0">
                <a:solidFill>
                  <a:srgbClr val="008E85"/>
                </a:solidFill>
                <a:latin typeface="Aptos Display" pitchFamily="34" charset="0"/>
                <a:ea typeface="Aptos Display" pitchFamily="34" charset="-122"/>
                <a:cs typeface="Aptos Display" pitchFamily="34" charset="-120"/>
              </a:rPr>
              <a:t>5</a:t>
            </a:r>
            <a:endParaRPr lang="en-US" sz="2700" dirty="0"/>
          </a:p>
        </p:txBody>
      </p:sp>
      <p:sp>
        <p:nvSpPr>
          <p:cNvPr id="32" name="Text 30"/>
          <p:cNvSpPr/>
          <p:nvPr/>
        </p:nvSpPr>
        <p:spPr>
          <a:xfrm>
            <a:off x="4517136" y="5248656"/>
            <a:ext cx="6547104" cy="256032"/>
          </a:xfrm>
          <a:prstGeom prst="rect">
            <a:avLst/>
          </a:prstGeom>
          <a:noFill/>
          <a:ln/>
        </p:spPr>
        <p:txBody>
          <a:bodyPr wrap="square" lIns="0" tIns="0" rIns="0" bIns="0" rtlCol="0" anchor="ctr">
            <a:normAutofit/>
          </a:bodyPr>
          <a:lstStyle/>
          <a:p>
            <a:pPr indent="0" marL="0">
              <a:buNone/>
            </a:pPr>
            <a:r>
              <a:rPr lang="en-US" sz="1300" b="1" dirty="0">
                <a:solidFill>
                  <a:srgbClr val="112D40"/>
                </a:solidFill>
                <a:latin typeface="Aptos Display" pitchFamily="34" charset="0"/>
                <a:ea typeface="Aptos Display" pitchFamily="34" charset="-122"/>
                <a:cs typeface="Aptos Display" pitchFamily="34" charset="-120"/>
              </a:rPr>
              <a:t>5 of 10 real Sales inquiries were routed to Support.</a:t>
            </a:r>
            <a:endParaRPr lang="en-US" sz="1300" dirty="0"/>
          </a:p>
        </p:txBody>
      </p:sp>
      <p:sp>
        <p:nvSpPr>
          <p:cNvPr id="33" name="Shape 31"/>
          <p:cNvSpPr/>
          <p:nvPr/>
        </p:nvSpPr>
        <p:spPr>
          <a:xfrm>
            <a:off x="795528" y="5760720"/>
            <a:ext cx="10524744" cy="338328"/>
          </a:xfrm>
          <a:prstGeom prst="roundRect">
            <a:avLst>
              <a:gd name="adj" fmla="val 35135"/>
            </a:avLst>
          </a:prstGeom>
          <a:solidFill>
            <a:srgbClr val="E6F5F2"/>
          </a:solidFill>
          <a:ln w="12700">
            <a:solidFill>
              <a:srgbClr val="E6F5F2">
                <a:alpha val="0"/>
              </a:srgbClr>
            </a:solidFill>
            <a:prstDash val="solid"/>
          </a:ln>
        </p:spPr>
        <p:txBody>
          <a:bodyPr/>
          <a:p/>
        </p:txBody>
      </p:sp>
      <p:sp>
        <p:nvSpPr>
          <p:cNvPr id="34" name="Text 32"/>
          <p:cNvSpPr/>
          <p:nvPr/>
        </p:nvSpPr>
        <p:spPr>
          <a:xfrm>
            <a:off x="932688" y="5815584"/>
            <a:ext cx="10204704" cy="201168"/>
          </a:xfrm>
          <a:prstGeom prst="rect">
            <a:avLst/>
          </a:prstGeom>
          <a:noFill/>
          <a:ln/>
        </p:spPr>
        <p:txBody>
          <a:bodyPr wrap="square" lIns="0" tIns="0" rIns="0" bIns="0" rtlCol="0" anchor="ctr">
            <a:normAutofit/>
          </a:bodyPr>
          <a:lstStyle/>
          <a:p>
            <a:pPr indent="0" marL="0">
              <a:buNone/>
            </a:pPr>
            <a:r>
              <a:rPr lang="en-US" sz="1170" dirty="0">
                <a:solidFill>
                  <a:srgbClr val="112D40"/>
                </a:solidFill>
                <a:latin typeface="Aptos" pitchFamily="34" charset="0"/>
                <a:ea typeface="Aptos" pitchFamily="34" charset="-122"/>
                <a:cs typeface="Aptos" pitchFamily="34" charset="-120"/>
              </a:rPr>
              <a:t>EXAMPLE  M06: “What features would you include ... new business website?”  Actual: Sales  /  Predicted: Support</a:t>
            </a:r>
            <a:endParaRPr lang="en-US" sz="1170" dirty="0"/>
          </a:p>
        </p:txBody>
      </p:sp>
      <p:sp>
        <p:nvSpPr>
          <p:cNvPr id="35" name="Text 33"/>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Source: results/decision_results.csv and docs/decision_model_experiment_log.md</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9"/>
                                  </p:tgtEl>
                                  <p:attrNameLst>
                                    <p:attrName>style.visibility</p:attrName>
                                  </p:attrNameLst>
                                </p:cBhvr>
                                <p:to>
                                  <p:strVal val="visible"/>
                                </p:to>
                              </p:set>
                              <p:animEffect transition="in" filter="fade">
                                <p:cBhvr>
                                  <p:cTn id="23" dur="520"/>
                                  <p:tgtEl>
                                    <p:spTgt spid="19"/>
                                  </p:tgtEl>
                                </p:cBhvr>
                              </p:animEffect>
                            </p:childTnLst>
                          </p:cTn>
                        </p:par>
                      </p:childTnLst>
                    </p:cTn>
                  </p:par>
                  <p:par>
                    <p:cTn id="25" fill="hold">
                      <p:stCondLst>
                        <p:cond delay="1440"/>
                      </p:stCondLst>
                      <p:childTnLst>
                        <p:par>
                          <p:cTn id="26" fill="hold">
                            <p:childTnLst>
                              <p:set>
                                <p:cBhvr>
                                  <p:cTn id="27" dur="1" fill="hold">
                                    <p:stCondLst>
                                      <p:cond delay="0"/>
                                    </p:stCondLst>
                                  </p:cTn>
                                  <p:tgtEl>
                                    <p:spTgt spid="20"/>
                                  </p:tgtEl>
                                  <p:attrNameLst>
                                    <p:attrName>style.visibility</p:attrName>
                                  </p:attrNameLst>
                                </p:cBhvr>
                                <p:to>
                                  <p:strVal val="visible"/>
                                </p:to>
                              </p:set>
                              <p:animEffect transition="in" filter="fade">
                                <p:cBhvr>
                                  <p:cTn id="28" dur="520"/>
                                  <p:tgtEl>
                                    <p:spTgt spid="20"/>
                                  </p:tgtEl>
                                </p:cBhvr>
                              </p:animEffect>
                            </p:childTnLst>
                          </p:cTn>
                        </p:par>
                      </p:childTnLst>
                    </p:cTn>
                  </p:par>
                </p:childTnLst>
              </p:cTn>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DECISION MODEL · EVALUATION INTEGRITY</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11 / 21</a:t>
            </a:r>
            <a:endParaRPr lang="en-US" sz="1000" dirty="0"/>
          </a:p>
        </p:txBody>
      </p:sp>
      <p:sp>
        <p:nvSpPr>
          <p:cNvPr id="7" name="Shape 5"/>
          <p:cNvSpPr/>
          <p:nvPr/>
        </p:nvSpPr>
        <p:spPr>
          <a:xfrm>
            <a:off x="585216" y="6473952"/>
            <a:ext cx="5278473"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TWO PROMPT CONFIGURATIONS</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Label wording changed the observed prediction pattern</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Important: the second test was exploratory, not a new independent hold-out.</a:t>
            </a:r>
            <a:endParaRPr lang="en-US" sz="1420" dirty="0"/>
          </a:p>
        </p:txBody>
      </p:sp>
      <p:sp>
        <p:nvSpPr>
          <p:cNvPr id="12" name="Shape 10"/>
          <p:cNvSpPr/>
          <p:nvPr/>
        </p:nvSpPr>
        <p:spPr>
          <a:xfrm>
            <a:off x="950976" y="2395728"/>
            <a:ext cx="4855464" cy="2267712"/>
          </a:xfrm>
          <a:prstGeom prst="roundRect">
            <a:avLst>
              <a:gd name="adj" fmla="val 5242"/>
            </a:avLst>
          </a:prstGeom>
          <a:solidFill>
            <a:srgbClr val="FFFFFF"/>
          </a:solidFill>
          <a:ln w="12700">
            <a:solidFill>
              <a:srgbClr val="FFFFFF">
                <a:alpha val="0"/>
              </a:srgbClr>
            </a:solidFill>
            <a:prstDash val="solid"/>
          </a:ln>
        </p:spPr>
        <p:txBody>
          <a:bodyPr/>
          <a:p/>
        </p:txBody>
      </p:sp>
      <p:sp>
        <p:nvSpPr>
          <p:cNvPr id="13" name="Text 11"/>
          <p:cNvSpPr/>
          <p:nvPr/>
        </p:nvSpPr>
        <p:spPr>
          <a:xfrm>
            <a:off x="1188720" y="2606040"/>
            <a:ext cx="4123944" cy="274320"/>
          </a:xfrm>
          <a:prstGeom prst="rect">
            <a:avLst/>
          </a:prstGeom>
          <a:noFill/>
          <a:ln/>
        </p:spPr>
        <p:txBody>
          <a:bodyPr wrap="square" lIns="0" tIns="0" rIns="0" bIns="0" rtlCol="0" anchor="ctr">
            <a:normAutofit/>
          </a:bodyPr>
          <a:lstStyle/>
          <a:p>
            <a:pPr indent="0" marL="0">
              <a:buNone/>
            </a:pPr>
            <a:r>
              <a:rPr lang="en-US" sz="1500" b="1" dirty="0">
                <a:solidFill>
                  <a:srgbClr val="008E85"/>
                </a:solidFill>
                <a:latin typeface="Aptos Display" pitchFamily="34" charset="0"/>
                <a:ea typeface="Aptos Display" pitchFamily="34" charset="-122"/>
                <a:cs typeface="Aptos Display" pitchFamily="34" charset="-120"/>
              </a:rPr>
              <a:t>BASELINE</a:t>
            </a:r>
            <a:endParaRPr lang="en-US" sz="1500" dirty="0"/>
          </a:p>
        </p:txBody>
      </p:sp>
      <p:sp>
        <p:nvSpPr>
          <p:cNvPr id="14" name="Text 12"/>
          <p:cNvSpPr/>
          <p:nvPr/>
        </p:nvSpPr>
        <p:spPr>
          <a:xfrm>
            <a:off x="1170432" y="3017520"/>
            <a:ext cx="1920240" cy="777240"/>
          </a:xfrm>
          <a:prstGeom prst="rect">
            <a:avLst/>
          </a:prstGeom>
          <a:noFill/>
          <a:ln/>
        </p:spPr>
        <p:txBody>
          <a:bodyPr wrap="square" lIns="0" tIns="0" rIns="0" bIns="0" rtlCol="0" anchor="ctr">
            <a:normAutofit/>
          </a:bodyPr>
          <a:lstStyle/>
          <a:p>
            <a:pPr indent="0" marL="0">
              <a:buNone/>
            </a:pPr>
            <a:r>
              <a:rPr lang="en-US" sz="4800" b="1" dirty="0">
                <a:solidFill>
                  <a:srgbClr val="112D40"/>
                </a:solidFill>
                <a:latin typeface="Aptos Display" pitchFamily="34" charset="0"/>
                <a:ea typeface="Aptos Display" pitchFamily="34" charset="-122"/>
                <a:cs typeface="Aptos Display" pitchFamily="34" charset="-120"/>
              </a:rPr>
              <a:t>70%</a:t>
            </a:r>
            <a:endParaRPr lang="en-US" sz="4800" dirty="0"/>
          </a:p>
        </p:txBody>
      </p:sp>
      <p:sp>
        <p:nvSpPr>
          <p:cNvPr id="15" name="Text 13"/>
          <p:cNvSpPr/>
          <p:nvPr/>
        </p:nvSpPr>
        <p:spPr>
          <a:xfrm>
            <a:off x="3346704" y="3291840"/>
            <a:ext cx="2039112" cy="365760"/>
          </a:xfrm>
          <a:prstGeom prst="rect">
            <a:avLst/>
          </a:prstGeom>
          <a:noFill/>
          <a:ln/>
        </p:spPr>
        <p:txBody>
          <a:bodyPr wrap="square" lIns="0" tIns="0" rIns="0" bIns="0" rtlCol="0" anchor="ctr">
            <a:normAutofit/>
          </a:bodyPr>
          <a:lstStyle/>
          <a:p>
            <a:pPr indent="0" marL="0">
              <a:buNone/>
            </a:pPr>
            <a:r>
              <a:rPr lang="en-US" sz="1600" b="1" dirty="0">
                <a:solidFill>
                  <a:srgbClr val="587082"/>
                </a:solidFill>
                <a:latin typeface="Aptos Display" pitchFamily="34" charset="0"/>
                <a:ea typeface="Aptos Display" pitchFamily="34" charset="-122"/>
                <a:cs typeface="Aptos Display" pitchFamily="34" charset="-120"/>
              </a:rPr>
              <a:t>14 / 20 correct</a:t>
            </a:r>
            <a:endParaRPr lang="en-US" sz="1600" dirty="0"/>
          </a:p>
        </p:txBody>
      </p:sp>
      <p:sp>
        <p:nvSpPr>
          <p:cNvPr id="16" name="Text 14"/>
          <p:cNvSpPr/>
          <p:nvPr/>
        </p:nvSpPr>
        <p:spPr>
          <a:xfrm>
            <a:off x="1188720" y="4114800"/>
            <a:ext cx="4361688" cy="292608"/>
          </a:xfrm>
          <a:prstGeom prst="rect">
            <a:avLst/>
          </a:prstGeom>
          <a:noFill/>
          <a:ln/>
        </p:spPr>
        <p:txBody>
          <a:bodyPr wrap="square" lIns="0" tIns="0" rIns="0" bIns="0" rtlCol="0" anchor="ctr">
            <a:normAutofit/>
          </a:bodyPr>
          <a:lstStyle/>
          <a:p>
            <a:pPr indent="0" marL="0">
              <a:buNone/>
            </a:pPr>
            <a:r>
              <a:rPr lang="en-US" sz="1380" dirty="0">
                <a:solidFill>
                  <a:srgbClr val="587082"/>
                </a:solidFill>
                <a:latin typeface="Aptos" pitchFamily="34" charset="0"/>
                <a:ea typeface="Aptos" pitchFamily="34" charset="-122"/>
                <a:cs typeface="Aptos" pitchFamily="34" charset="-120"/>
              </a:rPr>
              <a:t>Candidate labels: “Support”, “Sales”</a:t>
            </a:r>
            <a:endParaRPr lang="en-US" sz="1380" dirty="0"/>
          </a:p>
        </p:txBody>
      </p:sp>
      <p:sp>
        <p:nvSpPr>
          <p:cNvPr id="17" name="Shape 15"/>
          <p:cNvSpPr/>
          <p:nvPr/>
        </p:nvSpPr>
        <p:spPr>
          <a:xfrm>
            <a:off x="6053328" y="2395728"/>
            <a:ext cx="5148072" cy="2267712"/>
          </a:xfrm>
          <a:prstGeom prst="roundRect">
            <a:avLst>
              <a:gd name="adj" fmla="val 5242"/>
            </a:avLst>
          </a:prstGeom>
          <a:solidFill>
            <a:srgbClr val="0A2134"/>
          </a:solidFill>
          <a:ln w="12700">
            <a:solidFill>
              <a:srgbClr val="0A2134">
                <a:alpha val="0"/>
              </a:srgbClr>
            </a:solidFill>
            <a:prstDash val="solid"/>
          </a:ln>
        </p:spPr>
        <p:txBody>
          <a:bodyPr/>
          <a:p/>
        </p:txBody>
      </p:sp>
      <p:sp>
        <p:nvSpPr>
          <p:cNvPr id="18" name="Text 16"/>
          <p:cNvSpPr/>
          <p:nvPr/>
        </p:nvSpPr>
        <p:spPr>
          <a:xfrm>
            <a:off x="6300216" y="2606040"/>
            <a:ext cx="4361688" cy="274320"/>
          </a:xfrm>
          <a:prstGeom prst="rect">
            <a:avLst/>
          </a:prstGeom>
          <a:noFill/>
          <a:ln/>
        </p:spPr>
        <p:txBody>
          <a:bodyPr wrap="square" lIns="0" tIns="0" rIns="0" bIns="0" rtlCol="0" anchor="ctr">
            <a:normAutofit/>
          </a:bodyPr>
          <a:lstStyle/>
          <a:p>
            <a:pPr indent="0" marL="0">
              <a:buNone/>
            </a:pPr>
            <a:r>
              <a:rPr lang="en-US" sz="1500" b="1" dirty="0">
                <a:solidFill>
                  <a:srgbClr val="A2E9DE"/>
                </a:solidFill>
                <a:latin typeface="Aptos Display" pitchFamily="34" charset="0"/>
                <a:ea typeface="Aptos Display" pitchFamily="34" charset="-122"/>
                <a:cs typeface="Aptos Display" pitchFamily="34" charset="-120"/>
              </a:rPr>
              <a:t>DESCRIPTIVE LABELS</a:t>
            </a:r>
            <a:endParaRPr lang="en-US" sz="1500" dirty="0"/>
          </a:p>
        </p:txBody>
      </p:sp>
      <p:sp>
        <p:nvSpPr>
          <p:cNvPr id="19" name="Text 17"/>
          <p:cNvSpPr/>
          <p:nvPr/>
        </p:nvSpPr>
        <p:spPr>
          <a:xfrm>
            <a:off x="6281928" y="3017520"/>
            <a:ext cx="1920240" cy="777240"/>
          </a:xfrm>
          <a:prstGeom prst="rect">
            <a:avLst/>
          </a:prstGeom>
          <a:noFill/>
          <a:ln/>
        </p:spPr>
        <p:txBody>
          <a:bodyPr wrap="square" lIns="0" tIns="0" rIns="0" bIns="0" rtlCol="0" anchor="ctr">
            <a:normAutofit/>
          </a:bodyPr>
          <a:lstStyle/>
          <a:p>
            <a:pPr indent="0" marL="0">
              <a:buNone/>
            </a:pPr>
            <a:r>
              <a:rPr lang="en-US" sz="4800" b="1" dirty="0">
                <a:solidFill>
                  <a:srgbClr val="FFFFFF"/>
                </a:solidFill>
                <a:latin typeface="Aptos Display" pitchFamily="34" charset="0"/>
                <a:ea typeface="Aptos Display" pitchFamily="34" charset="-122"/>
                <a:cs typeface="Aptos Display" pitchFamily="34" charset="-120"/>
              </a:rPr>
              <a:t>75%</a:t>
            </a:r>
            <a:endParaRPr lang="en-US" sz="4800" dirty="0"/>
          </a:p>
        </p:txBody>
      </p:sp>
      <p:sp>
        <p:nvSpPr>
          <p:cNvPr id="20" name="Text 18"/>
          <p:cNvSpPr/>
          <p:nvPr/>
        </p:nvSpPr>
        <p:spPr>
          <a:xfrm>
            <a:off x="8467344" y="3291840"/>
            <a:ext cx="2267712" cy="365760"/>
          </a:xfrm>
          <a:prstGeom prst="rect">
            <a:avLst/>
          </a:prstGeom>
          <a:noFill/>
          <a:ln/>
        </p:spPr>
        <p:txBody>
          <a:bodyPr wrap="square" lIns="0" tIns="0" rIns="0" bIns="0" rtlCol="0" anchor="ctr">
            <a:normAutofit/>
          </a:bodyPr>
          <a:lstStyle/>
          <a:p>
            <a:pPr indent="0" marL="0">
              <a:buNone/>
            </a:pPr>
            <a:r>
              <a:rPr lang="en-US" sz="1600" b="1" dirty="0">
                <a:solidFill>
                  <a:srgbClr val="BED7DC"/>
                </a:solidFill>
                <a:latin typeface="Aptos Display" pitchFamily="34" charset="0"/>
                <a:ea typeface="Aptos Display" pitchFamily="34" charset="-122"/>
                <a:cs typeface="Aptos Display" pitchFamily="34" charset="-120"/>
              </a:rPr>
              <a:t>15 / 20 correct</a:t>
            </a:r>
            <a:endParaRPr lang="en-US" sz="1600" dirty="0"/>
          </a:p>
        </p:txBody>
      </p:sp>
      <p:sp>
        <p:nvSpPr>
          <p:cNvPr id="21" name="Text 19"/>
          <p:cNvSpPr/>
          <p:nvPr/>
        </p:nvSpPr>
        <p:spPr>
          <a:xfrm>
            <a:off x="6300216" y="4105656"/>
            <a:ext cx="4590288" cy="292608"/>
          </a:xfrm>
          <a:prstGeom prst="rect">
            <a:avLst/>
          </a:prstGeom>
          <a:noFill/>
          <a:ln/>
        </p:spPr>
        <p:txBody>
          <a:bodyPr wrap="square" lIns="0" tIns="0" rIns="0" bIns="0" rtlCol="0" anchor="ctr">
            <a:normAutofit/>
          </a:bodyPr>
          <a:lstStyle/>
          <a:p>
            <a:pPr indent="0" marL="0">
              <a:buNone/>
            </a:pPr>
            <a:r>
              <a:rPr lang="en-US" sz="1380" dirty="0">
                <a:solidFill>
                  <a:srgbClr val="C4D9E0"/>
                </a:solidFill>
                <a:latin typeface="Aptos" pitchFamily="34" charset="0"/>
                <a:ea typeface="Aptos" pitchFamily="34" charset="-122"/>
                <a:cs typeface="Aptos" pitchFamily="34" charset="-120"/>
              </a:rPr>
              <a:t>Longer, service-specific intent descriptions</a:t>
            </a:r>
            <a:endParaRPr lang="en-US" sz="1380" dirty="0"/>
          </a:p>
        </p:txBody>
      </p:sp>
      <p:sp>
        <p:nvSpPr>
          <p:cNvPr id="22" name="Shape 20"/>
          <p:cNvSpPr/>
          <p:nvPr/>
        </p:nvSpPr>
        <p:spPr>
          <a:xfrm>
            <a:off x="1014984" y="4992624"/>
            <a:ext cx="10131552" cy="777240"/>
          </a:xfrm>
          <a:prstGeom prst="roundRect">
            <a:avLst>
              <a:gd name="adj" fmla="val 15294"/>
            </a:avLst>
          </a:prstGeom>
          <a:solidFill>
            <a:srgbClr val="E6F5F2"/>
          </a:solidFill>
          <a:ln w="12700">
            <a:solidFill>
              <a:srgbClr val="E6F5F2">
                <a:alpha val="0"/>
              </a:srgbClr>
            </a:solidFill>
            <a:prstDash val="solid"/>
          </a:ln>
        </p:spPr>
        <p:txBody>
          <a:bodyPr/>
          <a:p/>
        </p:txBody>
      </p:sp>
      <p:sp>
        <p:nvSpPr>
          <p:cNvPr id="23" name="Text 21"/>
          <p:cNvSpPr/>
          <p:nvPr/>
        </p:nvSpPr>
        <p:spPr>
          <a:xfrm>
            <a:off x="1243584" y="5157216"/>
            <a:ext cx="9646920" cy="466344"/>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CAUTION  The descriptive labels were evaluated after reviewing baseline test results; 75% is exploratory.</a:t>
            </a:r>
            <a:endParaRPr lang="en-US" sz="1600" dirty="0"/>
          </a:p>
        </p:txBody>
      </p:sp>
      <p:sp>
        <p:nvSpPr>
          <p:cNvPr id="24" name="Text 22"/>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Source: docs/decision_model_experiment_log.md; do not present 75% as an untouched test estimate.</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8"/>
                                  </p:tgtEl>
                                  <p:attrNameLst>
                                    <p:attrName>style.visibility</p:attrName>
                                  </p:attrNameLst>
                                </p:cBhvr>
                                <p:to>
                                  <p:strVal val="visible"/>
                                </p:to>
                              </p:set>
                              <p:animEffect transition="in" filter="fade">
                                <p:cBhvr>
                                  <p:cTn id="23" dur="520"/>
                                  <p:tgtEl>
                                    <p:spTgt spid="18"/>
                                  </p:tgtEl>
                                </p:cBhvr>
                              </p:animEffect>
                            </p:childTnLst>
                          </p:cTn>
                        </p:par>
                      </p:childTnLst>
                    </p:cTn>
                  </p:par>
                  <p:par>
                    <p:cTn id="25" fill="hold">
                      <p:stCondLst>
                        <p:cond delay="1440"/>
                      </p:stCondLst>
                      <p:childTnLst>
                        <p:par>
                          <p:cTn id="26" fill="hold">
                            <p:childTnLst>
                              <p:set>
                                <p:cBhvr>
                                  <p:cTn id="27" dur="1" fill="hold">
                                    <p:stCondLst>
                                      <p:cond delay="0"/>
                                    </p:stCondLst>
                                  </p:cTn>
                                  <p:tgtEl>
                                    <p:spTgt spid="15"/>
                                  </p:tgtEl>
                                  <p:attrNameLst>
                                    <p:attrName>style.visibility</p:attrName>
                                  </p:attrNameLst>
                                </p:cBhvr>
                                <p:to>
                                  <p:strVal val="visible"/>
                                </p:to>
                              </p:set>
                              <p:animEffect transition="in" filter="fade">
                                <p:cBhvr>
                                  <p:cTn id="28" dur="520"/>
                                  <p:tgtEl>
                                    <p:spTgt spid="15"/>
                                  </p:tgtEl>
                                </p:cBhvr>
                              </p:animEffect>
                            </p:childTnLst>
                          </p:cTn>
                        </p:par>
                      </p:childTnLst>
                    </p:cTn>
                  </p:par>
                </p:childTnLst>
              </p:cTn>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FEATURE ENGINEERING</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12 / 21</a:t>
            </a:r>
            <a:endParaRPr lang="en-US" sz="1000" dirty="0"/>
          </a:p>
        </p:txBody>
      </p:sp>
      <p:sp>
        <p:nvSpPr>
          <p:cNvPr id="7" name="Shape 5"/>
          <p:cNvSpPr/>
          <p:nvPr/>
        </p:nvSpPr>
        <p:spPr>
          <a:xfrm>
            <a:off x="585216" y="6473952"/>
            <a:ext cx="5758335"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MODEL B</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Text becomes numbers before the SVM learns a boundary</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The same training-fitted transformations are reused at test time.</a:t>
            </a:r>
            <a:endParaRPr lang="en-US" sz="1420" dirty="0"/>
          </a:p>
        </p:txBody>
      </p:sp>
      <p:sp>
        <p:nvSpPr>
          <p:cNvPr id="12" name="Shape 10"/>
          <p:cNvSpPr/>
          <p:nvPr/>
        </p:nvSpPr>
        <p:spPr>
          <a:xfrm>
            <a:off x="740664" y="2459736"/>
            <a:ext cx="2404872" cy="1316736"/>
          </a:xfrm>
          <a:prstGeom prst="roundRect">
            <a:avLst>
              <a:gd name="adj" fmla="val 9028"/>
            </a:avLst>
          </a:prstGeom>
          <a:solidFill>
            <a:srgbClr val="FFFFFF"/>
          </a:solidFill>
          <a:ln w="12700">
            <a:solidFill>
              <a:srgbClr val="FFFFFF">
                <a:alpha val="0"/>
              </a:srgbClr>
            </a:solidFill>
            <a:prstDash val="solid"/>
          </a:ln>
        </p:spPr>
        <p:txBody>
          <a:bodyPr/>
          <a:p/>
        </p:txBody>
      </p:sp>
      <p:sp>
        <p:nvSpPr>
          <p:cNvPr id="13" name="Shape 11"/>
          <p:cNvSpPr/>
          <p:nvPr/>
        </p:nvSpPr>
        <p:spPr>
          <a:xfrm>
            <a:off x="877824" y="2596896"/>
            <a:ext cx="466344" cy="274320"/>
          </a:xfrm>
          <a:prstGeom prst="roundRect">
            <a:avLst>
              <a:gd name="adj" fmla="val 40000"/>
            </a:avLst>
          </a:prstGeom>
          <a:solidFill>
            <a:srgbClr val="E6F5F2"/>
          </a:solidFill>
          <a:ln w="12700">
            <a:solidFill>
              <a:srgbClr val="E6F5F2">
                <a:alpha val="0"/>
              </a:srgbClr>
            </a:solidFill>
            <a:prstDash val="solid"/>
          </a:ln>
        </p:spPr>
        <p:txBody>
          <a:bodyPr/>
          <a:p/>
        </p:txBody>
      </p:sp>
      <p:sp>
        <p:nvSpPr>
          <p:cNvPr id="14" name="Text 12"/>
          <p:cNvSpPr/>
          <p:nvPr/>
        </p:nvSpPr>
        <p:spPr>
          <a:xfrm>
            <a:off x="969264" y="2606040"/>
            <a:ext cx="283464"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01</a:t>
            </a:r>
            <a:endParaRPr lang="en-US" sz="1000" dirty="0"/>
          </a:p>
        </p:txBody>
      </p:sp>
      <p:sp>
        <p:nvSpPr>
          <p:cNvPr id="15" name="Text 13"/>
          <p:cNvSpPr/>
          <p:nvPr/>
        </p:nvSpPr>
        <p:spPr>
          <a:xfrm>
            <a:off x="877824" y="2944368"/>
            <a:ext cx="2139696" cy="310896"/>
          </a:xfrm>
          <a:prstGeom prst="rect">
            <a:avLst/>
          </a:prstGeom>
          <a:noFill/>
          <a:ln/>
        </p:spPr>
        <p:txBody>
          <a:bodyPr wrap="square" lIns="0" tIns="0" rIns="0" bIns="0" rtlCol="0" anchor="ctr">
            <a:normAutofit/>
          </a:bodyPr>
          <a:lstStyle/>
          <a:p>
            <a:pPr indent="0" marL="0">
              <a:buNone/>
            </a:pPr>
            <a:r>
              <a:rPr lang="en-US" sz="1720" b="1" dirty="0">
                <a:solidFill>
                  <a:srgbClr val="112D40"/>
                </a:solidFill>
                <a:latin typeface="Aptos Display" pitchFamily="34" charset="0"/>
                <a:ea typeface="Aptos Display" pitchFamily="34" charset="-122"/>
                <a:cs typeface="Aptos Display" pitchFamily="34" charset="-120"/>
              </a:rPr>
              <a:t>40 train messages</a:t>
            </a:r>
            <a:endParaRPr lang="en-US" sz="1720" dirty="0"/>
          </a:p>
        </p:txBody>
      </p:sp>
      <p:sp>
        <p:nvSpPr>
          <p:cNvPr id="16" name="Text 14"/>
          <p:cNvSpPr/>
          <p:nvPr/>
        </p:nvSpPr>
        <p:spPr>
          <a:xfrm>
            <a:off x="877824" y="3364992"/>
            <a:ext cx="2130552" cy="256032"/>
          </a:xfrm>
          <a:prstGeom prst="rect">
            <a:avLst/>
          </a:prstGeom>
          <a:noFill/>
          <a:ln/>
        </p:spPr>
        <p:txBody>
          <a:bodyPr wrap="square" lIns="0" tIns="0" rIns="0" bIns="0" rtlCol="0" anchor="ctr">
            <a:normAutofit/>
          </a:bodyPr>
          <a:lstStyle/>
          <a:p>
            <a:pPr indent="0" marL="0">
              <a:buNone/>
            </a:pPr>
            <a:r>
              <a:rPr lang="en-US" sz="1120" dirty="0">
                <a:solidFill>
                  <a:srgbClr val="587082"/>
                </a:solidFill>
                <a:latin typeface="Aptos" pitchFamily="34" charset="0"/>
                <a:ea typeface="Aptos" pitchFamily="34" charset="-122"/>
                <a:cs typeface="Aptos" pitchFamily="34" charset="-120"/>
              </a:rPr>
              <a:t>Raw customer text</a:t>
            </a:r>
            <a:endParaRPr lang="en-US" sz="1120" dirty="0"/>
          </a:p>
        </p:txBody>
      </p:sp>
      <p:sp>
        <p:nvSpPr>
          <p:cNvPr id="17" name="Shape 15"/>
          <p:cNvSpPr/>
          <p:nvPr/>
        </p:nvSpPr>
        <p:spPr>
          <a:xfrm>
            <a:off x="3172968" y="3127248"/>
            <a:ext cx="292608" cy="0"/>
          </a:xfrm>
          <a:prstGeom prst="line">
            <a:avLst/>
          </a:prstGeom>
          <a:noFill/>
          <a:ln w="30480">
            <a:solidFill>
              <a:srgbClr val="008E85"/>
            </a:solidFill>
            <a:prstDash val="solid"/>
            <a:headEnd type="none"/>
            <a:tailEnd type="none"/>
          </a:ln>
        </p:spPr>
        <p:txBody>
          <a:bodyPr/>
          <a:p/>
        </p:txBody>
      </p:sp>
      <p:sp>
        <p:nvSpPr>
          <p:cNvPr id="18" name="Shape 16"/>
          <p:cNvSpPr/>
          <p:nvPr/>
        </p:nvSpPr>
        <p:spPr>
          <a:xfrm>
            <a:off x="3374136" y="3058668"/>
            <a:ext cx="182880" cy="137160"/>
          </a:xfrm>
          <a:prstGeom prst="chevron">
            <a:avLst/>
          </a:prstGeom>
          <a:solidFill>
            <a:srgbClr val="008E85"/>
          </a:solidFill>
          <a:ln w="12700">
            <a:solidFill>
              <a:srgbClr val="008E85">
                <a:alpha val="0"/>
              </a:srgbClr>
            </a:solidFill>
            <a:prstDash val="solid"/>
          </a:ln>
        </p:spPr>
        <p:txBody>
          <a:bodyPr/>
          <a:p/>
        </p:txBody>
      </p:sp>
      <p:sp>
        <p:nvSpPr>
          <p:cNvPr id="19" name="Shape 17"/>
          <p:cNvSpPr/>
          <p:nvPr/>
        </p:nvSpPr>
        <p:spPr>
          <a:xfrm>
            <a:off x="3483864" y="2459736"/>
            <a:ext cx="2404872" cy="1316736"/>
          </a:xfrm>
          <a:prstGeom prst="roundRect">
            <a:avLst>
              <a:gd name="adj" fmla="val 9028"/>
            </a:avLst>
          </a:prstGeom>
          <a:solidFill>
            <a:srgbClr val="FFFFFF"/>
          </a:solidFill>
          <a:ln w="12700">
            <a:solidFill>
              <a:srgbClr val="FFFFFF">
                <a:alpha val="0"/>
              </a:srgbClr>
            </a:solidFill>
            <a:prstDash val="solid"/>
          </a:ln>
        </p:spPr>
        <p:txBody>
          <a:bodyPr/>
          <a:p/>
        </p:txBody>
      </p:sp>
      <p:sp>
        <p:nvSpPr>
          <p:cNvPr id="20" name="Shape 18"/>
          <p:cNvSpPr/>
          <p:nvPr/>
        </p:nvSpPr>
        <p:spPr>
          <a:xfrm>
            <a:off x="3621024" y="2596896"/>
            <a:ext cx="466344" cy="274320"/>
          </a:xfrm>
          <a:prstGeom prst="roundRect">
            <a:avLst>
              <a:gd name="adj" fmla="val 40000"/>
            </a:avLst>
          </a:prstGeom>
          <a:solidFill>
            <a:srgbClr val="E6F5F2"/>
          </a:solidFill>
          <a:ln w="12700">
            <a:solidFill>
              <a:srgbClr val="E6F5F2">
                <a:alpha val="0"/>
              </a:srgbClr>
            </a:solidFill>
            <a:prstDash val="solid"/>
          </a:ln>
        </p:spPr>
        <p:txBody>
          <a:bodyPr/>
          <a:p/>
        </p:txBody>
      </p:sp>
      <p:sp>
        <p:nvSpPr>
          <p:cNvPr id="21" name="Text 19"/>
          <p:cNvSpPr/>
          <p:nvPr/>
        </p:nvSpPr>
        <p:spPr>
          <a:xfrm>
            <a:off x="3712464" y="2606040"/>
            <a:ext cx="283464"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02</a:t>
            </a:r>
            <a:endParaRPr lang="en-US" sz="1000" dirty="0"/>
          </a:p>
        </p:txBody>
      </p:sp>
      <p:sp>
        <p:nvSpPr>
          <p:cNvPr id="22" name="Text 20"/>
          <p:cNvSpPr/>
          <p:nvPr/>
        </p:nvSpPr>
        <p:spPr>
          <a:xfrm>
            <a:off x="3621024" y="2944368"/>
            <a:ext cx="2139696" cy="310896"/>
          </a:xfrm>
          <a:prstGeom prst="rect">
            <a:avLst/>
          </a:prstGeom>
          <a:noFill/>
          <a:ln/>
        </p:spPr>
        <p:txBody>
          <a:bodyPr wrap="square" lIns="0" tIns="0" rIns="0" bIns="0" rtlCol="0" anchor="ctr">
            <a:normAutofit/>
          </a:bodyPr>
          <a:lstStyle/>
          <a:p>
            <a:pPr indent="0" marL="0">
              <a:buNone/>
            </a:pPr>
            <a:r>
              <a:rPr lang="en-US" sz="1720" b="1" dirty="0">
                <a:solidFill>
                  <a:srgbClr val="112D40"/>
                </a:solidFill>
                <a:latin typeface="Aptos Display" pitchFamily="34" charset="0"/>
                <a:ea typeface="Aptos Display" pitchFamily="34" charset="-122"/>
                <a:cs typeface="Aptos Display" pitchFamily="34" charset="-120"/>
              </a:rPr>
              <a:t>TF-IDF</a:t>
            </a:r>
            <a:endParaRPr lang="en-US" sz="1720" dirty="0"/>
          </a:p>
        </p:txBody>
      </p:sp>
      <p:sp>
        <p:nvSpPr>
          <p:cNvPr id="23" name="Text 21"/>
          <p:cNvSpPr/>
          <p:nvPr/>
        </p:nvSpPr>
        <p:spPr>
          <a:xfrm>
            <a:off x="3621024" y="3364992"/>
            <a:ext cx="2130552" cy="256032"/>
          </a:xfrm>
          <a:prstGeom prst="rect">
            <a:avLst/>
          </a:prstGeom>
          <a:noFill/>
          <a:ln/>
        </p:spPr>
        <p:txBody>
          <a:bodyPr wrap="square" lIns="0" tIns="0" rIns="0" bIns="0" rtlCol="0" anchor="ctr">
            <a:normAutofit/>
          </a:bodyPr>
          <a:lstStyle/>
          <a:p>
            <a:pPr indent="0" marL="0">
              <a:buNone/>
            </a:pPr>
            <a:r>
              <a:rPr lang="en-US" sz="1120" dirty="0">
                <a:solidFill>
                  <a:srgbClr val="587082"/>
                </a:solidFill>
                <a:latin typeface="Aptos" pitchFamily="34" charset="0"/>
                <a:ea typeface="Aptos" pitchFamily="34" charset="-122"/>
                <a:cs typeface="Aptos" pitchFamily="34" charset="-120"/>
              </a:rPr>
              <a:t>675 unigrams / bigrams</a:t>
            </a:r>
            <a:endParaRPr lang="en-US" sz="1120" dirty="0"/>
          </a:p>
        </p:txBody>
      </p:sp>
      <p:sp>
        <p:nvSpPr>
          <p:cNvPr id="24" name="Shape 22"/>
          <p:cNvSpPr/>
          <p:nvPr/>
        </p:nvSpPr>
        <p:spPr>
          <a:xfrm>
            <a:off x="5916168" y="3127248"/>
            <a:ext cx="292608" cy="0"/>
          </a:xfrm>
          <a:prstGeom prst="line">
            <a:avLst/>
          </a:prstGeom>
          <a:noFill/>
          <a:ln w="30480">
            <a:solidFill>
              <a:srgbClr val="008E85"/>
            </a:solidFill>
            <a:prstDash val="solid"/>
            <a:headEnd type="none"/>
            <a:tailEnd type="none"/>
          </a:ln>
        </p:spPr>
        <p:txBody>
          <a:bodyPr/>
          <a:p/>
        </p:txBody>
      </p:sp>
      <p:sp>
        <p:nvSpPr>
          <p:cNvPr id="25" name="Shape 23"/>
          <p:cNvSpPr/>
          <p:nvPr/>
        </p:nvSpPr>
        <p:spPr>
          <a:xfrm>
            <a:off x="6117336" y="3058668"/>
            <a:ext cx="182880" cy="137160"/>
          </a:xfrm>
          <a:prstGeom prst="chevron">
            <a:avLst/>
          </a:prstGeom>
          <a:solidFill>
            <a:srgbClr val="008E85"/>
          </a:solidFill>
          <a:ln w="12700">
            <a:solidFill>
              <a:srgbClr val="008E85">
                <a:alpha val="0"/>
              </a:srgbClr>
            </a:solidFill>
            <a:prstDash val="solid"/>
          </a:ln>
        </p:spPr>
        <p:txBody>
          <a:bodyPr/>
          <a:p/>
        </p:txBody>
      </p:sp>
      <p:sp>
        <p:nvSpPr>
          <p:cNvPr id="26" name="Shape 24"/>
          <p:cNvSpPr/>
          <p:nvPr/>
        </p:nvSpPr>
        <p:spPr>
          <a:xfrm>
            <a:off x="6245352" y="2459736"/>
            <a:ext cx="2404872" cy="1316736"/>
          </a:xfrm>
          <a:prstGeom prst="roundRect">
            <a:avLst>
              <a:gd name="adj" fmla="val 9028"/>
            </a:avLst>
          </a:prstGeom>
          <a:solidFill>
            <a:srgbClr val="FFFFFF"/>
          </a:solidFill>
          <a:ln w="12700">
            <a:solidFill>
              <a:srgbClr val="FFFFFF">
                <a:alpha val="0"/>
              </a:srgbClr>
            </a:solidFill>
            <a:prstDash val="solid"/>
          </a:ln>
        </p:spPr>
        <p:txBody>
          <a:bodyPr/>
          <a:p/>
        </p:txBody>
      </p:sp>
      <p:sp>
        <p:nvSpPr>
          <p:cNvPr id="27" name="Shape 25"/>
          <p:cNvSpPr/>
          <p:nvPr/>
        </p:nvSpPr>
        <p:spPr>
          <a:xfrm>
            <a:off x="6382512" y="2596896"/>
            <a:ext cx="466344" cy="274320"/>
          </a:xfrm>
          <a:prstGeom prst="roundRect">
            <a:avLst>
              <a:gd name="adj" fmla="val 40000"/>
            </a:avLst>
          </a:prstGeom>
          <a:solidFill>
            <a:srgbClr val="E6F5F2"/>
          </a:solidFill>
          <a:ln w="12700">
            <a:solidFill>
              <a:srgbClr val="E6F5F2">
                <a:alpha val="0"/>
              </a:srgbClr>
            </a:solidFill>
            <a:prstDash val="solid"/>
          </a:ln>
        </p:spPr>
        <p:txBody>
          <a:bodyPr/>
          <a:p/>
        </p:txBody>
      </p:sp>
      <p:sp>
        <p:nvSpPr>
          <p:cNvPr id="28" name="Text 26"/>
          <p:cNvSpPr/>
          <p:nvPr/>
        </p:nvSpPr>
        <p:spPr>
          <a:xfrm>
            <a:off x="6473952" y="2606040"/>
            <a:ext cx="283464"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03</a:t>
            </a:r>
            <a:endParaRPr lang="en-US" sz="1000" dirty="0"/>
          </a:p>
        </p:txBody>
      </p:sp>
      <p:sp>
        <p:nvSpPr>
          <p:cNvPr id="29" name="Text 27"/>
          <p:cNvSpPr/>
          <p:nvPr/>
        </p:nvSpPr>
        <p:spPr>
          <a:xfrm>
            <a:off x="6382512" y="2944368"/>
            <a:ext cx="2139696" cy="310896"/>
          </a:xfrm>
          <a:prstGeom prst="rect">
            <a:avLst/>
          </a:prstGeom>
          <a:noFill/>
          <a:ln/>
        </p:spPr>
        <p:txBody>
          <a:bodyPr wrap="square" lIns="0" tIns="0" rIns="0" bIns="0" rtlCol="0" anchor="ctr">
            <a:normAutofit/>
          </a:bodyPr>
          <a:lstStyle/>
          <a:p>
            <a:pPr indent="0" marL="0">
              <a:buNone/>
            </a:pPr>
            <a:r>
              <a:rPr lang="en-US" sz="1720" b="1" dirty="0">
                <a:solidFill>
                  <a:srgbClr val="112D40"/>
                </a:solidFill>
                <a:latin typeface="Aptos Display" pitchFamily="34" charset="0"/>
                <a:ea typeface="Aptos Display" pitchFamily="34" charset="-122"/>
                <a:cs typeface="Aptos Display" pitchFamily="34" charset="-120"/>
              </a:rPr>
              <a:t>TruncatedSVD</a:t>
            </a:r>
            <a:endParaRPr lang="en-US" sz="1720" dirty="0"/>
          </a:p>
        </p:txBody>
      </p:sp>
      <p:sp>
        <p:nvSpPr>
          <p:cNvPr id="30" name="Text 28"/>
          <p:cNvSpPr/>
          <p:nvPr/>
        </p:nvSpPr>
        <p:spPr>
          <a:xfrm>
            <a:off x="6382512" y="3364992"/>
            <a:ext cx="2130552" cy="256032"/>
          </a:xfrm>
          <a:prstGeom prst="rect">
            <a:avLst/>
          </a:prstGeom>
          <a:noFill/>
          <a:ln/>
        </p:spPr>
        <p:txBody>
          <a:bodyPr wrap="square" lIns="0" tIns="0" rIns="0" bIns="0" rtlCol="0" anchor="ctr">
            <a:normAutofit/>
          </a:bodyPr>
          <a:lstStyle/>
          <a:p>
            <a:pPr indent="0" marL="0">
              <a:buNone/>
            </a:pPr>
            <a:r>
              <a:rPr lang="en-US" sz="1120" dirty="0">
                <a:solidFill>
                  <a:srgbClr val="587082"/>
                </a:solidFill>
                <a:latin typeface="Aptos" pitchFamily="34" charset="0"/>
                <a:ea typeface="Aptos" pitchFamily="34" charset="-122"/>
                <a:cs typeface="Aptos" pitchFamily="34" charset="-120"/>
              </a:rPr>
              <a:t>2 numeric components</a:t>
            </a:r>
            <a:endParaRPr lang="en-US" sz="1120" dirty="0"/>
          </a:p>
        </p:txBody>
      </p:sp>
      <p:sp>
        <p:nvSpPr>
          <p:cNvPr id="31" name="Shape 29"/>
          <p:cNvSpPr/>
          <p:nvPr/>
        </p:nvSpPr>
        <p:spPr>
          <a:xfrm>
            <a:off x="8677656" y="3127248"/>
            <a:ext cx="292608" cy="0"/>
          </a:xfrm>
          <a:prstGeom prst="line">
            <a:avLst/>
          </a:prstGeom>
          <a:noFill/>
          <a:ln w="30480">
            <a:solidFill>
              <a:srgbClr val="008E85"/>
            </a:solidFill>
            <a:prstDash val="solid"/>
            <a:headEnd type="none"/>
            <a:tailEnd type="none"/>
          </a:ln>
        </p:spPr>
        <p:txBody>
          <a:bodyPr/>
          <a:p/>
        </p:txBody>
      </p:sp>
      <p:sp>
        <p:nvSpPr>
          <p:cNvPr id="32" name="Shape 30"/>
          <p:cNvSpPr/>
          <p:nvPr/>
        </p:nvSpPr>
        <p:spPr>
          <a:xfrm>
            <a:off x="8878824" y="3058668"/>
            <a:ext cx="182880" cy="137160"/>
          </a:xfrm>
          <a:prstGeom prst="chevron">
            <a:avLst/>
          </a:prstGeom>
          <a:solidFill>
            <a:srgbClr val="008E85"/>
          </a:solidFill>
          <a:ln w="12700">
            <a:solidFill>
              <a:srgbClr val="008E85">
                <a:alpha val="0"/>
              </a:srgbClr>
            </a:solidFill>
            <a:prstDash val="solid"/>
          </a:ln>
        </p:spPr>
        <p:txBody>
          <a:bodyPr/>
          <a:p/>
        </p:txBody>
      </p:sp>
      <p:sp>
        <p:nvSpPr>
          <p:cNvPr id="33" name="Shape 31"/>
          <p:cNvSpPr/>
          <p:nvPr/>
        </p:nvSpPr>
        <p:spPr>
          <a:xfrm>
            <a:off x="9006840" y="2459736"/>
            <a:ext cx="2404872" cy="1316736"/>
          </a:xfrm>
          <a:prstGeom prst="roundRect">
            <a:avLst>
              <a:gd name="adj" fmla="val 9028"/>
            </a:avLst>
          </a:prstGeom>
          <a:solidFill>
            <a:srgbClr val="0A2134"/>
          </a:solidFill>
          <a:ln w="12700">
            <a:solidFill>
              <a:srgbClr val="0A2134">
                <a:alpha val="0"/>
              </a:srgbClr>
            </a:solidFill>
            <a:prstDash val="solid"/>
          </a:ln>
        </p:spPr>
        <p:txBody>
          <a:bodyPr/>
          <a:p/>
        </p:txBody>
      </p:sp>
      <p:sp>
        <p:nvSpPr>
          <p:cNvPr id="34" name="Shape 32"/>
          <p:cNvSpPr/>
          <p:nvPr/>
        </p:nvSpPr>
        <p:spPr>
          <a:xfrm>
            <a:off x="9144000" y="2596896"/>
            <a:ext cx="466344" cy="274320"/>
          </a:xfrm>
          <a:prstGeom prst="roundRect">
            <a:avLst>
              <a:gd name="adj" fmla="val 40000"/>
            </a:avLst>
          </a:prstGeom>
          <a:solidFill>
            <a:srgbClr val="245363"/>
          </a:solidFill>
          <a:ln w="12700">
            <a:solidFill>
              <a:srgbClr val="245363">
                <a:alpha val="0"/>
              </a:srgbClr>
            </a:solidFill>
            <a:prstDash val="solid"/>
          </a:ln>
        </p:spPr>
        <p:txBody>
          <a:bodyPr/>
          <a:p/>
        </p:txBody>
      </p:sp>
      <p:sp>
        <p:nvSpPr>
          <p:cNvPr id="35" name="Text 33"/>
          <p:cNvSpPr/>
          <p:nvPr/>
        </p:nvSpPr>
        <p:spPr>
          <a:xfrm>
            <a:off x="9235440" y="2606040"/>
            <a:ext cx="283464" cy="256032"/>
          </a:xfrm>
          <a:prstGeom prst="rect">
            <a:avLst/>
          </a:prstGeom>
          <a:noFill/>
          <a:ln/>
        </p:spPr>
        <p:txBody>
          <a:bodyPr wrap="square" lIns="0" tIns="0" rIns="0" bIns="0" rtlCol="0" anchor="ctr">
            <a:normAutofit/>
          </a:bodyPr>
          <a:lstStyle/>
          <a:p>
            <a:pPr algn="ctr" indent="0" marL="0">
              <a:buNone/>
            </a:pPr>
            <a:r>
              <a:rPr lang="en-US" sz="1000" b="1" spc="50" kern="0" dirty="0">
                <a:solidFill>
                  <a:srgbClr val="9DE7DF"/>
                </a:solidFill>
                <a:latin typeface="Aptos Display" pitchFamily="34" charset="0"/>
                <a:ea typeface="Aptos Display" pitchFamily="34" charset="-122"/>
                <a:cs typeface="Aptos Display" pitchFamily="34" charset="-120"/>
              </a:rPr>
              <a:t>04</a:t>
            </a:r>
            <a:endParaRPr lang="en-US" sz="1000" dirty="0"/>
          </a:p>
        </p:txBody>
      </p:sp>
      <p:sp>
        <p:nvSpPr>
          <p:cNvPr id="36" name="Text 34"/>
          <p:cNvSpPr/>
          <p:nvPr/>
        </p:nvSpPr>
        <p:spPr>
          <a:xfrm>
            <a:off x="9144000" y="2944368"/>
            <a:ext cx="2139696" cy="310896"/>
          </a:xfrm>
          <a:prstGeom prst="rect">
            <a:avLst/>
          </a:prstGeom>
          <a:noFill/>
          <a:ln/>
        </p:spPr>
        <p:txBody>
          <a:bodyPr wrap="square" lIns="0" tIns="0" rIns="0" bIns="0" rtlCol="0" anchor="ctr">
            <a:normAutofit/>
          </a:bodyPr>
          <a:lstStyle/>
          <a:p>
            <a:pPr indent="0" marL="0">
              <a:buNone/>
            </a:pPr>
            <a:r>
              <a:rPr lang="en-US" sz="1720" b="1" dirty="0">
                <a:solidFill>
                  <a:srgbClr val="FFFFFF"/>
                </a:solidFill>
                <a:latin typeface="Aptos Display" pitchFamily="34" charset="0"/>
                <a:ea typeface="Aptos Display" pitchFamily="34" charset="-122"/>
                <a:cs typeface="Aptos Display" pitchFamily="34" charset="-120"/>
              </a:rPr>
              <a:t>Linear SVM</a:t>
            </a:r>
            <a:endParaRPr lang="en-US" sz="1720" dirty="0"/>
          </a:p>
        </p:txBody>
      </p:sp>
      <p:sp>
        <p:nvSpPr>
          <p:cNvPr id="37" name="Text 35"/>
          <p:cNvSpPr/>
          <p:nvPr/>
        </p:nvSpPr>
        <p:spPr>
          <a:xfrm>
            <a:off x="9144000" y="3364992"/>
            <a:ext cx="2130552" cy="256032"/>
          </a:xfrm>
          <a:prstGeom prst="rect">
            <a:avLst/>
          </a:prstGeom>
          <a:noFill/>
          <a:ln/>
        </p:spPr>
        <p:txBody>
          <a:bodyPr wrap="square" lIns="0" tIns="0" rIns="0" bIns="0" rtlCol="0" anchor="ctr">
            <a:normAutofit/>
          </a:bodyPr>
          <a:lstStyle/>
          <a:p>
            <a:pPr indent="0" marL="0">
              <a:buNone/>
            </a:pPr>
            <a:r>
              <a:rPr lang="en-US" sz="1120" dirty="0">
                <a:solidFill>
                  <a:srgbClr val="C3D7DF"/>
                </a:solidFill>
                <a:latin typeface="Aptos" pitchFamily="34" charset="0"/>
                <a:ea typeface="Aptos" pitchFamily="34" charset="-122"/>
                <a:cs typeface="Aptos" pitchFamily="34" charset="-120"/>
              </a:rPr>
              <a:t>kernel = linear · C = 1</a:t>
            </a:r>
            <a:endParaRPr lang="en-US" sz="1120" dirty="0"/>
          </a:p>
        </p:txBody>
      </p:sp>
      <p:sp>
        <p:nvSpPr>
          <p:cNvPr id="38" name="Shape 36"/>
          <p:cNvSpPr/>
          <p:nvPr/>
        </p:nvSpPr>
        <p:spPr>
          <a:xfrm>
            <a:off x="758952" y="4050792"/>
            <a:ext cx="6656832" cy="1499616"/>
          </a:xfrm>
          <a:prstGeom prst="roundRect">
            <a:avLst>
              <a:gd name="adj" fmla="val 7927"/>
            </a:avLst>
          </a:prstGeom>
          <a:solidFill>
            <a:srgbClr val="FFFFFF"/>
          </a:solidFill>
          <a:ln w="12700">
            <a:solidFill>
              <a:srgbClr val="FFFFFF">
                <a:alpha val="0"/>
              </a:srgbClr>
            </a:solidFill>
            <a:prstDash val="solid"/>
          </a:ln>
        </p:spPr>
        <p:txBody>
          <a:bodyPr/>
          <a:p/>
        </p:txBody>
      </p:sp>
      <p:sp>
        <p:nvSpPr>
          <p:cNvPr id="39" name="Text 37"/>
          <p:cNvSpPr/>
          <p:nvPr/>
        </p:nvSpPr>
        <p:spPr>
          <a:xfrm>
            <a:off x="941832" y="4160520"/>
            <a:ext cx="6172200" cy="237744"/>
          </a:xfrm>
          <a:prstGeom prst="rect">
            <a:avLst/>
          </a:prstGeom>
          <a:noFill/>
          <a:ln/>
        </p:spPr>
        <p:txBody>
          <a:bodyPr wrap="square" lIns="0" tIns="0" rIns="0" bIns="0" rtlCol="0" anchor="ctr">
            <a:normAutofit/>
          </a:bodyPr>
          <a:lstStyle/>
          <a:p>
            <a:pPr indent="0" marL="0">
              <a:buNone/>
            </a:pPr>
            <a:r>
              <a:rPr lang="en-US" sz="1040" b="1" spc="60" kern="0" dirty="0">
                <a:solidFill>
                  <a:srgbClr val="008E85"/>
                </a:solidFill>
                <a:latin typeface="Aptos Display" pitchFamily="34" charset="0"/>
                <a:ea typeface="Aptos Display" pitchFamily="34" charset="-122"/>
                <a:cs typeface="Aptos Display" pitchFamily="34" charset="-120"/>
              </a:rPr>
              <a:t>ACTUAL TRAINING CELL  ·  traditional_ml.ipynb</a:t>
            </a:r>
            <a:endParaRPr lang="en-US" sz="1040" dirty="0"/>
          </a:p>
        </p:txBody>
      </p:sp>
      <p:pic>
        <p:nvPicPr>
          <p:cNvPr id="40" name="Image 0" descr="/mnt/data/kio_deck_assets/svm-important-snippet.png">    </p:cNvPr>
          <p:cNvPicPr>
            <a:picLocks noChangeAspect="1"/>
          </p:cNvPicPr>
          <p:nvPr/>
        </p:nvPicPr>
        <p:blipFill>
          <a:blip r:embed="rId1"/>
          <a:stretch>
            <a:fillRect/>
          </a:stretch>
        </p:blipFill>
        <p:spPr>
          <a:xfrm>
            <a:off x="914400" y="4553712"/>
            <a:ext cx="6263640" cy="868680"/>
          </a:xfrm>
          <a:prstGeom prst="rect">
            <a:avLst/>
          </a:prstGeom>
        </p:spPr>
      </p:pic>
      <p:sp>
        <p:nvSpPr>
          <p:cNvPr id="41" name="Shape 38"/>
          <p:cNvSpPr/>
          <p:nvPr/>
        </p:nvSpPr>
        <p:spPr>
          <a:xfrm>
            <a:off x="7635240" y="4050792"/>
            <a:ext cx="3767328" cy="1499616"/>
          </a:xfrm>
          <a:prstGeom prst="roundRect">
            <a:avLst>
              <a:gd name="adj" fmla="val 7927"/>
            </a:avLst>
          </a:prstGeom>
          <a:solidFill>
            <a:srgbClr val="E6F5F2"/>
          </a:solidFill>
          <a:ln w="12700">
            <a:solidFill>
              <a:srgbClr val="E6F5F2">
                <a:alpha val="0"/>
              </a:srgbClr>
            </a:solidFill>
            <a:prstDash val="solid"/>
          </a:ln>
        </p:spPr>
        <p:txBody>
          <a:bodyPr/>
          <a:p/>
        </p:txBody>
      </p:sp>
      <p:sp>
        <p:nvSpPr>
          <p:cNvPr id="42" name="Text 39"/>
          <p:cNvSpPr/>
          <p:nvPr/>
        </p:nvSpPr>
        <p:spPr>
          <a:xfrm>
            <a:off x="7882128" y="4261104"/>
            <a:ext cx="3246120" cy="283464"/>
          </a:xfrm>
          <a:prstGeom prst="rect">
            <a:avLst/>
          </a:prstGeom>
          <a:noFill/>
          <a:ln/>
        </p:spPr>
        <p:txBody>
          <a:bodyPr wrap="square" lIns="0" tIns="0" rIns="0" bIns="0" rtlCol="0" anchor="ctr">
            <a:normAutofit/>
          </a:bodyPr>
          <a:lstStyle/>
          <a:p>
            <a:pPr indent="0" marL="0">
              <a:buNone/>
            </a:pPr>
            <a:r>
              <a:rPr lang="en-US" sz="1600" b="1" dirty="0">
                <a:solidFill>
                  <a:srgbClr val="008E85"/>
                </a:solidFill>
                <a:latin typeface="Aptos Display" pitchFamily="34" charset="0"/>
                <a:ea typeface="Aptos Display" pitchFamily="34" charset="-122"/>
                <a:cs typeface="Aptos Display" pitchFamily="34" charset="-120"/>
              </a:rPr>
              <a:t>WHY TWO FEATURES?</a:t>
            </a:r>
            <a:endParaRPr lang="en-US" sz="1600" dirty="0"/>
          </a:p>
        </p:txBody>
      </p:sp>
      <p:sp>
        <p:nvSpPr>
          <p:cNvPr id="43" name="Text 40"/>
          <p:cNvSpPr/>
          <p:nvPr/>
        </p:nvSpPr>
        <p:spPr>
          <a:xfrm>
            <a:off x="7872984" y="4654296"/>
            <a:ext cx="3191256" cy="667512"/>
          </a:xfrm>
          <a:prstGeom prst="rect">
            <a:avLst/>
          </a:prstGeom>
          <a:noFill/>
          <a:ln/>
        </p:spPr>
        <p:txBody>
          <a:bodyPr wrap="square" lIns="0" tIns="0" rIns="0" bIns="0" rtlCol="0" anchor="ctr">
            <a:normAutofit/>
          </a:bodyPr>
          <a:lstStyle/>
          <a:p>
            <a:pPr indent="0" marL="0">
              <a:buNone/>
            </a:pPr>
            <a:r>
              <a:rPr lang="en-US" sz="1300" dirty="0">
                <a:solidFill>
                  <a:srgbClr val="112D40"/>
                </a:solidFill>
                <a:latin typeface="Aptos" pitchFamily="34" charset="0"/>
                <a:ea typeface="Aptos" pitchFamily="34" charset="-122"/>
                <a:cs typeface="Aptos" pitchFamily="34" charset="-120"/>
              </a:rPr>
              <a:t>The plotted line is the fitted SVM decision boundary—not a projection of a different classifier.</a:t>
            </a:r>
            <a:endParaRPr lang="en-US" sz="1300" dirty="0"/>
          </a:p>
        </p:txBody>
      </p:sp>
      <p:sp>
        <p:nvSpPr>
          <p:cNvPr id="44" name="Text 41"/>
          <p:cNvSpPr/>
          <p:nvPr/>
        </p:nvSpPr>
        <p:spPr>
          <a:xfrm>
            <a:off x="813816" y="5742432"/>
            <a:ext cx="10698480" cy="310896"/>
          </a:xfrm>
          <a:prstGeom prst="rect">
            <a:avLst/>
          </a:prstGeom>
          <a:noFill/>
          <a:ln/>
        </p:spPr>
        <p:txBody>
          <a:bodyPr wrap="square" lIns="0" tIns="0" rIns="0" bIns="0" rtlCol="0" anchor="ctr">
            <a:normAutofit/>
          </a:bodyPr>
          <a:lstStyle/>
          <a:p>
            <a:pPr indent="0" marL="0">
              <a:buNone/>
            </a:pPr>
            <a:r>
              <a:rPr lang="en-US" sz="1280" b="1" dirty="0">
                <a:solidFill>
                  <a:srgbClr val="587082"/>
                </a:solidFill>
                <a:latin typeface="Aptos Display" pitchFamily="34" charset="0"/>
                <a:ea typeface="Aptos Display" pitchFamily="34" charset="-122"/>
                <a:cs typeface="Aptos Display" pitchFamily="34" charset="-120"/>
              </a:rPr>
              <a:t>SVD explains 5.18% of TF-IDF variance; this is not the model accuracy.</a:t>
            </a:r>
            <a:endParaRPr lang="en-US" sz="1280" dirty="0"/>
          </a:p>
        </p:txBody>
      </p:sp>
      <p:sp>
        <p:nvSpPr>
          <p:cNvPr id="45" name="Text 42"/>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Source: traditional_ml.ipynb, Cells 4–8   •   scikit-learn TF-IDF / TruncatedSVD / SVC</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5"/>
                                  </p:tgtEl>
                                  <p:attrNameLst>
                                    <p:attrName>style.visibility</p:attrName>
                                  </p:attrNameLst>
                                </p:cBhvr>
                                <p:to>
                                  <p:strVal val="visible"/>
                                </p:to>
                              </p:set>
                              <p:animEffect transition="in" filter="fade">
                                <p:cBhvr>
                                  <p:cTn id="23" dur="520"/>
                                  <p:tgtEl>
                                    <p:spTgt spid="15"/>
                                  </p:tgtEl>
                                </p:cBhvr>
                              </p:animEffect>
                            </p:childTnLst>
                          </p:cTn>
                        </p:par>
                      </p:childTnLst>
                    </p:cTn>
                  </p:par>
                  <p:par>
                    <p:cTn id="25" fill="hold">
                      <p:stCondLst>
                        <p:cond delay="1440"/>
                      </p:stCondLst>
                      <p:childTnLst>
                        <p:par>
                          <p:cTn id="26" fill="hold">
                            <p:childTnLst>
                              <p:set>
                                <p:cBhvr>
                                  <p:cTn id="27" dur="1" fill="hold">
                                    <p:stCondLst>
                                      <p:cond delay="0"/>
                                    </p:stCondLst>
                                  </p:cTn>
                                  <p:tgtEl>
                                    <p:spTgt spid="39"/>
                                  </p:tgtEl>
                                  <p:attrNameLst>
                                    <p:attrName>style.visibility</p:attrName>
                                  </p:attrNameLst>
                                </p:cBhvr>
                                <p:to>
                                  <p:strVal val="visible"/>
                                </p:to>
                              </p:set>
                              <p:animEffect transition="in" filter="fade">
                                <p:cBhvr>
                                  <p:cTn id="28" dur="520"/>
                                  <p:tgtEl>
                                    <p:spTgt spid="39"/>
                                  </p:tgtEl>
                                </p:cBhvr>
                              </p:animEffect>
                            </p:childTnLst>
                          </p:cTn>
                        </p:par>
                      </p:childTnLst>
                    </p:cTn>
                  </p:par>
                </p:childTnLst>
              </p:cTn>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TRADITIONAL ML · FEATURES</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13 / 21</a:t>
            </a:r>
            <a:endParaRPr lang="en-US" sz="1000" dirty="0"/>
          </a:p>
        </p:txBody>
      </p:sp>
      <p:sp>
        <p:nvSpPr>
          <p:cNvPr id="7" name="Shape 5"/>
          <p:cNvSpPr/>
          <p:nvPr/>
        </p:nvSpPr>
        <p:spPr>
          <a:xfrm>
            <a:off x="585216" y="6473952"/>
            <a:ext cx="6238196"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FEATURE EXTRACTION</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TF-IDF turns short messages into measurable features</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The classifier cannot learn directly from raw strings.</a:t>
            </a:r>
            <a:endParaRPr lang="en-US" sz="1420" dirty="0"/>
          </a:p>
        </p:txBody>
      </p:sp>
      <p:sp>
        <p:nvSpPr>
          <p:cNvPr id="12" name="Shape 10"/>
          <p:cNvSpPr/>
          <p:nvPr/>
        </p:nvSpPr>
        <p:spPr>
          <a:xfrm>
            <a:off x="777240" y="2240280"/>
            <a:ext cx="10643616" cy="987552"/>
          </a:xfrm>
          <a:prstGeom prst="roundRect">
            <a:avLst>
              <a:gd name="adj" fmla="val 12037"/>
            </a:avLst>
          </a:prstGeom>
          <a:solidFill>
            <a:srgbClr val="0A2134"/>
          </a:solidFill>
          <a:ln w="12700">
            <a:solidFill>
              <a:srgbClr val="0A2134">
                <a:alpha val="0"/>
              </a:srgbClr>
            </a:solidFill>
            <a:prstDash val="solid"/>
          </a:ln>
        </p:spPr>
        <p:txBody>
          <a:bodyPr/>
          <a:p/>
        </p:txBody>
      </p:sp>
      <p:sp>
        <p:nvSpPr>
          <p:cNvPr id="13" name="Text 11"/>
          <p:cNvSpPr/>
          <p:nvPr/>
        </p:nvSpPr>
        <p:spPr>
          <a:xfrm>
            <a:off x="1060704" y="2459736"/>
            <a:ext cx="10012680" cy="50292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ptos Display" pitchFamily="34" charset="0"/>
                <a:ea typeface="Aptos Display" pitchFamily="34" charset="-122"/>
                <a:cs typeface="Aptos Display" pitchFamily="34" charset="-120"/>
              </a:rPr>
              <a:t>“Please cancel our ongoing website redesign project.”</a:t>
            </a:r>
            <a:endParaRPr lang="en-US" sz="2100" dirty="0"/>
          </a:p>
        </p:txBody>
      </p:sp>
      <p:sp>
        <p:nvSpPr>
          <p:cNvPr id="14" name="Shape 12"/>
          <p:cNvSpPr/>
          <p:nvPr/>
        </p:nvSpPr>
        <p:spPr>
          <a:xfrm>
            <a:off x="868680" y="3401568"/>
            <a:ext cx="10479024" cy="512064"/>
          </a:xfrm>
          <a:prstGeom prst="roundRect">
            <a:avLst>
              <a:gd name="adj" fmla="val 23214"/>
            </a:avLst>
          </a:prstGeom>
          <a:solidFill>
            <a:srgbClr val="FFFFFF"/>
          </a:solidFill>
          <a:ln w="12700">
            <a:solidFill>
              <a:srgbClr val="FFFFFF">
                <a:alpha val="0"/>
              </a:srgbClr>
            </a:solidFill>
            <a:prstDash val="solid"/>
          </a:ln>
        </p:spPr>
        <p:txBody>
          <a:bodyPr/>
          <a:p/>
        </p:txBody>
      </p:sp>
      <p:sp>
        <p:nvSpPr>
          <p:cNvPr id="15" name="Shape 13"/>
          <p:cNvSpPr/>
          <p:nvPr/>
        </p:nvSpPr>
        <p:spPr>
          <a:xfrm>
            <a:off x="1014984" y="3511296"/>
            <a:ext cx="1591056" cy="256032"/>
          </a:xfrm>
          <a:prstGeom prst="roundRect">
            <a:avLst>
              <a:gd name="adj" fmla="val 42857"/>
            </a:avLst>
          </a:prstGeom>
          <a:solidFill>
            <a:srgbClr val="E6F5F2"/>
          </a:solidFill>
          <a:ln w="12700">
            <a:solidFill>
              <a:srgbClr val="E6F5F2">
                <a:alpha val="0"/>
              </a:srgbClr>
            </a:solidFill>
            <a:prstDash val="solid"/>
          </a:ln>
        </p:spPr>
        <p:txBody>
          <a:bodyPr/>
          <a:p/>
        </p:txBody>
      </p:sp>
      <p:sp>
        <p:nvSpPr>
          <p:cNvPr id="16" name="Text 14"/>
          <p:cNvSpPr/>
          <p:nvPr/>
        </p:nvSpPr>
        <p:spPr>
          <a:xfrm>
            <a:off x="1106424" y="3520440"/>
            <a:ext cx="1408176" cy="237744"/>
          </a:xfrm>
          <a:prstGeom prst="rect">
            <a:avLst/>
          </a:prstGeom>
          <a:noFill/>
          <a:ln/>
        </p:spPr>
        <p:txBody>
          <a:bodyPr wrap="square" lIns="0" tIns="0" rIns="0" bIns="0" rtlCol="0" anchor="ctr">
            <a:normAutofit/>
          </a:bodyPr>
          <a:lstStyle/>
          <a:p>
            <a:pPr algn="ctr" indent="0" marL="0">
              <a:buNone/>
            </a:pPr>
            <a:r>
              <a:rPr lang="en-US" sz="950" b="1" spc="50" kern="0" dirty="0">
                <a:solidFill>
                  <a:srgbClr val="008E85"/>
                </a:solidFill>
                <a:latin typeface="Aptos Display" pitchFamily="34" charset="0"/>
                <a:ea typeface="Aptos Display" pitchFamily="34" charset="-122"/>
                <a:cs typeface="Aptos Display" pitchFamily="34" charset="-120"/>
              </a:rPr>
              <a:t>TOKENIZE</a:t>
            </a:r>
            <a:endParaRPr lang="en-US" sz="950" dirty="0"/>
          </a:p>
        </p:txBody>
      </p:sp>
      <p:sp>
        <p:nvSpPr>
          <p:cNvPr id="17" name="Text 15"/>
          <p:cNvSpPr/>
          <p:nvPr/>
        </p:nvSpPr>
        <p:spPr>
          <a:xfrm>
            <a:off x="2862072" y="3483864"/>
            <a:ext cx="8019288" cy="347472"/>
          </a:xfrm>
          <a:prstGeom prst="rect">
            <a:avLst/>
          </a:prstGeom>
          <a:noFill/>
          <a:ln/>
        </p:spPr>
        <p:txBody>
          <a:bodyPr wrap="square" lIns="0" tIns="0" rIns="0" bIns="0" rtlCol="0" anchor="ctr">
            <a:normAutofit/>
          </a:bodyPr>
          <a:lstStyle/>
          <a:p>
            <a:pPr indent="0" marL="0">
              <a:buNone/>
            </a:pPr>
            <a:r>
              <a:rPr lang="en-US" sz="1550" dirty="0">
                <a:solidFill>
                  <a:srgbClr val="112D40"/>
                </a:solidFill>
                <a:latin typeface="Aptos" pitchFamily="34" charset="0"/>
                <a:ea typeface="Aptos" pitchFamily="34" charset="-122"/>
                <a:cs typeface="Aptos" pitchFamily="34" charset="-120"/>
              </a:rPr>
              <a:t>please · cancel · our · ongoing · website · ...</a:t>
            </a:r>
            <a:endParaRPr lang="en-US" sz="1550" dirty="0"/>
          </a:p>
        </p:txBody>
      </p:sp>
      <p:sp>
        <p:nvSpPr>
          <p:cNvPr id="18" name="Shape 16"/>
          <p:cNvSpPr/>
          <p:nvPr/>
        </p:nvSpPr>
        <p:spPr>
          <a:xfrm>
            <a:off x="868680" y="4032504"/>
            <a:ext cx="10479024" cy="512064"/>
          </a:xfrm>
          <a:prstGeom prst="roundRect">
            <a:avLst>
              <a:gd name="adj" fmla="val 23214"/>
            </a:avLst>
          </a:prstGeom>
          <a:solidFill>
            <a:srgbClr val="FFFFFF"/>
          </a:solidFill>
          <a:ln w="12700">
            <a:solidFill>
              <a:srgbClr val="FFFFFF">
                <a:alpha val="0"/>
              </a:srgbClr>
            </a:solidFill>
            <a:prstDash val="solid"/>
          </a:ln>
        </p:spPr>
        <p:txBody>
          <a:bodyPr/>
          <a:p/>
        </p:txBody>
      </p:sp>
      <p:sp>
        <p:nvSpPr>
          <p:cNvPr id="19" name="Shape 17"/>
          <p:cNvSpPr/>
          <p:nvPr/>
        </p:nvSpPr>
        <p:spPr>
          <a:xfrm>
            <a:off x="1014984" y="4142232"/>
            <a:ext cx="1591056" cy="256032"/>
          </a:xfrm>
          <a:prstGeom prst="roundRect">
            <a:avLst>
              <a:gd name="adj" fmla="val 42857"/>
            </a:avLst>
          </a:prstGeom>
          <a:solidFill>
            <a:srgbClr val="E6F5F2"/>
          </a:solidFill>
          <a:ln w="12700">
            <a:solidFill>
              <a:srgbClr val="E6F5F2">
                <a:alpha val="0"/>
              </a:srgbClr>
            </a:solidFill>
            <a:prstDash val="solid"/>
          </a:ln>
        </p:spPr>
        <p:txBody>
          <a:bodyPr/>
          <a:p/>
        </p:txBody>
      </p:sp>
      <p:sp>
        <p:nvSpPr>
          <p:cNvPr id="20" name="Text 18"/>
          <p:cNvSpPr/>
          <p:nvPr/>
        </p:nvSpPr>
        <p:spPr>
          <a:xfrm>
            <a:off x="1106424" y="4151376"/>
            <a:ext cx="1408176" cy="237744"/>
          </a:xfrm>
          <a:prstGeom prst="rect">
            <a:avLst/>
          </a:prstGeom>
          <a:noFill/>
          <a:ln/>
        </p:spPr>
        <p:txBody>
          <a:bodyPr wrap="square" lIns="0" tIns="0" rIns="0" bIns="0" rtlCol="0" anchor="ctr">
            <a:normAutofit/>
          </a:bodyPr>
          <a:lstStyle/>
          <a:p>
            <a:pPr algn="ctr" indent="0" marL="0">
              <a:buNone/>
            </a:pPr>
            <a:r>
              <a:rPr lang="en-US" sz="950" b="1" spc="50" kern="0" dirty="0">
                <a:solidFill>
                  <a:srgbClr val="008E85"/>
                </a:solidFill>
                <a:latin typeface="Aptos Display" pitchFamily="34" charset="0"/>
                <a:ea typeface="Aptos Display" pitchFamily="34" charset="-122"/>
                <a:cs typeface="Aptos Display" pitchFamily="34" charset="-120"/>
              </a:rPr>
              <a:t>UNIGRAMS</a:t>
            </a:r>
            <a:endParaRPr lang="en-US" sz="950" dirty="0"/>
          </a:p>
        </p:txBody>
      </p:sp>
      <p:sp>
        <p:nvSpPr>
          <p:cNvPr id="21" name="Text 19"/>
          <p:cNvSpPr/>
          <p:nvPr/>
        </p:nvSpPr>
        <p:spPr>
          <a:xfrm>
            <a:off x="2862072" y="4114800"/>
            <a:ext cx="8019288" cy="347472"/>
          </a:xfrm>
          <a:prstGeom prst="rect">
            <a:avLst/>
          </a:prstGeom>
          <a:noFill/>
          <a:ln/>
        </p:spPr>
        <p:txBody>
          <a:bodyPr wrap="square" lIns="0" tIns="0" rIns="0" bIns="0" rtlCol="0" anchor="ctr">
            <a:normAutofit/>
          </a:bodyPr>
          <a:lstStyle/>
          <a:p>
            <a:pPr indent="0" marL="0">
              <a:buNone/>
            </a:pPr>
            <a:r>
              <a:rPr lang="en-US" sz="1550" dirty="0">
                <a:solidFill>
                  <a:srgbClr val="112D40"/>
                </a:solidFill>
                <a:latin typeface="Aptos" pitchFamily="34" charset="0"/>
                <a:ea typeface="Aptos" pitchFamily="34" charset="-122"/>
                <a:cs typeface="Aptos" pitchFamily="34" charset="-120"/>
              </a:rPr>
              <a:t>cancel | ongoing | website | redesign</a:t>
            </a:r>
            <a:endParaRPr lang="en-US" sz="1550" dirty="0"/>
          </a:p>
        </p:txBody>
      </p:sp>
      <p:sp>
        <p:nvSpPr>
          <p:cNvPr id="22" name="Shape 20"/>
          <p:cNvSpPr/>
          <p:nvPr/>
        </p:nvSpPr>
        <p:spPr>
          <a:xfrm>
            <a:off x="868680" y="4663440"/>
            <a:ext cx="10479024" cy="512064"/>
          </a:xfrm>
          <a:prstGeom prst="roundRect">
            <a:avLst>
              <a:gd name="adj" fmla="val 23214"/>
            </a:avLst>
          </a:prstGeom>
          <a:solidFill>
            <a:srgbClr val="FFFFFF"/>
          </a:solidFill>
          <a:ln w="12700">
            <a:solidFill>
              <a:srgbClr val="FFFFFF">
                <a:alpha val="0"/>
              </a:srgbClr>
            </a:solidFill>
            <a:prstDash val="solid"/>
          </a:ln>
        </p:spPr>
        <p:txBody>
          <a:bodyPr/>
          <a:p/>
        </p:txBody>
      </p:sp>
      <p:sp>
        <p:nvSpPr>
          <p:cNvPr id="23" name="Shape 21"/>
          <p:cNvSpPr/>
          <p:nvPr/>
        </p:nvSpPr>
        <p:spPr>
          <a:xfrm>
            <a:off x="1014984" y="4773168"/>
            <a:ext cx="1591056" cy="256032"/>
          </a:xfrm>
          <a:prstGeom prst="roundRect">
            <a:avLst>
              <a:gd name="adj" fmla="val 42857"/>
            </a:avLst>
          </a:prstGeom>
          <a:solidFill>
            <a:srgbClr val="E6F5F2"/>
          </a:solidFill>
          <a:ln w="12700">
            <a:solidFill>
              <a:srgbClr val="E6F5F2">
                <a:alpha val="0"/>
              </a:srgbClr>
            </a:solidFill>
            <a:prstDash val="solid"/>
          </a:ln>
        </p:spPr>
        <p:txBody>
          <a:bodyPr/>
          <a:p/>
        </p:txBody>
      </p:sp>
      <p:sp>
        <p:nvSpPr>
          <p:cNvPr id="24" name="Text 22"/>
          <p:cNvSpPr/>
          <p:nvPr/>
        </p:nvSpPr>
        <p:spPr>
          <a:xfrm>
            <a:off x="1106424" y="4782312"/>
            <a:ext cx="1408176" cy="237744"/>
          </a:xfrm>
          <a:prstGeom prst="rect">
            <a:avLst/>
          </a:prstGeom>
          <a:noFill/>
          <a:ln/>
        </p:spPr>
        <p:txBody>
          <a:bodyPr wrap="square" lIns="0" tIns="0" rIns="0" bIns="0" rtlCol="0" anchor="ctr">
            <a:normAutofit/>
          </a:bodyPr>
          <a:lstStyle/>
          <a:p>
            <a:pPr algn="ctr" indent="0" marL="0">
              <a:buNone/>
            </a:pPr>
            <a:r>
              <a:rPr lang="en-US" sz="950" b="1" spc="50" kern="0" dirty="0">
                <a:solidFill>
                  <a:srgbClr val="008E85"/>
                </a:solidFill>
                <a:latin typeface="Aptos Display" pitchFamily="34" charset="0"/>
                <a:ea typeface="Aptos Display" pitchFamily="34" charset="-122"/>
                <a:cs typeface="Aptos Display" pitchFamily="34" charset="-120"/>
              </a:rPr>
              <a:t>BIGRAMS</a:t>
            </a:r>
            <a:endParaRPr lang="en-US" sz="950" dirty="0"/>
          </a:p>
        </p:txBody>
      </p:sp>
      <p:sp>
        <p:nvSpPr>
          <p:cNvPr id="25" name="Text 23"/>
          <p:cNvSpPr/>
          <p:nvPr/>
        </p:nvSpPr>
        <p:spPr>
          <a:xfrm>
            <a:off x="2862072" y="4745736"/>
            <a:ext cx="8019288" cy="347472"/>
          </a:xfrm>
          <a:prstGeom prst="rect">
            <a:avLst/>
          </a:prstGeom>
          <a:noFill/>
          <a:ln/>
        </p:spPr>
        <p:txBody>
          <a:bodyPr wrap="square" lIns="0" tIns="0" rIns="0" bIns="0" rtlCol="0" anchor="ctr">
            <a:normAutofit/>
          </a:bodyPr>
          <a:lstStyle/>
          <a:p>
            <a:pPr indent="0" marL="0">
              <a:buNone/>
            </a:pPr>
            <a:r>
              <a:rPr lang="en-US" sz="1550" dirty="0">
                <a:solidFill>
                  <a:srgbClr val="112D40"/>
                </a:solidFill>
                <a:latin typeface="Aptos" pitchFamily="34" charset="0"/>
                <a:ea typeface="Aptos" pitchFamily="34" charset="-122"/>
                <a:cs typeface="Aptos" pitchFamily="34" charset="-120"/>
              </a:rPr>
              <a:t>ongoing website | website redesign</a:t>
            </a:r>
            <a:endParaRPr lang="en-US" sz="1550" dirty="0"/>
          </a:p>
        </p:txBody>
      </p:sp>
      <p:sp>
        <p:nvSpPr>
          <p:cNvPr id="26" name="Shape 24"/>
          <p:cNvSpPr/>
          <p:nvPr/>
        </p:nvSpPr>
        <p:spPr>
          <a:xfrm>
            <a:off x="868680" y="5294376"/>
            <a:ext cx="10479024" cy="512064"/>
          </a:xfrm>
          <a:prstGeom prst="roundRect">
            <a:avLst>
              <a:gd name="adj" fmla="val 23214"/>
            </a:avLst>
          </a:prstGeom>
          <a:solidFill>
            <a:srgbClr val="FFFFFF"/>
          </a:solidFill>
          <a:ln w="12700">
            <a:solidFill>
              <a:srgbClr val="FFFFFF">
                <a:alpha val="0"/>
              </a:srgbClr>
            </a:solidFill>
            <a:prstDash val="solid"/>
          </a:ln>
        </p:spPr>
        <p:txBody>
          <a:bodyPr/>
          <a:p/>
        </p:txBody>
      </p:sp>
      <p:sp>
        <p:nvSpPr>
          <p:cNvPr id="27" name="Shape 25"/>
          <p:cNvSpPr/>
          <p:nvPr/>
        </p:nvSpPr>
        <p:spPr>
          <a:xfrm>
            <a:off x="1014984" y="5404104"/>
            <a:ext cx="1591056" cy="256032"/>
          </a:xfrm>
          <a:prstGeom prst="roundRect">
            <a:avLst>
              <a:gd name="adj" fmla="val 42857"/>
            </a:avLst>
          </a:prstGeom>
          <a:solidFill>
            <a:srgbClr val="E6F5F2"/>
          </a:solidFill>
          <a:ln w="12700">
            <a:solidFill>
              <a:srgbClr val="E6F5F2">
                <a:alpha val="0"/>
              </a:srgbClr>
            </a:solidFill>
            <a:prstDash val="solid"/>
          </a:ln>
        </p:spPr>
        <p:txBody>
          <a:bodyPr/>
          <a:p/>
        </p:txBody>
      </p:sp>
      <p:sp>
        <p:nvSpPr>
          <p:cNvPr id="28" name="Text 26"/>
          <p:cNvSpPr/>
          <p:nvPr/>
        </p:nvSpPr>
        <p:spPr>
          <a:xfrm>
            <a:off x="1106424" y="5413248"/>
            <a:ext cx="1408176" cy="237744"/>
          </a:xfrm>
          <a:prstGeom prst="rect">
            <a:avLst/>
          </a:prstGeom>
          <a:noFill/>
          <a:ln/>
        </p:spPr>
        <p:txBody>
          <a:bodyPr wrap="square" lIns="0" tIns="0" rIns="0" bIns="0" rtlCol="0" anchor="ctr">
            <a:normAutofit/>
          </a:bodyPr>
          <a:lstStyle/>
          <a:p>
            <a:pPr algn="ctr" indent="0" marL="0">
              <a:buNone/>
            </a:pPr>
            <a:r>
              <a:rPr lang="en-US" sz="950" b="1" spc="50" kern="0" dirty="0">
                <a:solidFill>
                  <a:srgbClr val="008E85"/>
                </a:solidFill>
                <a:latin typeface="Aptos Display" pitchFamily="34" charset="0"/>
                <a:ea typeface="Aptos Display" pitchFamily="34" charset="-122"/>
                <a:cs typeface="Aptos Display" pitchFamily="34" charset="-120"/>
              </a:rPr>
              <a:t>TF-IDF VECTOR</a:t>
            </a:r>
            <a:endParaRPr lang="en-US" sz="950" dirty="0"/>
          </a:p>
        </p:txBody>
      </p:sp>
      <p:sp>
        <p:nvSpPr>
          <p:cNvPr id="29" name="Text 27"/>
          <p:cNvSpPr/>
          <p:nvPr/>
        </p:nvSpPr>
        <p:spPr>
          <a:xfrm>
            <a:off x="2862072" y="5376672"/>
            <a:ext cx="8019288" cy="347472"/>
          </a:xfrm>
          <a:prstGeom prst="rect">
            <a:avLst/>
          </a:prstGeom>
          <a:noFill/>
          <a:ln/>
        </p:spPr>
        <p:txBody>
          <a:bodyPr wrap="square" lIns="0" tIns="0" rIns="0" bIns="0" rtlCol="0" anchor="ctr">
            <a:normAutofit/>
          </a:bodyPr>
          <a:lstStyle/>
          <a:p>
            <a:pPr indent="0" marL="0">
              <a:buNone/>
            </a:pPr>
            <a:r>
              <a:rPr lang="en-US" sz="1550" dirty="0">
                <a:solidFill>
                  <a:srgbClr val="112D40"/>
                </a:solidFill>
                <a:latin typeface="Aptos" pitchFamily="34" charset="0"/>
                <a:ea typeface="Aptos" pitchFamily="34" charset="-122"/>
                <a:cs typeface="Aptos" pitchFamily="34" charset="-120"/>
              </a:rPr>
              <a:t>one numerical weight per learned vocabulary feature</a:t>
            </a:r>
            <a:endParaRPr lang="en-US" sz="1550" dirty="0"/>
          </a:p>
        </p:txBody>
      </p:sp>
      <p:sp>
        <p:nvSpPr>
          <p:cNvPr id="30" name="Shape 28"/>
          <p:cNvSpPr/>
          <p:nvPr/>
        </p:nvSpPr>
        <p:spPr>
          <a:xfrm>
            <a:off x="7836408" y="5989320"/>
            <a:ext cx="3310128" cy="256032"/>
          </a:xfrm>
          <a:prstGeom prst="roundRect">
            <a:avLst>
              <a:gd name="adj" fmla="val 46429"/>
            </a:avLst>
          </a:prstGeom>
          <a:solidFill>
            <a:srgbClr val="E6F5F2"/>
          </a:solidFill>
          <a:ln w="12700">
            <a:solidFill>
              <a:srgbClr val="E6F5F2">
                <a:alpha val="0"/>
              </a:srgbClr>
            </a:solidFill>
            <a:prstDash val="solid"/>
          </a:ln>
        </p:spPr>
        <p:txBody>
          <a:bodyPr/>
          <a:p/>
        </p:txBody>
      </p:sp>
      <p:sp>
        <p:nvSpPr>
          <p:cNvPr id="31" name="Text 29"/>
          <p:cNvSpPr/>
          <p:nvPr/>
        </p:nvSpPr>
        <p:spPr>
          <a:xfrm>
            <a:off x="7927848" y="6016752"/>
            <a:ext cx="3099816" cy="210312"/>
          </a:xfrm>
          <a:prstGeom prst="rect">
            <a:avLst/>
          </a:prstGeom>
          <a:noFill/>
          <a:ln/>
        </p:spPr>
        <p:txBody>
          <a:bodyPr wrap="square" lIns="0" tIns="0" rIns="0" bIns="0" rtlCol="0" anchor="ctr">
            <a:normAutofit/>
          </a:bodyPr>
          <a:lstStyle/>
          <a:p>
            <a:pPr algn="ctr" indent="0" marL="0">
              <a:buNone/>
            </a:pPr>
            <a:r>
              <a:rPr lang="en-US" sz="1120" b="1" dirty="0">
                <a:solidFill>
                  <a:srgbClr val="008E85"/>
                </a:solidFill>
                <a:latin typeface="Aptos Display" pitchFamily="34" charset="0"/>
                <a:ea typeface="Aptos Display" pitchFamily="34" charset="-122"/>
                <a:cs typeface="Aptos Display" pitchFamily="34" charset="-120"/>
              </a:rPr>
              <a:t>40 × 675  TRAIN MATRIX</a:t>
            </a:r>
            <a:endParaRPr lang="en-US" sz="11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3"/>
                                  </p:tgtEl>
                                  <p:attrNameLst>
                                    <p:attrName>style.visibility</p:attrName>
                                  </p:attrNameLst>
                                </p:cBhvr>
                                <p:to>
                                  <p:strVal val="visible"/>
                                </p:to>
                              </p:set>
                              <p:animEffect transition="in" filter="fade">
                                <p:cBhvr>
                                  <p:cTn id="23" dur="520"/>
                                  <p:tgtEl>
                                    <p:spTgt spid="13"/>
                                  </p:tgtEl>
                                </p:cBhvr>
                              </p:animEffect>
                            </p:childTnLst>
                          </p:cTn>
                        </p:par>
                      </p:childTnLst>
                    </p:cTn>
                  </p:par>
                  <p:par>
                    <p:cTn id="25" fill="hold">
                      <p:stCondLst>
                        <p:cond delay="1440"/>
                      </p:stCondLst>
                      <p:childTnLst>
                        <p:par>
                          <p:cTn id="26" fill="hold">
                            <p:childTnLst>
                              <p:set>
                                <p:cBhvr>
                                  <p:cTn id="27" dur="1" fill="hold">
                                    <p:stCondLst>
                                      <p:cond delay="0"/>
                                    </p:stCondLst>
                                  </p:cTn>
                                  <p:tgtEl>
                                    <p:spTgt spid="17"/>
                                  </p:tgtEl>
                                  <p:attrNameLst>
                                    <p:attrName>style.visibility</p:attrName>
                                  </p:attrNameLst>
                                </p:cBhvr>
                                <p:to>
                                  <p:strVal val="visible"/>
                                </p:to>
                              </p:set>
                              <p:animEffect transition="in" filter="fade">
                                <p:cBhvr>
                                  <p:cTn id="28" dur="520"/>
                                  <p:tgtEl>
                                    <p:spTgt spid="17"/>
                                  </p:tgtEl>
                                </p:cBhvr>
                              </p:animEffect>
                            </p:childTnLst>
                          </p:cTn>
                        </p:par>
                      </p:childTnLst>
                    </p:cTn>
                  </p:par>
                </p:childTnLst>
              </p:cTn>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TRADITIONAL ML · DIMENSION</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14 / 21</a:t>
            </a:r>
            <a:endParaRPr lang="en-US" sz="1000" dirty="0"/>
          </a:p>
        </p:txBody>
      </p:sp>
      <p:sp>
        <p:nvSpPr>
          <p:cNvPr id="7" name="Shape 5"/>
          <p:cNvSpPr/>
          <p:nvPr/>
        </p:nvSpPr>
        <p:spPr>
          <a:xfrm>
            <a:off x="585216" y="6473952"/>
            <a:ext cx="6718057"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DIMENSIONALITY REDUCTION</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Why compress 675 text features into just 2?</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A 2D model gives a transparent, genuine decision-boundary plot.</a:t>
            </a:r>
            <a:endParaRPr lang="en-US" sz="1420" dirty="0"/>
          </a:p>
        </p:txBody>
      </p:sp>
      <p:sp>
        <p:nvSpPr>
          <p:cNvPr id="12" name="Shape 10"/>
          <p:cNvSpPr/>
          <p:nvPr/>
        </p:nvSpPr>
        <p:spPr>
          <a:xfrm>
            <a:off x="960120" y="2450592"/>
            <a:ext cx="3749040" cy="2020824"/>
          </a:xfrm>
          <a:prstGeom prst="roundRect">
            <a:avLst>
              <a:gd name="adj" fmla="val 5882"/>
            </a:avLst>
          </a:prstGeom>
          <a:solidFill>
            <a:srgbClr val="FFFFFF"/>
          </a:solidFill>
          <a:ln w="12700">
            <a:solidFill>
              <a:srgbClr val="FFFFFF">
                <a:alpha val="0"/>
              </a:srgbClr>
            </a:solidFill>
            <a:prstDash val="solid"/>
          </a:ln>
        </p:spPr>
        <p:txBody>
          <a:bodyPr/>
          <a:p/>
        </p:txBody>
      </p:sp>
      <p:sp>
        <p:nvSpPr>
          <p:cNvPr id="13" name="Text 11"/>
          <p:cNvSpPr/>
          <p:nvPr/>
        </p:nvSpPr>
        <p:spPr>
          <a:xfrm>
            <a:off x="1188720" y="2724912"/>
            <a:ext cx="3154680" cy="685800"/>
          </a:xfrm>
          <a:prstGeom prst="rect">
            <a:avLst/>
          </a:prstGeom>
          <a:noFill/>
          <a:ln/>
        </p:spPr>
        <p:txBody>
          <a:bodyPr wrap="square" lIns="0" tIns="0" rIns="0" bIns="0" rtlCol="0" anchor="ctr">
            <a:normAutofit/>
          </a:bodyPr>
          <a:lstStyle/>
          <a:p>
            <a:pPr indent="0" marL="0">
              <a:buNone/>
            </a:pPr>
            <a:r>
              <a:rPr lang="en-US" sz="4700" b="1" dirty="0">
                <a:solidFill>
                  <a:srgbClr val="112D40"/>
                </a:solidFill>
                <a:latin typeface="Aptos Display" pitchFamily="34" charset="0"/>
                <a:ea typeface="Aptos Display" pitchFamily="34" charset="-122"/>
                <a:cs typeface="Aptos Display" pitchFamily="34" charset="-120"/>
              </a:rPr>
              <a:t>675</a:t>
            </a:r>
            <a:endParaRPr lang="en-US" sz="4700" dirty="0"/>
          </a:p>
        </p:txBody>
      </p:sp>
      <p:sp>
        <p:nvSpPr>
          <p:cNvPr id="14" name="Text 12"/>
          <p:cNvSpPr/>
          <p:nvPr/>
        </p:nvSpPr>
        <p:spPr>
          <a:xfrm>
            <a:off x="1225296" y="3730752"/>
            <a:ext cx="3063240" cy="310896"/>
          </a:xfrm>
          <a:prstGeom prst="rect">
            <a:avLst/>
          </a:prstGeom>
          <a:noFill/>
          <a:ln/>
        </p:spPr>
        <p:txBody>
          <a:bodyPr wrap="square" lIns="0" tIns="0" rIns="0" bIns="0" rtlCol="0" anchor="ctr">
            <a:normAutofit/>
          </a:bodyPr>
          <a:lstStyle/>
          <a:p>
            <a:pPr indent="0" marL="0">
              <a:buNone/>
            </a:pPr>
            <a:r>
              <a:rPr lang="en-US" sz="1800" dirty="0">
                <a:solidFill>
                  <a:srgbClr val="587082"/>
                </a:solidFill>
                <a:latin typeface="Aptos" pitchFamily="34" charset="0"/>
                <a:ea typeface="Aptos" pitchFamily="34" charset="-122"/>
                <a:cs typeface="Aptos" pitchFamily="34" charset="-120"/>
              </a:rPr>
              <a:t>TF-IDF features</a:t>
            </a:r>
            <a:endParaRPr lang="en-US" sz="1800" dirty="0"/>
          </a:p>
        </p:txBody>
      </p:sp>
      <p:sp>
        <p:nvSpPr>
          <p:cNvPr id="15" name="Shape 13"/>
          <p:cNvSpPr/>
          <p:nvPr/>
        </p:nvSpPr>
        <p:spPr>
          <a:xfrm>
            <a:off x="5093208" y="3410712"/>
            <a:ext cx="292608" cy="0"/>
          </a:xfrm>
          <a:prstGeom prst="line">
            <a:avLst/>
          </a:prstGeom>
          <a:noFill/>
          <a:ln w="30480">
            <a:solidFill>
              <a:srgbClr val="008E85"/>
            </a:solidFill>
            <a:prstDash val="solid"/>
            <a:headEnd type="none"/>
            <a:tailEnd type="none"/>
          </a:ln>
        </p:spPr>
        <p:txBody>
          <a:bodyPr/>
          <a:p/>
        </p:txBody>
      </p:sp>
      <p:sp>
        <p:nvSpPr>
          <p:cNvPr id="16" name="Shape 14"/>
          <p:cNvSpPr/>
          <p:nvPr/>
        </p:nvSpPr>
        <p:spPr>
          <a:xfrm>
            <a:off x="5294376" y="3342132"/>
            <a:ext cx="182880" cy="137160"/>
          </a:xfrm>
          <a:prstGeom prst="chevron">
            <a:avLst/>
          </a:prstGeom>
          <a:solidFill>
            <a:srgbClr val="008E85"/>
          </a:solidFill>
          <a:ln w="12700">
            <a:solidFill>
              <a:srgbClr val="008E85">
                <a:alpha val="0"/>
              </a:srgbClr>
            </a:solidFill>
            <a:prstDash val="solid"/>
          </a:ln>
        </p:spPr>
        <p:txBody>
          <a:bodyPr/>
          <a:p/>
        </p:txBody>
      </p:sp>
      <p:sp>
        <p:nvSpPr>
          <p:cNvPr id="17" name="Shape 15"/>
          <p:cNvSpPr/>
          <p:nvPr/>
        </p:nvSpPr>
        <p:spPr>
          <a:xfrm>
            <a:off x="6428232" y="2450592"/>
            <a:ext cx="3822192" cy="2020824"/>
          </a:xfrm>
          <a:prstGeom prst="roundRect">
            <a:avLst>
              <a:gd name="adj" fmla="val 5882"/>
            </a:avLst>
          </a:prstGeom>
          <a:solidFill>
            <a:srgbClr val="0A2134"/>
          </a:solidFill>
          <a:ln w="12700">
            <a:solidFill>
              <a:srgbClr val="0A2134">
                <a:alpha val="0"/>
              </a:srgbClr>
            </a:solidFill>
            <a:prstDash val="solid"/>
          </a:ln>
        </p:spPr>
        <p:txBody>
          <a:bodyPr/>
          <a:p/>
        </p:txBody>
      </p:sp>
      <p:sp>
        <p:nvSpPr>
          <p:cNvPr id="18" name="Text 16"/>
          <p:cNvSpPr/>
          <p:nvPr/>
        </p:nvSpPr>
        <p:spPr>
          <a:xfrm>
            <a:off x="6675120" y="2724912"/>
            <a:ext cx="3172968" cy="685800"/>
          </a:xfrm>
          <a:prstGeom prst="rect">
            <a:avLst/>
          </a:prstGeom>
          <a:noFill/>
          <a:ln/>
        </p:spPr>
        <p:txBody>
          <a:bodyPr wrap="square" lIns="0" tIns="0" rIns="0" bIns="0" rtlCol="0" anchor="ctr">
            <a:normAutofit/>
          </a:bodyPr>
          <a:lstStyle/>
          <a:p>
            <a:pPr indent="0" marL="0">
              <a:buNone/>
            </a:pPr>
            <a:r>
              <a:rPr lang="en-US" sz="4700" b="1" dirty="0">
                <a:solidFill>
                  <a:srgbClr val="FFFFFF"/>
                </a:solidFill>
                <a:latin typeface="Aptos Display" pitchFamily="34" charset="0"/>
                <a:ea typeface="Aptos Display" pitchFamily="34" charset="-122"/>
                <a:cs typeface="Aptos Display" pitchFamily="34" charset="-120"/>
              </a:rPr>
              <a:t>2</a:t>
            </a:r>
            <a:endParaRPr lang="en-US" sz="4700" dirty="0"/>
          </a:p>
        </p:txBody>
      </p:sp>
      <p:sp>
        <p:nvSpPr>
          <p:cNvPr id="19" name="Text 17"/>
          <p:cNvSpPr/>
          <p:nvPr/>
        </p:nvSpPr>
        <p:spPr>
          <a:xfrm>
            <a:off x="6702552" y="3730752"/>
            <a:ext cx="3063240" cy="310896"/>
          </a:xfrm>
          <a:prstGeom prst="rect">
            <a:avLst/>
          </a:prstGeom>
          <a:noFill/>
          <a:ln/>
        </p:spPr>
        <p:txBody>
          <a:bodyPr wrap="square" lIns="0" tIns="0" rIns="0" bIns="0" rtlCol="0" anchor="ctr">
            <a:normAutofit/>
          </a:bodyPr>
          <a:lstStyle/>
          <a:p>
            <a:pPr indent="0" marL="0">
              <a:buNone/>
            </a:pPr>
            <a:r>
              <a:rPr lang="en-US" sz="1800" dirty="0">
                <a:solidFill>
                  <a:srgbClr val="C2DAE0"/>
                </a:solidFill>
                <a:latin typeface="Aptos" pitchFamily="34" charset="0"/>
                <a:ea typeface="Aptos" pitchFamily="34" charset="-122"/>
                <a:cs typeface="Aptos" pitchFamily="34" charset="-120"/>
              </a:rPr>
              <a:t>SVD components</a:t>
            </a:r>
            <a:endParaRPr lang="en-US" sz="1800" dirty="0"/>
          </a:p>
        </p:txBody>
      </p:sp>
      <p:sp>
        <p:nvSpPr>
          <p:cNvPr id="20" name="Shape 18"/>
          <p:cNvSpPr/>
          <p:nvPr/>
        </p:nvSpPr>
        <p:spPr>
          <a:xfrm>
            <a:off x="987552" y="4892040"/>
            <a:ext cx="9244584" cy="795528"/>
          </a:xfrm>
          <a:prstGeom prst="roundRect">
            <a:avLst>
              <a:gd name="adj" fmla="val 14943"/>
            </a:avLst>
          </a:prstGeom>
          <a:solidFill>
            <a:srgbClr val="E6F5F2"/>
          </a:solidFill>
          <a:ln w="12700">
            <a:solidFill>
              <a:srgbClr val="E6F5F2">
                <a:alpha val="0"/>
              </a:srgbClr>
            </a:solidFill>
            <a:prstDash val="solid"/>
          </a:ln>
        </p:spPr>
        <p:txBody>
          <a:bodyPr/>
          <a:p/>
        </p:txBody>
      </p:sp>
      <p:sp>
        <p:nvSpPr>
          <p:cNvPr id="21" name="Text 19"/>
          <p:cNvSpPr/>
          <p:nvPr/>
        </p:nvSpPr>
        <p:spPr>
          <a:xfrm>
            <a:off x="1261872" y="5020056"/>
            <a:ext cx="8732520" cy="393192"/>
          </a:xfrm>
          <a:prstGeom prst="rect">
            <a:avLst/>
          </a:prstGeom>
          <a:noFill/>
          <a:ln/>
        </p:spPr>
        <p:txBody>
          <a:bodyPr wrap="square" lIns="0" tIns="0" rIns="0" bIns="0" rtlCol="0" anchor="ctr">
            <a:normAutofit/>
          </a:bodyPr>
          <a:lstStyle/>
          <a:p>
            <a:pPr indent="0" marL="0">
              <a:buNone/>
            </a:pPr>
            <a:r>
              <a:rPr lang="en-US" sz="2100" b="1" dirty="0">
                <a:solidFill>
                  <a:srgbClr val="112D40"/>
                </a:solidFill>
                <a:latin typeface="Aptos Display" pitchFamily="34" charset="0"/>
                <a:ea typeface="Aptos Display" pitchFamily="34" charset="-122"/>
                <a:cs typeface="Aptos Display" pitchFamily="34" charset="-120"/>
              </a:rPr>
              <a:t>Explained variance = 5.18%   ≠   Accuracy</a:t>
            </a:r>
            <a:endParaRPr lang="en-US" sz="2100" dirty="0"/>
          </a:p>
        </p:txBody>
      </p:sp>
      <p:sp>
        <p:nvSpPr>
          <p:cNvPr id="22" name="Text 20"/>
          <p:cNvSpPr/>
          <p:nvPr/>
        </p:nvSpPr>
        <p:spPr>
          <a:xfrm>
            <a:off x="1069848" y="5907024"/>
            <a:ext cx="10085832" cy="310896"/>
          </a:xfrm>
          <a:prstGeom prst="rect">
            <a:avLst/>
          </a:prstGeom>
          <a:noFill/>
          <a:ln/>
        </p:spPr>
        <p:txBody>
          <a:bodyPr wrap="square" lIns="0" tIns="0" rIns="0" bIns="0" rtlCol="0" anchor="ctr">
            <a:normAutofit/>
          </a:bodyPr>
          <a:lstStyle/>
          <a:p>
            <a:pPr indent="0" marL="0">
              <a:buNone/>
            </a:pPr>
            <a:r>
              <a:rPr lang="en-US" sz="1390" dirty="0">
                <a:solidFill>
                  <a:srgbClr val="587082"/>
                </a:solidFill>
                <a:latin typeface="Aptos" pitchFamily="34" charset="0"/>
                <a:ea typeface="Aptos" pitchFamily="34" charset="-122"/>
                <a:cs typeface="Aptos" pitchFamily="34" charset="-120"/>
              </a:rPr>
              <a:t>Trade-off: easier visualization, but SVD preserves variance—not necessarily class separation.</a:t>
            </a:r>
            <a:endParaRPr lang="en-US" sz="139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4"/>
                                  </p:tgtEl>
                                  <p:attrNameLst>
                                    <p:attrName>style.visibility</p:attrName>
                                  </p:attrNameLst>
                                </p:cBhvr>
                                <p:to>
                                  <p:strVal val="visible"/>
                                </p:to>
                              </p:set>
                              <p:animEffect transition="in" filter="fade">
                                <p:cBhvr>
                                  <p:cTn id="23" dur="520"/>
                                  <p:tgtEl>
                                    <p:spTgt spid="14"/>
                                  </p:tgtEl>
                                </p:cBhvr>
                              </p:animEffect>
                            </p:childTnLst>
                          </p:cTn>
                        </p:par>
                      </p:childTnLst>
                    </p:cTn>
                  </p:par>
                  <p:par>
                    <p:cTn id="25" fill="hold">
                      <p:stCondLst>
                        <p:cond delay="1440"/>
                      </p:stCondLst>
                      <p:childTnLst>
                        <p:par>
                          <p:cTn id="26" fill="hold">
                            <p:childTnLst>
                              <p:set>
                                <p:cBhvr>
                                  <p:cTn id="27" dur="1" fill="hold">
                                    <p:stCondLst>
                                      <p:cond delay="0"/>
                                    </p:stCondLst>
                                  </p:cTn>
                                  <p:tgtEl>
                                    <p:spTgt spid="21"/>
                                  </p:tgtEl>
                                  <p:attrNameLst>
                                    <p:attrName>style.visibility</p:attrName>
                                  </p:attrNameLst>
                                </p:cBhvr>
                                <p:to>
                                  <p:strVal val="visible"/>
                                </p:to>
                              </p:set>
                              <p:animEffect transition="in" filter="fade">
                                <p:cBhvr>
                                  <p:cTn id="28" dur="520"/>
                                  <p:tgtEl>
                                    <p:spTgt spid="21"/>
                                  </p:tgtEl>
                                </p:cBhvr>
                              </p:animEffect>
                            </p:childTnLst>
                          </p:cTn>
                        </p:par>
                      </p:childTnLst>
                    </p:cTn>
                  </p:par>
                </p:childTnLst>
              </p:cTn>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TRADITIONAL ML · MODEL LOGIC</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15 / 21</a:t>
            </a:r>
            <a:endParaRPr lang="en-US" sz="1000" dirty="0"/>
          </a:p>
        </p:txBody>
      </p:sp>
      <p:sp>
        <p:nvSpPr>
          <p:cNvPr id="7" name="Shape 5"/>
          <p:cNvSpPr/>
          <p:nvPr/>
        </p:nvSpPr>
        <p:spPr>
          <a:xfrm>
            <a:off x="585216" y="6473952"/>
            <a:ext cx="7197918"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LEARNING ALGORITHM</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Linear SVM selects a boundary with a margin</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Support vectors are training points influencing the separating line.</a:t>
            </a:r>
            <a:endParaRPr lang="en-US" sz="1420" dirty="0"/>
          </a:p>
        </p:txBody>
      </p:sp>
      <p:sp>
        <p:nvSpPr>
          <p:cNvPr id="12" name="Shape 10"/>
          <p:cNvSpPr/>
          <p:nvPr/>
        </p:nvSpPr>
        <p:spPr>
          <a:xfrm>
            <a:off x="822960" y="2258568"/>
            <a:ext cx="5989320" cy="3447288"/>
          </a:xfrm>
          <a:prstGeom prst="roundRect">
            <a:avLst>
              <a:gd name="adj" fmla="val 3448"/>
            </a:avLst>
          </a:prstGeom>
          <a:solidFill>
            <a:srgbClr val="FFFFFF"/>
          </a:solidFill>
          <a:ln w="12700">
            <a:solidFill>
              <a:srgbClr val="FFFFFF">
                <a:alpha val="0"/>
              </a:srgbClr>
            </a:solidFill>
            <a:prstDash val="solid"/>
          </a:ln>
        </p:spPr>
        <p:txBody>
          <a:bodyPr/>
          <a:p/>
        </p:txBody>
      </p:sp>
      <p:sp>
        <p:nvSpPr>
          <p:cNvPr id="13" name="Shape 11"/>
          <p:cNvSpPr/>
          <p:nvPr/>
        </p:nvSpPr>
        <p:spPr>
          <a:xfrm>
            <a:off x="1143000" y="5340096"/>
            <a:ext cx="5202936" cy="0"/>
          </a:xfrm>
          <a:prstGeom prst="line">
            <a:avLst/>
          </a:prstGeom>
          <a:noFill/>
          <a:ln w="12700">
            <a:solidFill>
              <a:srgbClr val="D7E3E7"/>
            </a:solidFill>
            <a:prstDash val="solid"/>
            <a:headEnd type="none"/>
            <a:tailEnd type="none"/>
          </a:ln>
        </p:spPr>
        <p:txBody>
          <a:bodyPr/>
          <a:p/>
        </p:txBody>
      </p:sp>
      <p:sp>
        <p:nvSpPr>
          <p:cNvPr id="14" name="Shape 12"/>
          <p:cNvSpPr/>
          <p:nvPr/>
        </p:nvSpPr>
        <p:spPr>
          <a:xfrm>
            <a:off x="1325880" y="2596896"/>
            <a:ext cx="0" cy="2889504"/>
          </a:xfrm>
          <a:prstGeom prst="line">
            <a:avLst/>
          </a:prstGeom>
          <a:noFill/>
          <a:ln w="12700">
            <a:solidFill>
              <a:srgbClr val="D7E3E7"/>
            </a:solidFill>
            <a:prstDash val="solid"/>
            <a:headEnd type="none"/>
            <a:tailEnd type="none"/>
          </a:ln>
        </p:spPr>
        <p:txBody>
          <a:bodyPr/>
          <a:p/>
        </p:txBody>
      </p:sp>
      <p:sp>
        <p:nvSpPr>
          <p:cNvPr id="15" name="Shape 13"/>
          <p:cNvSpPr/>
          <p:nvPr/>
        </p:nvSpPr>
        <p:spPr>
          <a:xfrm>
            <a:off x="1920240" y="4910328"/>
            <a:ext cx="3858768" cy="-2066544"/>
          </a:xfrm>
          <a:prstGeom prst="line">
            <a:avLst/>
          </a:prstGeom>
          <a:noFill/>
          <a:ln w="30480">
            <a:solidFill>
              <a:srgbClr val="112D40"/>
            </a:solidFill>
            <a:prstDash val="solid"/>
            <a:headEnd type="none"/>
            <a:tailEnd type="none"/>
          </a:ln>
        </p:spPr>
        <p:txBody>
          <a:bodyPr/>
          <a:p/>
        </p:txBody>
      </p:sp>
      <p:sp>
        <p:nvSpPr>
          <p:cNvPr id="16" name="Shape 14"/>
          <p:cNvSpPr/>
          <p:nvPr/>
        </p:nvSpPr>
        <p:spPr>
          <a:xfrm>
            <a:off x="1691640" y="4489704"/>
            <a:ext cx="3858768" cy="-2066544"/>
          </a:xfrm>
          <a:prstGeom prst="line">
            <a:avLst/>
          </a:prstGeom>
          <a:noFill/>
          <a:ln w="12700">
            <a:solidFill>
              <a:srgbClr val="008E85"/>
            </a:solidFill>
            <a:prstDash val="solid"/>
            <a:headEnd type="none"/>
            <a:tailEnd type="none"/>
          </a:ln>
        </p:spPr>
        <p:txBody>
          <a:bodyPr/>
          <a:p/>
        </p:txBody>
      </p:sp>
      <p:sp>
        <p:nvSpPr>
          <p:cNvPr id="17" name="Shape 15"/>
          <p:cNvSpPr/>
          <p:nvPr/>
        </p:nvSpPr>
        <p:spPr>
          <a:xfrm>
            <a:off x="2148840" y="5321808"/>
            <a:ext cx="3858768" cy="-2066544"/>
          </a:xfrm>
          <a:prstGeom prst="line">
            <a:avLst/>
          </a:prstGeom>
          <a:noFill/>
          <a:ln w="12700">
            <a:solidFill>
              <a:srgbClr val="008E85"/>
            </a:solidFill>
            <a:prstDash val="solid"/>
            <a:headEnd type="none"/>
            <a:tailEnd type="none"/>
          </a:ln>
        </p:spPr>
        <p:txBody>
          <a:bodyPr/>
          <a:p/>
        </p:txBody>
      </p:sp>
      <p:sp>
        <p:nvSpPr>
          <p:cNvPr id="18" name="Shape 16"/>
          <p:cNvSpPr/>
          <p:nvPr/>
        </p:nvSpPr>
        <p:spPr>
          <a:xfrm>
            <a:off x="1975104" y="3044952"/>
            <a:ext cx="164592" cy="164592"/>
          </a:xfrm>
          <a:prstGeom prst="ellipse">
            <a:avLst/>
          </a:prstGeom>
          <a:solidFill>
            <a:srgbClr val="008E85"/>
          </a:solidFill>
          <a:ln w="12700">
            <a:solidFill>
              <a:srgbClr val="008E85"/>
            </a:solidFill>
            <a:prstDash val="solid"/>
          </a:ln>
        </p:spPr>
        <p:txBody>
          <a:bodyPr/>
          <a:p/>
        </p:txBody>
      </p:sp>
      <p:sp>
        <p:nvSpPr>
          <p:cNvPr id="19" name="Shape 17"/>
          <p:cNvSpPr/>
          <p:nvPr/>
        </p:nvSpPr>
        <p:spPr>
          <a:xfrm>
            <a:off x="2706624" y="2587752"/>
            <a:ext cx="164592" cy="164592"/>
          </a:xfrm>
          <a:prstGeom prst="ellipse">
            <a:avLst/>
          </a:prstGeom>
          <a:solidFill>
            <a:srgbClr val="008E85"/>
          </a:solidFill>
          <a:ln w="12700">
            <a:solidFill>
              <a:srgbClr val="008E85"/>
            </a:solidFill>
            <a:prstDash val="solid"/>
          </a:ln>
        </p:spPr>
        <p:txBody>
          <a:bodyPr/>
          <a:p/>
        </p:txBody>
      </p:sp>
      <p:sp>
        <p:nvSpPr>
          <p:cNvPr id="20" name="Shape 18"/>
          <p:cNvSpPr/>
          <p:nvPr/>
        </p:nvSpPr>
        <p:spPr>
          <a:xfrm>
            <a:off x="3547872" y="2907792"/>
            <a:ext cx="164592" cy="164592"/>
          </a:xfrm>
          <a:prstGeom prst="ellipse">
            <a:avLst/>
          </a:prstGeom>
          <a:solidFill>
            <a:srgbClr val="008E85"/>
          </a:solidFill>
          <a:ln w="12700">
            <a:solidFill>
              <a:srgbClr val="008E85"/>
            </a:solidFill>
            <a:prstDash val="solid"/>
          </a:ln>
        </p:spPr>
        <p:txBody>
          <a:bodyPr/>
          <a:p/>
        </p:txBody>
      </p:sp>
      <p:sp>
        <p:nvSpPr>
          <p:cNvPr id="21" name="Shape 19"/>
          <p:cNvSpPr/>
          <p:nvPr/>
        </p:nvSpPr>
        <p:spPr>
          <a:xfrm>
            <a:off x="2971800" y="3749040"/>
            <a:ext cx="164592" cy="164592"/>
          </a:xfrm>
          <a:prstGeom prst="ellipse">
            <a:avLst/>
          </a:prstGeom>
          <a:solidFill>
            <a:srgbClr val="008E85"/>
          </a:solidFill>
          <a:ln w="12700">
            <a:solidFill>
              <a:srgbClr val="008E85"/>
            </a:solidFill>
            <a:prstDash val="solid"/>
          </a:ln>
        </p:spPr>
        <p:txBody>
          <a:bodyPr/>
          <a:p/>
        </p:txBody>
      </p:sp>
      <p:sp>
        <p:nvSpPr>
          <p:cNvPr id="22" name="Shape 20"/>
          <p:cNvSpPr/>
          <p:nvPr/>
        </p:nvSpPr>
        <p:spPr>
          <a:xfrm>
            <a:off x="4443984" y="2926080"/>
            <a:ext cx="164592" cy="164592"/>
          </a:xfrm>
          <a:prstGeom prst="ellipse">
            <a:avLst/>
          </a:prstGeom>
          <a:solidFill>
            <a:srgbClr val="008E85"/>
          </a:solidFill>
          <a:ln w="12700">
            <a:solidFill>
              <a:srgbClr val="008E85"/>
            </a:solidFill>
            <a:prstDash val="solid"/>
          </a:ln>
        </p:spPr>
        <p:txBody>
          <a:bodyPr/>
          <a:p/>
        </p:txBody>
      </p:sp>
      <p:sp>
        <p:nvSpPr>
          <p:cNvPr id="23" name="Shape 21"/>
          <p:cNvSpPr/>
          <p:nvPr/>
        </p:nvSpPr>
        <p:spPr>
          <a:xfrm>
            <a:off x="4069080" y="4782312"/>
            <a:ext cx="164592" cy="164592"/>
          </a:xfrm>
          <a:prstGeom prst="ellipse">
            <a:avLst/>
          </a:prstGeom>
          <a:solidFill>
            <a:srgbClr val="0A2134"/>
          </a:solidFill>
          <a:ln w="12700">
            <a:solidFill>
              <a:srgbClr val="0A2134"/>
            </a:solidFill>
            <a:prstDash val="solid"/>
          </a:ln>
        </p:spPr>
        <p:txBody>
          <a:bodyPr/>
          <a:p/>
        </p:txBody>
      </p:sp>
      <p:sp>
        <p:nvSpPr>
          <p:cNvPr id="24" name="Shape 22"/>
          <p:cNvSpPr/>
          <p:nvPr/>
        </p:nvSpPr>
        <p:spPr>
          <a:xfrm>
            <a:off x="5001768" y="4956048"/>
            <a:ext cx="164592" cy="164592"/>
          </a:xfrm>
          <a:prstGeom prst="ellipse">
            <a:avLst/>
          </a:prstGeom>
          <a:solidFill>
            <a:srgbClr val="0A2134"/>
          </a:solidFill>
          <a:ln w="12700">
            <a:solidFill>
              <a:srgbClr val="0A2134"/>
            </a:solidFill>
            <a:prstDash val="solid"/>
          </a:ln>
        </p:spPr>
        <p:txBody>
          <a:bodyPr/>
          <a:p/>
        </p:txBody>
      </p:sp>
      <p:sp>
        <p:nvSpPr>
          <p:cNvPr id="25" name="Shape 23"/>
          <p:cNvSpPr/>
          <p:nvPr/>
        </p:nvSpPr>
        <p:spPr>
          <a:xfrm>
            <a:off x="3182112" y="4846320"/>
            <a:ext cx="164592" cy="164592"/>
          </a:xfrm>
          <a:prstGeom prst="ellipse">
            <a:avLst/>
          </a:prstGeom>
          <a:solidFill>
            <a:srgbClr val="0A2134"/>
          </a:solidFill>
          <a:ln w="12700">
            <a:solidFill>
              <a:srgbClr val="0A2134"/>
            </a:solidFill>
            <a:prstDash val="solid"/>
          </a:ln>
        </p:spPr>
        <p:txBody>
          <a:bodyPr/>
          <a:p/>
        </p:txBody>
      </p:sp>
      <p:sp>
        <p:nvSpPr>
          <p:cNvPr id="26" name="Shape 24"/>
          <p:cNvSpPr/>
          <p:nvPr/>
        </p:nvSpPr>
        <p:spPr>
          <a:xfrm>
            <a:off x="5257800" y="4160520"/>
            <a:ext cx="164592" cy="164592"/>
          </a:xfrm>
          <a:prstGeom prst="ellipse">
            <a:avLst/>
          </a:prstGeom>
          <a:solidFill>
            <a:srgbClr val="0A2134"/>
          </a:solidFill>
          <a:ln w="12700">
            <a:solidFill>
              <a:srgbClr val="0A2134"/>
            </a:solidFill>
            <a:prstDash val="solid"/>
          </a:ln>
        </p:spPr>
        <p:txBody>
          <a:bodyPr/>
          <a:p/>
        </p:txBody>
      </p:sp>
      <p:sp>
        <p:nvSpPr>
          <p:cNvPr id="27" name="Shape 25"/>
          <p:cNvSpPr/>
          <p:nvPr/>
        </p:nvSpPr>
        <p:spPr>
          <a:xfrm>
            <a:off x="5522976" y="5166360"/>
            <a:ext cx="164592" cy="164592"/>
          </a:xfrm>
          <a:prstGeom prst="ellipse">
            <a:avLst/>
          </a:prstGeom>
          <a:solidFill>
            <a:srgbClr val="0A2134"/>
          </a:solidFill>
          <a:ln w="12700">
            <a:solidFill>
              <a:srgbClr val="0A2134"/>
            </a:solidFill>
            <a:prstDash val="solid"/>
          </a:ln>
        </p:spPr>
        <p:txBody>
          <a:bodyPr/>
          <a:p/>
        </p:txBody>
      </p:sp>
      <p:sp>
        <p:nvSpPr>
          <p:cNvPr id="28" name="Text 26"/>
          <p:cNvSpPr/>
          <p:nvPr/>
        </p:nvSpPr>
        <p:spPr>
          <a:xfrm>
            <a:off x="1060704" y="5495544"/>
            <a:ext cx="5532120" cy="173736"/>
          </a:xfrm>
          <a:prstGeom prst="rect">
            <a:avLst/>
          </a:prstGeom>
          <a:noFill/>
          <a:ln/>
        </p:spPr>
        <p:txBody>
          <a:bodyPr wrap="square" lIns="0" tIns="0" rIns="0" bIns="0" rtlCol="0" anchor="ctr">
            <a:normAutofit/>
          </a:bodyPr>
          <a:lstStyle/>
          <a:p>
            <a:pPr indent="0" marL="0">
              <a:buNone/>
            </a:pPr>
            <a:r>
              <a:rPr lang="en-US" sz="930" b="1" dirty="0">
                <a:solidFill>
                  <a:srgbClr val="587082"/>
                </a:solidFill>
                <a:latin typeface="Aptos Display" pitchFamily="34" charset="0"/>
                <a:ea typeface="Aptos Display" pitchFamily="34" charset="-122"/>
                <a:cs typeface="Aptos Display" pitchFamily="34" charset="-120"/>
              </a:rPr>
              <a:t>ILLUSTRATIVE MARGIN GEOMETRY  ·  NOT THE PROJECT BOUNDARY</a:t>
            </a:r>
            <a:endParaRPr lang="en-US" sz="930" dirty="0"/>
          </a:p>
        </p:txBody>
      </p:sp>
      <p:sp>
        <p:nvSpPr>
          <p:cNvPr id="29" name="Shape 27"/>
          <p:cNvSpPr/>
          <p:nvPr/>
        </p:nvSpPr>
        <p:spPr>
          <a:xfrm>
            <a:off x="7104888" y="2258568"/>
            <a:ext cx="4251960" cy="3447288"/>
          </a:xfrm>
          <a:prstGeom prst="roundRect">
            <a:avLst>
              <a:gd name="adj" fmla="val 3448"/>
            </a:avLst>
          </a:prstGeom>
          <a:solidFill>
            <a:srgbClr val="0A2134"/>
          </a:solidFill>
          <a:ln w="12700">
            <a:solidFill>
              <a:srgbClr val="0A2134">
                <a:alpha val="0"/>
              </a:srgbClr>
            </a:solidFill>
            <a:prstDash val="solid"/>
          </a:ln>
        </p:spPr>
        <p:txBody>
          <a:bodyPr/>
          <a:p/>
        </p:txBody>
      </p:sp>
      <p:sp>
        <p:nvSpPr>
          <p:cNvPr id="30" name="Text 28"/>
          <p:cNvSpPr/>
          <p:nvPr/>
        </p:nvSpPr>
        <p:spPr>
          <a:xfrm>
            <a:off x="7360920" y="2569464"/>
            <a:ext cx="3721608" cy="301752"/>
          </a:xfrm>
          <a:prstGeom prst="rect">
            <a:avLst/>
          </a:prstGeom>
          <a:noFill/>
          <a:ln/>
        </p:spPr>
        <p:txBody>
          <a:bodyPr wrap="square" lIns="0" tIns="0" rIns="0" bIns="0" rtlCol="0" anchor="ctr">
            <a:normAutofit/>
          </a:bodyPr>
          <a:lstStyle/>
          <a:p>
            <a:pPr indent="0" marL="0">
              <a:buNone/>
            </a:pPr>
            <a:r>
              <a:rPr lang="en-US" sz="1600" b="1" dirty="0">
                <a:solidFill>
                  <a:srgbClr val="A4E9DF"/>
                </a:solidFill>
                <a:latin typeface="Aptos Display" pitchFamily="34" charset="0"/>
                <a:ea typeface="Aptos Display" pitchFamily="34" charset="-122"/>
                <a:cs typeface="Aptos Display" pitchFamily="34" charset="-120"/>
              </a:rPr>
              <a:t>OUR FITTED SETTINGS</a:t>
            </a:r>
            <a:endParaRPr lang="en-US" sz="1600" dirty="0"/>
          </a:p>
        </p:txBody>
      </p:sp>
      <p:sp>
        <p:nvSpPr>
          <p:cNvPr id="31" name="Text 29"/>
          <p:cNvSpPr/>
          <p:nvPr/>
        </p:nvSpPr>
        <p:spPr>
          <a:xfrm>
            <a:off x="7360920" y="3081528"/>
            <a:ext cx="3721608" cy="512064"/>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Display" pitchFamily="34" charset="0"/>
                <a:ea typeface="Aptos Display" pitchFamily="34" charset="-122"/>
                <a:cs typeface="Aptos Display" pitchFamily="34" charset="-120"/>
              </a:rPr>
              <a:t>SVC(kernel="linear", C=1.0)</a:t>
            </a:r>
            <a:endParaRPr lang="en-US" sz="1700" dirty="0"/>
          </a:p>
        </p:txBody>
      </p:sp>
      <p:sp>
        <p:nvSpPr>
          <p:cNvPr id="32" name="Text 30"/>
          <p:cNvSpPr/>
          <p:nvPr/>
        </p:nvSpPr>
        <p:spPr>
          <a:xfrm>
            <a:off x="7360920" y="3822192"/>
            <a:ext cx="3602736" cy="658368"/>
          </a:xfrm>
          <a:prstGeom prst="rect">
            <a:avLst/>
          </a:prstGeom>
          <a:noFill/>
          <a:ln/>
        </p:spPr>
        <p:txBody>
          <a:bodyPr wrap="square" lIns="0" tIns="0" rIns="0" bIns="0" rtlCol="0" anchor="ctr">
            <a:normAutofit/>
          </a:bodyPr>
          <a:lstStyle/>
          <a:p>
            <a:pPr indent="0" marL="0">
              <a:buNone/>
            </a:pPr>
            <a:r>
              <a:rPr lang="en-US" sz="1530" dirty="0">
                <a:solidFill>
                  <a:srgbClr val="FFFFFF"/>
                </a:solidFill>
                <a:latin typeface="Aptos" pitchFamily="34" charset="0"/>
                <a:ea typeface="Aptos" pitchFamily="34" charset="-122"/>
                <a:cs typeface="Aptos" pitchFamily="34" charset="-120"/>
              </a:rPr>
              <a:t>C: penalty for classification errors versus margin width.</a:t>
            </a:r>
            <a:endParaRPr lang="en-US" sz="1530" dirty="0"/>
          </a:p>
        </p:txBody>
      </p:sp>
      <p:sp>
        <p:nvSpPr>
          <p:cNvPr id="33" name="Text 31"/>
          <p:cNvSpPr/>
          <p:nvPr/>
        </p:nvSpPr>
        <p:spPr>
          <a:xfrm>
            <a:off x="7360920" y="4809744"/>
            <a:ext cx="3675888" cy="566928"/>
          </a:xfrm>
          <a:prstGeom prst="rect">
            <a:avLst/>
          </a:prstGeom>
          <a:noFill/>
          <a:ln/>
        </p:spPr>
        <p:txBody>
          <a:bodyPr wrap="square" lIns="0" tIns="0" rIns="0" bIns="0" rtlCol="0" anchor="ctr">
            <a:normAutofit/>
          </a:bodyPr>
          <a:lstStyle/>
          <a:p>
            <a:pPr indent="0" marL="0">
              <a:buNone/>
            </a:pPr>
            <a:r>
              <a:rPr lang="en-US" sz="1450" dirty="0">
                <a:solidFill>
                  <a:srgbClr val="BFDDE1"/>
                </a:solidFill>
                <a:latin typeface="Aptos" pitchFamily="34" charset="0"/>
                <a:ea typeface="Aptos" pitchFamily="34" charset="-122"/>
                <a:cs typeface="Aptos" pitchFamily="34" charset="-120"/>
              </a:rPr>
              <a:t>Support vectors: 17 Support + 17 Sales = 34.</a:t>
            </a:r>
            <a:endParaRPr lang="en-US" sz="1450" dirty="0"/>
          </a:p>
        </p:txBody>
      </p:sp>
      <p:sp>
        <p:nvSpPr>
          <p:cNvPr id="34" name="Text 32"/>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The diagram on this slide is explanatory; the authentic fitted decision boundary appears next.</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30"/>
                                  </p:tgtEl>
                                  <p:attrNameLst>
                                    <p:attrName>style.visibility</p:attrName>
                                  </p:attrNameLst>
                                </p:cBhvr>
                                <p:to>
                                  <p:strVal val="visible"/>
                                </p:to>
                              </p:set>
                              <p:animEffect transition="in" filter="fade">
                                <p:cBhvr>
                                  <p:cTn id="23" dur="520"/>
                                  <p:tgtEl>
                                    <p:spTgt spid="30"/>
                                  </p:tgtEl>
                                </p:cBhvr>
                              </p:animEffect>
                            </p:childTnLst>
                          </p:cTn>
                        </p:par>
                      </p:childTnLst>
                    </p:cTn>
                  </p:par>
                  <p:par>
                    <p:cTn id="25" fill="hold">
                      <p:stCondLst>
                        <p:cond delay="1440"/>
                      </p:stCondLst>
                      <p:childTnLst>
                        <p:par>
                          <p:cTn id="26" fill="hold">
                            <p:childTnLst>
                              <p:set>
                                <p:cBhvr>
                                  <p:cTn id="27" dur="1" fill="hold">
                                    <p:stCondLst>
                                      <p:cond delay="0"/>
                                    </p:stCondLst>
                                  </p:cTn>
                                  <p:tgtEl>
                                    <p:spTgt spid="31"/>
                                  </p:tgtEl>
                                  <p:attrNameLst>
                                    <p:attrName>style.visibility</p:attrName>
                                  </p:attrNameLst>
                                </p:cBhvr>
                                <p:to>
                                  <p:strVal val="visible"/>
                                </p:to>
                              </p:set>
                              <p:animEffect transition="in" filter="fade">
                                <p:cBhvr>
                                  <p:cTn id="28" dur="520"/>
                                  <p:tgtEl>
                                    <p:spTgt spid="31"/>
                                  </p:tgtEl>
                                </p:cBhvr>
                              </p:animEffect>
                            </p:childTnLst>
                          </p:cTn>
                        </p:par>
                      </p:childTnLst>
                    </p:cTn>
                  </p:par>
                </p:childTnLst>
              </p:cTn>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134"/>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B1CCD1"/>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B1CCD1"/>
                </a:solidFill>
                <a:latin typeface="Aptos Display" pitchFamily="34" charset="0"/>
                <a:ea typeface="Aptos Display" pitchFamily="34" charset="-122"/>
                <a:cs typeface="Aptos Display" pitchFamily="34" charset="-120"/>
              </a:rPr>
              <a:t>MODEL GEOMETRY</a:t>
            </a:r>
            <a:endParaRPr lang="en-US" sz="1000" dirty="0"/>
          </a:p>
        </p:txBody>
      </p:sp>
      <p:sp>
        <p:nvSpPr>
          <p:cNvPr id="4" name="Shape 2"/>
          <p:cNvSpPr/>
          <p:nvPr/>
        </p:nvSpPr>
        <p:spPr>
          <a:xfrm>
            <a:off x="585216" y="6519672"/>
            <a:ext cx="11027664" cy="0"/>
          </a:xfrm>
          <a:prstGeom prst="line">
            <a:avLst/>
          </a:prstGeom>
          <a:noFill/>
          <a:ln w="10160">
            <a:solidFill>
              <a:srgbClr val="294A5B"/>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B1CCD1"/>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B1CCD1"/>
                </a:solidFill>
                <a:latin typeface="Aptos Display" pitchFamily="34" charset="0"/>
                <a:ea typeface="Aptos Display" pitchFamily="34" charset="-122"/>
                <a:cs typeface="Aptos Display" pitchFamily="34" charset="-120"/>
              </a:rPr>
              <a:t>16 / 21</a:t>
            </a:r>
            <a:endParaRPr lang="en-US" sz="1000" dirty="0"/>
          </a:p>
        </p:txBody>
      </p:sp>
      <p:sp>
        <p:nvSpPr>
          <p:cNvPr id="7" name="Shape 5"/>
          <p:cNvSpPr/>
          <p:nvPr/>
        </p:nvSpPr>
        <p:spPr>
          <a:xfrm>
            <a:off x="585216" y="6473952"/>
            <a:ext cx="7677779"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1B4B56"/>
          </a:solidFill>
          <a:ln w="12700">
            <a:solidFill>
              <a:srgbClr val="1B4B56">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86E6D4"/>
                </a:solidFill>
                <a:latin typeface="Aptos Display" pitchFamily="34" charset="0"/>
                <a:ea typeface="Aptos Display" pitchFamily="34" charset="-122"/>
                <a:cs typeface="Aptos Display" pitchFamily="34" charset="-120"/>
              </a:rPr>
              <a:t>MODEL GEOMETRY</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FFFFFF"/>
                </a:solidFill>
                <a:latin typeface="Aptos Display" pitchFamily="34" charset="0"/>
                <a:ea typeface="Aptos Display" pitchFamily="34" charset="-122"/>
                <a:cs typeface="Aptos Display" pitchFamily="34" charset="-120"/>
              </a:rPr>
              <a:t>The boundary is real because training is 2D</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C8DCE2"/>
                </a:solidFill>
                <a:latin typeface="Aptos" pitchFamily="34" charset="0"/>
                <a:ea typeface="Aptos" pitchFamily="34" charset="-122"/>
                <a:cs typeface="Aptos" pitchFamily="34" charset="-120"/>
              </a:rPr>
              <a:t>The black line is where model.decision_function(X) = 0.</a:t>
            </a:r>
            <a:endParaRPr lang="en-US" sz="1420" dirty="0"/>
          </a:p>
        </p:txBody>
      </p:sp>
      <p:sp>
        <p:nvSpPr>
          <p:cNvPr id="12" name="Shape 10"/>
          <p:cNvSpPr/>
          <p:nvPr/>
        </p:nvSpPr>
        <p:spPr>
          <a:xfrm>
            <a:off x="749808" y="2157984"/>
            <a:ext cx="7754112" cy="3776472"/>
          </a:xfrm>
          <a:prstGeom prst="roundRect">
            <a:avLst>
              <a:gd name="adj" fmla="val 3148"/>
            </a:avLst>
          </a:prstGeom>
          <a:solidFill>
            <a:srgbClr val="FFFFFF"/>
          </a:solidFill>
          <a:ln w="12700">
            <a:solidFill>
              <a:srgbClr val="FFFFFF">
                <a:alpha val="0"/>
              </a:srgbClr>
            </a:solidFill>
            <a:prstDash val="solid"/>
          </a:ln>
        </p:spPr>
        <p:txBody>
          <a:bodyPr/>
          <a:p/>
        </p:txBody>
      </p:sp>
      <p:pic>
        <p:nvPicPr>
          <p:cNvPr id="13" name="Image 0" descr="/mnt/data/kio_audit_temp/results/boundary.png">    </p:cNvPr>
          <p:cNvPicPr>
            <a:picLocks noChangeAspect="1"/>
          </p:cNvPicPr>
          <p:nvPr/>
        </p:nvPicPr>
        <p:blipFill>
          <a:blip r:embed="rId1"/>
          <a:stretch>
            <a:fillRect/>
          </a:stretch>
        </p:blipFill>
        <p:spPr>
          <a:xfrm>
            <a:off x="1024128" y="2340864"/>
            <a:ext cx="7187184" cy="3401568"/>
          </a:xfrm>
          <a:prstGeom prst="rect">
            <a:avLst/>
          </a:prstGeom>
        </p:spPr>
      </p:pic>
      <p:sp>
        <p:nvSpPr>
          <p:cNvPr id="14" name="Shape 11"/>
          <p:cNvSpPr/>
          <p:nvPr/>
        </p:nvSpPr>
        <p:spPr>
          <a:xfrm>
            <a:off x="8732520" y="2157984"/>
            <a:ext cx="2697480" cy="1078992"/>
          </a:xfrm>
          <a:prstGeom prst="roundRect">
            <a:avLst>
              <a:gd name="adj" fmla="val 11017"/>
            </a:avLst>
          </a:prstGeom>
          <a:solidFill>
            <a:srgbClr val="224659"/>
          </a:solidFill>
          <a:ln w="12700">
            <a:solidFill>
              <a:srgbClr val="224659">
                <a:alpha val="0"/>
              </a:srgbClr>
            </a:solidFill>
            <a:prstDash val="solid"/>
          </a:ln>
        </p:spPr>
        <p:txBody>
          <a:bodyPr/>
          <a:p/>
        </p:txBody>
      </p:sp>
      <p:sp>
        <p:nvSpPr>
          <p:cNvPr id="15" name="Text 12"/>
          <p:cNvSpPr/>
          <p:nvPr/>
        </p:nvSpPr>
        <p:spPr>
          <a:xfrm>
            <a:off x="8970264" y="2368296"/>
            <a:ext cx="2194560" cy="283464"/>
          </a:xfrm>
          <a:prstGeom prst="rect">
            <a:avLst/>
          </a:prstGeom>
          <a:noFill/>
          <a:ln/>
        </p:spPr>
        <p:txBody>
          <a:bodyPr wrap="square" lIns="0" tIns="0" rIns="0" bIns="0" rtlCol="0" anchor="ctr">
            <a:normAutofit/>
          </a:bodyPr>
          <a:lstStyle/>
          <a:p>
            <a:pPr indent="0" marL="0">
              <a:buNone/>
            </a:pPr>
            <a:r>
              <a:rPr lang="en-US" sz="1500" b="1" dirty="0">
                <a:solidFill>
                  <a:srgbClr val="9FE4DC"/>
                </a:solidFill>
                <a:latin typeface="Aptos Display" pitchFamily="34" charset="0"/>
                <a:ea typeface="Aptos Display" pitchFamily="34" charset="-122"/>
                <a:cs typeface="Aptos Display" pitchFamily="34" charset="-120"/>
              </a:rPr>
              <a:t>TRUE BOUNDARY</a:t>
            </a:r>
            <a:endParaRPr lang="en-US" sz="1500" dirty="0"/>
          </a:p>
        </p:txBody>
      </p:sp>
      <p:sp>
        <p:nvSpPr>
          <p:cNvPr id="16" name="Text 13"/>
          <p:cNvSpPr/>
          <p:nvPr/>
        </p:nvSpPr>
        <p:spPr>
          <a:xfrm>
            <a:off x="8979408" y="2743200"/>
            <a:ext cx="2194560" cy="347472"/>
          </a:xfrm>
          <a:prstGeom prst="rect">
            <a:avLst/>
          </a:prstGeom>
          <a:noFill/>
          <a:ln/>
        </p:spPr>
        <p:txBody>
          <a:bodyPr wrap="square" lIns="0" tIns="0" rIns="0" bIns="0" rtlCol="0" anchor="ctr">
            <a:normAutofit/>
          </a:bodyPr>
          <a:lstStyle/>
          <a:p>
            <a:pPr indent="0" marL="0">
              <a:buNone/>
            </a:pPr>
            <a:r>
              <a:rPr lang="en-US" sz="1170" dirty="0">
                <a:solidFill>
                  <a:srgbClr val="FFFFFF"/>
                </a:solidFill>
                <a:latin typeface="Aptos" pitchFamily="34" charset="0"/>
                <a:ea typeface="Aptos" pitchFamily="34" charset="-122"/>
                <a:cs typeface="Aptos" pitchFamily="34" charset="-120"/>
              </a:rPr>
              <a:t>Same SVD features for fit and plot.</a:t>
            </a:r>
            <a:endParaRPr lang="en-US" sz="1170" dirty="0"/>
          </a:p>
        </p:txBody>
      </p:sp>
      <p:sp>
        <p:nvSpPr>
          <p:cNvPr id="17" name="Shape 14"/>
          <p:cNvSpPr/>
          <p:nvPr/>
        </p:nvSpPr>
        <p:spPr>
          <a:xfrm>
            <a:off x="8732520" y="3438144"/>
            <a:ext cx="2697480" cy="1005840"/>
          </a:xfrm>
          <a:prstGeom prst="roundRect">
            <a:avLst>
              <a:gd name="adj" fmla="val 11818"/>
            </a:avLst>
          </a:prstGeom>
          <a:solidFill>
            <a:srgbClr val="224659"/>
          </a:solidFill>
          <a:ln w="12700">
            <a:solidFill>
              <a:srgbClr val="224659">
                <a:alpha val="0"/>
              </a:srgbClr>
            </a:solidFill>
            <a:prstDash val="solid"/>
          </a:ln>
        </p:spPr>
        <p:txBody>
          <a:bodyPr/>
          <a:p/>
        </p:txBody>
      </p:sp>
      <p:sp>
        <p:nvSpPr>
          <p:cNvPr id="18" name="Text 15"/>
          <p:cNvSpPr/>
          <p:nvPr/>
        </p:nvSpPr>
        <p:spPr>
          <a:xfrm>
            <a:off x="8979408" y="3584448"/>
            <a:ext cx="2103120" cy="274320"/>
          </a:xfrm>
          <a:prstGeom prst="rect">
            <a:avLst/>
          </a:prstGeom>
          <a:noFill/>
          <a:ln/>
        </p:spPr>
        <p:txBody>
          <a:bodyPr wrap="square" lIns="0" tIns="0" rIns="0" bIns="0" rtlCol="0" anchor="ctr">
            <a:normAutofit/>
          </a:bodyPr>
          <a:lstStyle/>
          <a:p>
            <a:pPr indent="0" marL="0">
              <a:buNone/>
            </a:pPr>
            <a:r>
              <a:rPr lang="en-US" sz="1300" b="1" dirty="0">
                <a:solidFill>
                  <a:srgbClr val="9FE4DC"/>
                </a:solidFill>
                <a:latin typeface="Aptos Display" pitchFamily="34" charset="0"/>
                <a:ea typeface="Aptos Display" pitchFamily="34" charset="-122"/>
                <a:cs typeface="Aptos Display" pitchFamily="34" charset="-120"/>
              </a:rPr>
              <a:t>TRAINING</a:t>
            </a:r>
            <a:endParaRPr lang="en-US" sz="1300" dirty="0"/>
          </a:p>
        </p:txBody>
      </p:sp>
      <p:sp>
        <p:nvSpPr>
          <p:cNvPr id="19" name="Text 16"/>
          <p:cNvSpPr/>
          <p:nvPr/>
        </p:nvSpPr>
        <p:spPr>
          <a:xfrm>
            <a:off x="8979408" y="3931920"/>
            <a:ext cx="2212848" cy="292608"/>
          </a:xfrm>
          <a:prstGeom prst="rect">
            <a:avLst/>
          </a:prstGeom>
          <a:noFill/>
          <a:ln/>
        </p:spPr>
        <p:txBody>
          <a:bodyPr wrap="square" lIns="0" tIns="0" rIns="0" bIns="0" rtlCol="0" anchor="ctr">
            <a:normAutofit/>
          </a:bodyPr>
          <a:lstStyle/>
          <a:p>
            <a:pPr indent="0" marL="0">
              <a:buNone/>
            </a:pPr>
            <a:r>
              <a:rPr lang="en-US" sz="1520" b="1" dirty="0">
                <a:solidFill>
                  <a:srgbClr val="FFFFFF"/>
                </a:solidFill>
                <a:latin typeface="Aptos Display" pitchFamily="34" charset="0"/>
                <a:ea typeface="Aptos Display" pitchFamily="34" charset="-122"/>
                <a:cs typeface="Aptos Display" pitchFamily="34" charset="-120"/>
              </a:rPr>
              <a:t>87.5%  ·  35/40 correct</a:t>
            </a:r>
            <a:endParaRPr lang="en-US" sz="1520" dirty="0"/>
          </a:p>
        </p:txBody>
      </p:sp>
      <p:sp>
        <p:nvSpPr>
          <p:cNvPr id="20" name="Shape 17"/>
          <p:cNvSpPr/>
          <p:nvPr/>
        </p:nvSpPr>
        <p:spPr>
          <a:xfrm>
            <a:off x="8732520" y="4654296"/>
            <a:ext cx="2697480" cy="1261872"/>
          </a:xfrm>
          <a:prstGeom prst="roundRect">
            <a:avLst>
              <a:gd name="adj" fmla="val 9420"/>
            </a:avLst>
          </a:prstGeom>
          <a:solidFill>
            <a:srgbClr val="224659"/>
          </a:solidFill>
          <a:ln w="12700">
            <a:solidFill>
              <a:srgbClr val="224659">
                <a:alpha val="0"/>
              </a:srgbClr>
            </a:solidFill>
            <a:prstDash val="solid"/>
          </a:ln>
        </p:spPr>
        <p:txBody>
          <a:bodyPr/>
          <a:p/>
        </p:txBody>
      </p:sp>
      <p:sp>
        <p:nvSpPr>
          <p:cNvPr id="21" name="Text 18"/>
          <p:cNvSpPr/>
          <p:nvPr/>
        </p:nvSpPr>
        <p:spPr>
          <a:xfrm>
            <a:off x="8979408" y="4782312"/>
            <a:ext cx="2139696" cy="274320"/>
          </a:xfrm>
          <a:prstGeom prst="rect">
            <a:avLst/>
          </a:prstGeom>
          <a:noFill/>
          <a:ln/>
        </p:spPr>
        <p:txBody>
          <a:bodyPr wrap="square" lIns="0" tIns="0" rIns="0" bIns="0" rtlCol="0" anchor="ctr">
            <a:normAutofit/>
          </a:bodyPr>
          <a:lstStyle/>
          <a:p>
            <a:pPr indent="0" marL="0">
              <a:buNone/>
            </a:pPr>
            <a:r>
              <a:rPr lang="en-US" sz="1300" b="1" dirty="0">
                <a:solidFill>
                  <a:srgbClr val="9FE4DC"/>
                </a:solidFill>
                <a:latin typeface="Aptos Display" pitchFamily="34" charset="0"/>
                <a:ea typeface="Aptos Display" pitchFamily="34" charset="-122"/>
                <a:cs typeface="Aptos Display" pitchFamily="34" charset="-120"/>
              </a:rPr>
              <a:t>WHAT YOU SEE</a:t>
            </a:r>
            <a:endParaRPr lang="en-US" sz="1300" dirty="0"/>
          </a:p>
        </p:txBody>
      </p:sp>
      <p:sp>
        <p:nvSpPr>
          <p:cNvPr id="22" name="Text 19"/>
          <p:cNvSpPr/>
          <p:nvPr/>
        </p:nvSpPr>
        <p:spPr>
          <a:xfrm>
            <a:off x="8979408" y="5138928"/>
            <a:ext cx="2103120" cy="576072"/>
          </a:xfrm>
          <a:prstGeom prst="rect">
            <a:avLst/>
          </a:prstGeom>
          <a:noFill/>
          <a:ln/>
        </p:spPr>
        <p:txBody>
          <a:bodyPr wrap="square" lIns="0" tIns="0" rIns="0" bIns="0" rtlCol="0" anchor="ctr">
            <a:normAutofit/>
          </a:bodyPr>
          <a:lstStyle/>
          <a:p>
            <a:pPr indent="0" marL="0">
              <a:buNone/>
            </a:pPr>
            <a:r>
              <a:rPr lang="en-US" sz="1200" dirty="0">
                <a:solidFill>
                  <a:srgbClr val="FFFFFF"/>
                </a:solidFill>
                <a:latin typeface="Aptos" pitchFamily="34" charset="0"/>
                <a:ea typeface="Aptos" pitchFamily="34" charset="-122"/>
                <a:cs typeface="Aptos" pitchFamily="34" charset="-120"/>
              </a:rPr>
              <a:t>Support (0) / Sales (1) points</a:t>
            </a:r>
            <a:endParaRPr lang="en-US" sz="1200" dirty="0"/>
          </a:p>
          <a:p>
            <a:pPr indent="0" marL="0">
              <a:buNone/>
            </a:pPr>
            <a:r>
              <a:rPr lang="en-US" sz="1200" dirty="0">
                <a:solidFill>
                  <a:srgbClr val="FFFFFF"/>
                </a:solidFill>
                <a:latin typeface="Aptos" pitchFamily="34" charset="0"/>
                <a:ea typeface="Aptos" pitchFamily="34" charset="-122"/>
                <a:cs typeface="Aptos" pitchFamily="34" charset="-120"/>
              </a:rPr>
              <a:t>Black line: decision score = 0</a:t>
            </a:r>
            <a:endParaRPr lang="en-US" sz="1200" dirty="0"/>
          </a:p>
        </p:txBody>
      </p:sp>
      <p:sp>
        <p:nvSpPr>
          <p:cNvPr id="23" name="Text 20"/>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A8C1CB"/>
                </a:solidFill>
                <a:latin typeface="Aptos" pitchFamily="34" charset="0"/>
                <a:ea typeface="Aptos" pitchFamily="34" charset="-122"/>
                <a:cs typeface="Aptos" pitchFamily="34" charset="-120"/>
              </a:rPr>
              <a:t>Authentic figure: results/boundary.png  |  Training data only</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5"/>
                                  </p:tgtEl>
                                  <p:attrNameLst>
                                    <p:attrName>style.visibility</p:attrName>
                                  </p:attrNameLst>
                                </p:cBhvr>
                                <p:to>
                                  <p:strVal val="visible"/>
                                </p:to>
                              </p:set>
                              <p:animEffect transition="in" filter="fade">
                                <p:cBhvr>
                                  <p:cTn id="23" dur="520"/>
                                  <p:tgtEl>
                                    <p:spTgt spid="15"/>
                                  </p:tgtEl>
                                </p:cBhvr>
                              </p:animEffect>
                            </p:childTnLst>
                          </p:cTn>
                        </p:par>
                      </p:childTnLst>
                    </p:cTn>
                  </p:par>
                  <p:par>
                    <p:cTn id="25" fill="hold">
                      <p:stCondLst>
                        <p:cond delay="1440"/>
                      </p:stCondLst>
                      <p:childTnLst>
                        <p:par>
                          <p:cTn id="26" fill="hold">
                            <p:childTnLst>
                              <p:set>
                                <p:cBhvr>
                                  <p:cTn id="27" dur="1" fill="hold">
                                    <p:stCondLst>
                                      <p:cond delay="0"/>
                                    </p:stCondLst>
                                  </p:cTn>
                                  <p:tgtEl>
                                    <p:spTgt spid="19"/>
                                  </p:tgtEl>
                                  <p:attrNameLst>
                                    <p:attrName>style.visibility</p:attrName>
                                  </p:attrNameLst>
                                </p:cBhvr>
                                <p:to>
                                  <p:strVal val="visible"/>
                                </p:to>
                              </p:set>
                              <p:animEffect transition="in" filter="fade">
                                <p:cBhvr>
                                  <p:cTn id="28" dur="520"/>
                                  <p:tgtEl>
                                    <p:spTgt spid="19"/>
                                  </p:tgtEl>
                                </p:cBhvr>
                              </p:animEffect>
                            </p:childTnLst>
                          </p:cTn>
                        </p:par>
                      </p:childTnLst>
                    </p:cTn>
                  </p:par>
                </p:childTnLst>
              </p:cTn>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TRADITIONAL ML · TEST EVALUATION</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17 / 21</a:t>
            </a:r>
            <a:endParaRPr lang="en-US" sz="1000" dirty="0"/>
          </a:p>
        </p:txBody>
      </p:sp>
      <p:sp>
        <p:nvSpPr>
          <p:cNvPr id="7" name="Shape 5"/>
          <p:cNvSpPr/>
          <p:nvPr/>
        </p:nvSpPr>
        <p:spPr>
          <a:xfrm>
            <a:off x="585216" y="6473952"/>
            <a:ext cx="8157641"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MEASURED PERFORMANCE</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One mistaken route in each class</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Linear SVM predictions on the 20 held-out messages—not training estimates.</a:t>
            </a:r>
            <a:endParaRPr lang="en-US" sz="1420" dirty="0"/>
          </a:p>
        </p:txBody>
      </p:sp>
      <p:sp>
        <p:nvSpPr>
          <p:cNvPr id="12" name="Shape 10"/>
          <p:cNvSpPr/>
          <p:nvPr/>
        </p:nvSpPr>
        <p:spPr>
          <a:xfrm>
            <a:off x="822960" y="2212848"/>
            <a:ext cx="6803136" cy="3538728"/>
          </a:xfrm>
          <a:prstGeom prst="roundRect">
            <a:avLst>
              <a:gd name="adj" fmla="val 3359"/>
            </a:avLst>
          </a:prstGeom>
          <a:solidFill>
            <a:srgbClr val="FFFFFF"/>
          </a:solidFill>
          <a:ln w="12700">
            <a:solidFill>
              <a:srgbClr val="FFFFFF">
                <a:alpha val="0"/>
              </a:srgbClr>
            </a:solidFill>
            <a:prstDash val="solid"/>
          </a:ln>
        </p:spPr>
        <p:txBody>
          <a:bodyPr/>
          <a:p/>
        </p:txBody>
      </p:sp>
      <p:sp>
        <p:nvSpPr>
          <p:cNvPr id="13" name="Text 11"/>
          <p:cNvSpPr/>
          <p:nvPr/>
        </p:nvSpPr>
        <p:spPr>
          <a:xfrm>
            <a:off x="1060704" y="2496312"/>
            <a:ext cx="6172200" cy="320040"/>
          </a:xfrm>
          <a:prstGeom prst="rect">
            <a:avLst/>
          </a:prstGeom>
          <a:noFill/>
          <a:ln/>
        </p:spPr>
        <p:txBody>
          <a:bodyPr wrap="square" lIns="0" tIns="0" rIns="0" bIns="0" rtlCol="0" anchor="ctr">
            <a:normAutofit/>
          </a:bodyPr>
          <a:lstStyle/>
          <a:p>
            <a:pPr indent="0" marL="0">
              <a:buNone/>
            </a:pPr>
            <a:r>
              <a:rPr lang="en-US" sz="1700" b="1" dirty="0">
                <a:solidFill>
                  <a:srgbClr val="112D40"/>
                </a:solidFill>
                <a:latin typeface="Aptos Display" pitchFamily="34" charset="0"/>
                <a:ea typeface="Aptos Display" pitchFamily="34" charset="-122"/>
                <a:cs typeface="Aptos Display" pitchFamily="34" charset="-120"/>
              </a:rPr>
              <a:t>SVM · TEST CONFUSION MATRIX</a:t>
            </a:r>
            <a:endParaRPr lang="en-US" sz="1700" dirty="0"/>
          </a:p>
        </p:txBody>
      </p:sp>
      <p:sp>
        <p:nvSpPr>
          <p:cNvPr id="14" name="Text 12"/>
          <p:cNvSpPr/>
          <p:nvPr/>
        </p:nvSpPr>
        <p:spPr>
          <a:xfrm>
            <a:off x="2962656" y="3063240"/>
            <a:ext cx="1874520" cy="274320"/>
          </a:xfrm>
          <a:prstGeom prst="rect">
            <a:avLst/>
          </a:prstGeom>
          <a:noFill/>
          <a:ln/>
        </p:spPr>
        <p:txBody>
          <a:bodyPr wrap="square" lIns="0" tIns="0" rIns="0" bIns="0" rtlCol="0" anchor="ctr">
            <a:normAutofit/>
          </a:bodyPr>
          <a:lstStyle/>
          <a:p>
            <a:pPr algn="ctr" indent="0" marL="0">
              <a:buNone/>
            </a:pPr>
            <a:r>
              <a:rPr lang="en-US" sz="1250" b="1" dirty="0">
                <a:solidFill>
                  <a:srgbClr val="587082"/>
                </a:solidFill>
                <a:latin typeface="Aptos Display" pitchFamily="34" charset="0"/>
                <a:ea typeface="Aptos Display" pitchFamily="34" charset="-122"/>
                <a:cs typeface="Aptos Display" pitchFamily="34" charset="-120"/>
              </a:rPr>
              <a:t>Predicted Support</a:t>
            </a:r>
            <a:endParaRPr lang="en-US" sz="1250" dirty="0"/>
          </a:p>
        </p:txBody>
      </p:sp>
      <p:sp>
        <p:nvSpPr>
          <p:cNvPr id="15" name="Text 13"/>
          <p:cNvSpPr/>
          <p:nvPr/>
        </p:nvSpPr>
        <p:spPr>
          <a:xfrm>
            <a:off x="5166360" y="3063240"/>
            <a:ext cx="1883664" cy="274320"/>
          </a:xfrm>
          <a:prstGeom prst="rect">
            <a:avLst/>
          </a:prstGeom>
          <a:noFill/>
          <a:ln/>
        </p:spPr>
        <p:txBody>
          <a:bodyPr wrap="square" lIns="0" tIns="0" rIns="0" bIns="0" rtlCol="0" anchor="ctr">
            <a:normAutofit/>
          </a:bodyPr>
          <a:lstStyle/>
          <a:p>
            <a:pPr algn="ctr" indent="0" marL="0">
              <a:buNone/>
            </a:pPr>
            <a:r>
              <a:rPr lang="en-US" sz="1250" b="1" dirty="0">
                <a:solidFill>
                  <a:srgbClr val="587082"/>
                </a:solidFill>
                <a:latin typeface="Aptos Display" pitchFamily="34" charset="0"/>
                <a:ea typeface="Aptos Display" pitchFamily="34" charset="-122"/>
                <a:cs typeface="Aptos Display" pitchFamily="34" charset="-120"/>
              </a:rPr>
              <a:t>Predicted Sales</a:t>
            </a:r>
            <a:endParaRPr lang="en-US" sz="1250" dirty="0"/>
          </a:p>
        </p:txBody>
      </p:sp>
      <p:sp>
        <p:nvSpPr>
          <p:cNvPr id="16" name="Text 14"/>
          <p:cNvSpPr/>
          <p:nvPr/>
        </p:nvSpPr>
        <p:spPr>
          <a:xfrm>
            <a:off x="1014984" y="3630168"/>
            <a:ext cx="1810512" cy="310896"/>
          </a:xfrm>
          <a:prstGeom prst="rect">
            <a:avLst/>
          </a:prstGeom>
          <a:noFill/>
          <a:ln/>
        </p:spPr>
        <p:txBody>
          <a:bodyPr wrap="square" lIns="0" tIns="0" rIns="0" bIns="0" rtlCol="0" anchor="ctr">
            <a:normAutofit/>
          </a:bodyPr>
          <a:lstStyle/>
          <a:p>
            <a:pPr indent="0" marL="0">
              <a:buNone/>
            </a:pPr>
            <a:r>
              <a:rPr lang="en-US" sz="1330" b="1" dirty="0">
                <a:solidFill>
                  <a:srgbClr val="112D40"/>
                </a:solidFill>
                <a:latin typeface="Aptos Display" pitchFamily="34" charset="0"/>
                <a:ea typeface="Aptos Display" pitchFamily="34" charset="-122"/>
                <a:cs typeface="Aptos Display" pitchFamily="34" charset="-120"/>
              </a:rPr>
              <a:t>Actual Support</a:t>
            </a:r>
            <a:endParaRPr lang="en-US" sz="1330" dirty="0"/>
          </a:p>
        </p:txBody>
      </p:sp>
      <p:sp>
        <p:nvSpPr>
          <p:cNvPr id="17" name="Shape 15"/>
          <p:cNvSpPr/>
          <p:nvPr/>
        </p:nvSpPr>
        <p:spPr>
          <a:xfrm>
            <a:off x="2999232" y="3410712"/>
            <a:ext cx="1965960" cy="694944"/>
          </a:xfrm>
          <a:prstGeom prst="roundRect">
            <a:avLst>
              <a:gd name="adj" fmla="val 17105"/>
            </a:avLst>
          </a:prstGeom>
          <a:solidFill>
            <a:srgbClr val="E6F5F2"/>
          </a:solidFill>
          <a:ln w="12700">
            <a:solidFill>
              <a:srgbClr val="E6F5F2">
                <a:alpha val="0"/>
              </a:srgbClr>
            </a:solidFill>
            <a:prstDash val="solid"/>
          </a:ln>
        </p:spPr>
        <p:txBody>
          <a:bodyPr/>
          <a:p/>
        </p:txBody>
      </p:sp>
      <p:sp>
        <p:nvSpPr>
          <p:cNvPr id="18" name="Text 16"/>
          <p:cNvSpPr/>
          <p:nvPr/>
        </p:nvSpPr>
        <p:spPr>
          <a:xfrm>
            <a:off x="2999232" y="3474720"/>
            <a:ext cx="1965960" cy="475488"/>
          </a:xfrm>
          <a:prstGeom prst="rect">
            <a:avLst/>
          </a:prstGeom>
          <a:noFill/>
          <a:ln/>
        </p:spPr>
        <p:txBody>
          <a:bodyPr wrap="square" lIns="0" tIns="0" rIns="0" bIns="0" rtlCol="0" anchor="ctr">
            <a:normAutofit/>
          </a:bodyPr>
          <a:lstStyle/>
          <a:p>
            <a:pPr algn="ctr" indent="0" marL="0">
              <a:buNone/>
            </a:pPr>
            <a:r>
              <a:rPr lang="en-US" sz="2800" b="1" dirty="0">
                <a:solidFill>
                  <a:srgbClr val="008E85"/>
                </a:solidFill>
                <a:latin typeface="Aptos Display" pitchFamily="34" charset="0"/>
                <a:ea typeface="Aptos Display" pitchFamily="34" charset="-122"/>
                <a:cs typeface="Aptos Display" pitchFamily="34" charset="-120"/>
              </a:rPr>
              <a:t>9</a:t>
            </a:r>
            <a:endParaRPr lang="en-US" sz="2800" dirty="0"/>
          </a:p>
        </p:txBody>
      </p:sp>
      <p:sp>
        <p:nvSpPr>
          <p:cNvPr id="19" name="Shape 17"/>
          <p:cNvSpPr/>
          <p:nvPr/>
        </p:nvSpPr>
        <p:spPr>
          <a:xfrm>
            <a:off x="5212080" y="3410712"/>
            <a:ext cx="1965960" cy="694944"/>
          </a:xfrm>
          <a:prstGeom prst="roundRect">
            <a:avLst>
              <a:gd name="adj" fmla="val 17105"/>
            </a:avLst>
          </a:prstGeom>
          <a:solidFill>
            <a:srgbClr val="E9EFF3"/>
          </a:solidFill>
          <a:ln w="12700">
            <a:solidFill>
              <a:srgbClr val="E9EFF3">
                <a:alpha val="0"/>
              </a:srgbClr>
            </a:solidFill>
            <a:prstDash val="solid"/>
          </a:ln>
        </p:spPr>
        <p:txBody>
          <a:bodyPr/>
          <a:p/>
        </p:txBody>
      </p:sp>
      <p:sp>
        <p:nvSpPr>
          <p:cNvPr id="20" name="Text 18"/>
          <p:cNvSpPr/>
          <p:nvPr/>
        </p:nvSpPr>
        <p:spPr>
          <a:xfrm>
            <a:off x="5212080" y="3474720"/>
            <a:ext cx="1965960" cy="475488"/>
          </a:xfrm>
          <a:prstGeom prst="rect">
            <a:avLst/>
          </a:prstGeom>
          <a:noFill/>
          <a:ln/>
        </p:spPr>
        <p:txBody>
          <a:bodyPr wrap="square" lIns="0" tIns="0" rIns="0" bIns="0" rtlCol="0" anchor="ctr">
            <a:normAutofit/>
          </a:bodyPr>
          <a:lstStyle/>
          <a:p>
            <a:pPr algn="ctr" indent="0" marL="0">
              <a:buNone/>
            </a:pPr>
            <a:r>
              <a:rPr lang="en-US" sz="2800" b="1" dirty="0">
                <a:solidFill>
                  <a:srgbClr val="112D40"/>
                </a:solidFill>
                <a:latin typeface="Aptos Display" pitchFamily="34" charset="0"/>
                <a:ea typeface="Aptos Display" pitchFamily="34" charset="-122"/>
                <a:cs typeface="Aptos Display" pitchFamily="34" charset="-120"/>
              </a:rPr>
              <a:t>1</a:t>
            </a:r>
            <a:endParaRPr lang="en-US" sz="2800" dirty="0"/>
          </a:p>
        </p:txBody>
      </p:sp>
      <p:sp>
        <p:nvSpPr>
          <p:cNvPr id="21" name="Text 19"/>
          <p:cNvSpPr/>
          <p:nvPr/>
        </p:nvSpPr>
        <p:spPr>
          <a:xfrm>
            <a:off x="1014984" y="4480560"/>
            <a:ext cx="1810512" cy="310896"/>
          </a:xfrm>
          <a:prstGeom prst="rect">
            <a:avLst/>
          </a:prstGeom>
          <a:noFill/>
          <a:ln/>
        </p:spPr>
        <p:txBody>
          <a:bodyPr wrap="square" lIns="0" tIns="0" rIns="0" bIns="0" rtlCol="0" anchor="ctr">
            <a:normAutofit/>
          </a:bodyPr>
          <a:lstStyle/>
          <a:p>
            <a:pPr indent="0" marL="0">
              <a:buNone/>
            </a:pPr>
            <a:r>
              <a:rPr lang="en-US" sz="1330" b="1" dirty="0">
                <a:solidFill>
                  <a:srgbClr val="112D40"/>
                </a:solidFill>
                <a:latin typeface="Aptos Display" pitchFamily="34" charset="0"/>
                <a:ea typeface="Aptos Display" pitchFamily="34" charset="-122"/>
                <a:cs typeface="Aptos Display" pitchFamily="34" charset="-120"/>
              </a:rPr>
              <a:t>Actual Sales</a:t>
            </a:r>
            <a:endParaRPr lang="en-US" sz="1330" dirty="0"/>
          </a:p>
        </p:txBody>
      </p:sp>
      <p:sp>
        <p:nvSpPr>
          <p:cNvPr id="22" name="Shape 20"/>
          <p:cNvSpPr/>
          <p:nvPr/>
        </p:nvSpPr>
        <p:spPr>
          <a:xfrm>
            <a:off x="2999232" y="4261104"/>
            <a:ext cx="1965960" cy="694944"/>
          </a:xfrm>
          <a:prstGeom prst="roundRect">
            <a:avLst>
              <a:gd name="adj" fmla="val 17105"/>
            </a:avLst>
          </a:prstGeom>
          <a:solidFill>
            <a:srgbClr val="E9EFF3"/>
          </a:solidFill>
          <a:ln w="12700">
            <a:solidFill>
              <a:srgbClr val="E9EFF3">
                <a:alpha val="0"/>
              </a:srgbClr>
            </a:solidFill>
            <a:prstDash val="solid"/>
          </a:ln>
        </p:spPr>
        <p:txBody>
          <a:bodyPr/>
          <a:p/>
        </p:txBody>
      </p:sp>
      <p:sp>
        <p:nvSpPr>
          <p:cNvPr id="23" name="Text 21"/>
          <p:cNvSpPr/>
          <p:nvPr/>
        </p:nvSpPr>
        <p:spPr>
          <a:xfrm>
            <a:off x="2999232" y="4325112"/>
            <a:ext cx="1965960" cy="475488"/>
          </a:xfrm>
          <a:prstGeom prst="rect">
            <a:avLst/>
          </a:prstGeom>
          <a:noFill/>
          <a:ln/>
        </p:spPr>
        <p:txBody>
          <a:bodyPr wrap="square" lIns="0" tIns="0" rIns="0" bIns="0" rtlCol="0" anchor="ctr">
            <a:normAutofit/>
          </a:bodyPr>
          <a:lstStyle/>
          <a:p>
            <a:pPr algn="ctr" indent="0" marL="0">
              <a:buNone/>
            </a:pPr>
            <a:r>
              <a:rPr lang="en-US" sz="2800" b="1" dirty="0">
                <a:solidFill>
                  <a:srgbClr val="112D40"/>
                </a:solidFill>
                <a:latin typeface="Aptos Display" pitchFamily="34" charset="0"/>
                <a:ea typeface="Aptos Display" pitchFamily="34" charset="-122"/>
                <a:cs typeface="Aptos Display" pitchFamily="34" charset="-120"/>
              </a:rPr>
              <a:t>1</a:t>
            </a:r>
            <a:endParaRPr lang="en-US" sz="2800" dirty="0"/>
          </a:p>
        </p:txBody>
      </p:sp>
      <p:sp>
        <p:nvSpPr>
          <p:cNvPr id="24" name="Shape 22"/>
          <p:cNvSpPr/>
          <p:nvPr/>
        </p:nvSpPr>
        <p:spPr>
          <a:xfrm>
            <a:off x="5212080" y="4261104"/>
            <a:ext cx="1965960" cy="694944"/>
          </a:xfrm>
          <a:prstGeom prst="roundRect">
            <a:avLst>
              <a:gd name="adj" fmla="val 17105"/>
            </a:avLst>
          </a:prstGeom>
          <a:solidFill>
            <a:srgbClr val="E6F5F2"/>
          </a:solidFill>
          <a:ln w="12700">
            <a:solidFill>
              <a:srgbClr val="E6F5F2">
                <a:alpha val="0"/>
              </a:srgbClr>
            </a:solidFill>
            <a:prstDash val="solid"/>
          </a:ln>
        </p:spPr>
        <p:txBody>
          <a:bodyPr/>
          <a:p/>
        </p:txBody>
      </p:sp>
      <p:sp>
        <p:nvSpPr>
          <p:cNvPr id="25" name="Text 23"/>
          <p:cNvSpPr/>
          <p:nvPr/>
        </p:nvSpPr>
        <p:spPr>
          <a:xfrm>
            <a:off x="5212080" y="4325112"/>
            <a:ext cx="1965960" cy="475488"/>
          </a:xfrm>
          <a:prstGeom prst="rect">
            <a:avLst/>
          </a:prstGeom>
          <a:noFill/>
          <a:ln/>
        </p:spPr>
        <p:txBody>
          <a:bodyPr wrap="square" lIns="0" tIns="0" rIns="0" bIns="0" rtlCol="0" anchor="ctr">
            <a:normAutofit/>
          </a:bodyPr>
          <a:lstStyle/>
          <a:p>
            <a:pPr algn="ctr" indent="0" marL="0">
              <a:buNone/>
            </a:pPr>
            <a:r>
              <a:rPr lang="en-US" sz="2800" b="1" dirty="0">
                <a:solidFill>
                  <a:srgbClr val="008E85"/>
                </a:solidFill>
                <a:latin typeface="Aptos Display" pitchFamily="34" charset="0"/>
                <a:ea typeface="Aptos Display" pitchFamily="34" charset="-122"/>
                <a:cs typeface="Aptos Display" pitchFamily="34" charset="-120"/>
              </a:rPr>
              <a:t>9</a:t>
            </a:r>
            <a:endParaRPr lang="en-US" sz="2800" dirty="0"/>
          </a:p>
        </p:txBody>
      </p:sp>
      <p:sp>
        <p:nvSpPr>
          <p:cNvPr id="26" name="Shape 24"/>
          <p:cNvSpPr/>
          <p:nvPr/>
        </p:nvSpPr>
        <p:spPr>
          <a:xfrm>
            <a:off x="7836408" y="2212848"/>
            <a:ext cx="3429000" cy="3538728"/>
          </a:xfrm>
          <a:prstGeom prst="roundRect">
            <a:avLst>
              <a:gd name="adj" fmla="val 3467"/>
            </a:avLst>
          </a:prstGeom>
          <a:solidFill>
            <a:srgbClr val="0A2134"/>
          </a:solidFill>
          <a:ln w="12700">
            <a:solidFill>
              <a:srgbClr val="0A2134">
                <a:alpha val="0"/>
              </a:srgbClr>
            </a:solidFill>
            <a:prstDash val="solid"/>
          </a:ln>
        </p:spPr>
        <p:txBody>
          <a:bodyPr/>
          <a:p/>
        </p:txBody>
      </p:sp>
      <p:sp>
        <p:nvSpPr>
          <p:cNvPr id="27" name="Text 25"/>
          <p:cNvSpPr/>
          <p:nvPr/>
        </p:nvSpPr>
        <p:spPr>
          <a:xfrm>
            <a:off x="8110728" y="2596896"/>
            <a:ext cx="2889504" cy="283464"/>
          </a:xfrm>
          <a:prstGeom prst="rect">
            <a:avLst/>
          </a:prstGeom>
          <a:noFill/>
          <a:ln/>
        </p:spPr>
        <p:txBody>
          <a:bodyPr wrap="square" lIns="0" tIns="0" rIns="0" bIns="0" rtlCol="0" anchor="ctr">
            <a:normAutofit/>
          </a:bodyPr>
          <a:lstStyle/>
          <a:p>
            <a:pPr indent="0" marL="0">
              <a:buNone/>
            </a:pPr>
            <a:r>
              <a:rPr lang="en-US" sz="1400" b="1" dirty="0">
                <a:solidFill>
                  <a:srgbClr val="A4E9DF"/>
                </a:solidFill>
                <a:latin typeface="Aptos Display" pitchFamily="34" charset="0"/>
                <a:ea typeface="Aptos Display" pitchFamily="34" charset="-122"/>
                <a:cs typeface="Aptos Display" pitchFamily="34" charset="-120"/>
              </a:rPr>
              <a:t>TEST ACCURACY</a:t>
            </a:r>
            <a:endParaRPr lang="en-US" sz="1400" dirty="0"/>
          </a:p>
        </p:txBody>
      </p:sp>
      <p:sp>
        <p:nvSpPr>
          <p:cNvPr id="28" name="Text 26"/>
          <p:cNvSpPr/>
          <p:nvPr/>
        </p:nvSpPr>
        <p:spPr>
          <a:xfrm>
            <a:off x="8101584" y="3054096"/>
            <a:ext cx="2752344" cy="832104"/>
          </a:xfrm>
          <a:prstGeom prst="rect">
            <a:avLst/>
          </a:prstGeom>
          <a:noFill/>
          <a:ln/>
        </p:spPr>
        <p:txBody>
          <a:bodyPr wrap="square" lIns="0" tIns="0" rIns="0" bIns="0" rtlCol="0" anchor="ctr">
            <a:normAutofit/>
          </a:bodyPr>
          <a:lstStyle/>
          <a:p>
            <a:pPr indent="0" marL="0">
              <a:buNone/>
            </a:pPr>
            <a:r>
              <a:rPr lang="en-US" sz="4900" b="1" dirty="0">
                <a:solidFill>
                  <a:srgbClr val="FFFFFF"/>
                </a:solidFill>
                <a:latin typeface="Aptos Display" pitchFamily="34" charset="0"/>
                <a:ea typeface="Aptos Display" pitchFamily="34" charset="-122"/>
                <a:cs typeface="Aptos Display" pitchFamily="34" charset="-120"/>
              </a:rPr>
              <a:t>90%</a:t>
            </a:r>
            <a:endParaRPr lang="en-US" sz="4900" dirty="0"/>
          </a:p>
        </p:txBody>
      </p:sp>
      <p:sp>
        <p:nvSpPr>
          <p:cNvPr id="29" name="Text 27"/>
          <p:cNvSpPr/>
          <p:nvPr/>
        </p:nvSpPr>
        <p:spPr>
          <a:xfrm>
            <a:off x="8129016" y="4014216"/>
            <a:ext cx="2852928" cy="31089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Display" pitchFamily="34" charset="0"/>
                <a:ea typeface="Aptos Display" pitchFamily="34" charset="-122"/>
                <a:cs typeface="Aptos Display" pitchFamily="34" charset="-120"/>
              </a:rPr>
              <a:t>18 correct / 20</a:t>
            </a:r>
            <a:endParaRPr lang="en-US" sz="1600" dirty="0"/>
          </a:p>
        </p:txBody>
      </p:sp>
      <p:sp>
        <p:nvSpPr>
          <p:cNvPr id="30" name="Shape 28"/>
          <p:cNvSpPr/>
          <p:nvPr/>
        </p:nvSpPr>
        <p:spPr>
          <a:xfrm>
            <a:off x="8119872" y="4572000"/>
            <a:ext cx="2852928" cy="0"/>
          </a:xfrm>
          <a:prstGeom prst="line">
            <a:avLst/>
          </a:prstGeom>
          <a:noFill/>
          <a:ln w="12700">
            <a:solidFill>
              <a:srgbClr val="496C7C"/>
            </a:solidFill>
            <a:prstDash val="solid"/>
            <a:headEnd type="none"/>
            <a:tailEnd type="none"/>
          </a:ln>
        </p:spPr>
        <p:txBody>
          <a:bodyPr/>
          <a:p/>
        </p:txBody>
      </p:sp>
      <p:sp>
        <p:nvSpPr>
          <p:cNvPr id="31" name="Text 29"/>
          <p:cNvSpPr/>
          <p:nvPr/>
        </p:nvSpPr>
        <p:spPr>
          <a:xfrm>
            <a:off x="8138160" y="4727448"/>
            <a:ext cx="2697480" cy="768096"/>
          </a:xfrm>
          <a:prstGeom prst="rect">
            <a:avLst/>
          </a:prstGeom>
          <a:noFill/>
          <a:ln/>
        </p:spPr>
        <p:txBody>
          <a:bodyPr wrap="square" lIns="0" tIns="0" rIns="0" bIns="0" rtlCol="0" anchor="ctr">
            <a:normAutofit/>
          </a:bodyPr>
          <a:lstStyle/>
          <a:p>
            <a:pPr indent="0" marL="0">
              <a:buNone/>
            </a:pPr>
            <a:r>
              <a:rPr lang="en-US" sz="1370" dirty="0">
                <a:solidFill>
                  <a:srgbClr val="C7E0E5"/>
                </a:solidFill>
                <a:latin typeface="Aptos" pitchFamily="34" charset="0"/>
                <a:ea typeface="Aptos" pitchFamily="34" charset="-122"/>
                <a:cs typeface="Aptos" pitchFamily="34" charset="-120"/>
              </a:rPr>
              <a:t>Precision  0.90 / 0.90</a:t>
            </a:r>
            <a:endParaRPr lang="en-US" sz="1370" dirty="0"/>
          </a:p>
          <a:p>
            <a:pPr indent="0" marL="0">
              <a:buNone/>
            </a:pPr>
            <a:r>
              <a:rPr lang="en-US" sz="1370" dirty="0">
                <a:solidFill>
                  <a:srgbClr val="C7E0E5"/>
                </a:solidFill>
                <a:latin typeface="Aptos" pitchFamily="34" charset="0"/>
                <a:ea typeface="Aptos" pitchFamily="34" charset="-122"/>
                <a:cs typeface="Aptos" pitchFamily="34" charset="-120"/>
              </a:rPr>
              <a:t>Recall      0.90 / 0.90</a:t>
            </a:r>
            <a:endParaRPr lang="en-US" sz="1370" dirty="0"/>
          </a:p>
          <a:p>
            <a:pPr indent="0" marL="0">
              <a:buNone/>
            </a:pPr>
            <a:r>
              <a:rPr lang="en-US" sz="1370" dirty="0">
                <a:solidFill>
                  <a:srgbClr val="C7E0E5"/>
                </a:solidFill>
                <a:latin typeface="Aptos" pitchFamily="34" charset="0"/>
                <a:ea typeface="Aptos" pitchFamily="34" charset="-122"/>
                <a:cs typeface="Aptos" pitchFamily="34" charset="-120"/>
              </a:rPr>
              <a:t>F1 score    0.90 / 0.90</a:t>
            </a:r>
            <a:endParaRPr lang="en-US" sz="1370" dirty="0"/>
          </a:p>
        </p:txBody>
      </p:sp>
      <p:sp>
        <p:nvSpPr>
          <p:cNvPr id="32" name="Text 30"/>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Source: traditional_ml.ipynb / results/ml_results.csv. Test labels: Support=0, Sales=1.</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3"/>
                                  </p:tgtEl>
                                  <p:attrNameLst>
                                    <p:attrName>style.visibility</p:attrName>
                                  </p:attrNameLst>
                                </p:cBhvr>
                                <p:to>
                                  <p:strVal val="visible"/>
                                </p:to>
                              </p:set>
                              <p:animEffect transition="in" filter="fade">
                                <p:cBhvr>
                                  <p:cTn id="23" dur="520"/>
                                  <p:tgtEl>
                                    <p:spTgt spid="13"/>
                                  </p:tgtEl>
                                </p:cBhvr>
                              </p:animEffect>
                            </p:childTnLst>
                          </p:cTn>
                        </p:par>
                      </p:childTnLst>
                    </p:cTn>
                  </p:par>
                  <p:par>
                    <p:cTn id="25" fill="hold">
                      <p:stCondLst>
                        <p:cond delay="1440"/>
                      </p:stCondLst>
                      <p:childTnLst>
                        <p:par>
                          <p:cTn id="26" fill="hold">
                            <p:childTnLst>
                              <p:set>
                                <p:cBhvr>
                                  <p:cTn id="27" dur="1" fill="hold">
                                    <p:stCondLst>
                                      <p:cond delay="0"/>
                                    </p:stCondLst>
                                  </p:cTn>
                                  <p:tgtEl>
                                    <p:spTgt spid="14"/>
                                  </p:tgtEl>
                                  <p:attrNameLst>
                                    <p:attrName>style.visibility</p:attrName>
                                  </p:attrNameLst>
                                </p:cBhvr>
                                <p:to>
                                  <p:strVal val="visible"/>
                                </p:to>
                              </p:set>
                              <p:animEffect transition="in" filter="fade">
                                <p:cBhvr>
                                  <p:cTn id="28" dur="520"/>
                                  <p:tgtEl>
                                    <p:spTgt spid="14"/>
                                  </p:tgtEl>
                                </p:cBhvr>
                              </p:animEffect>
                            </p:childTnLst>
                          </p:cTn>
                        </p:par>
                      </p:childTnLst>
                    </p:cTn>
                  </p:par>
                </p:childTnLst>
              </p:cTn>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MATCHED TEST</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18 / 21</a:t>
            </a:r>
            <a:endParaRPr lang="en-US" sz="1000" dirty="0"/>
          </a:p>
        </p:txBody>
      </p:sp>
      <p:sp>
        <p:nvSpPr>
          <p:cNvPr id="7" name="Shape 5"/>
          <p:cNvSpPr/>
          <p:nvPr/>
        </p:nvSpPr>
        <p:spPr>
          <a:xfrm>
            <a:off x="585216" y="6473952"/>
            <a:ext cx="8637502"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HEAD-TO-HEAD</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The SVM makes three more correct routes on the same test set</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Exactly the same 20 message IDs and labels for both models.</a:t>
            </a:r>
            <a:endParaRPr lang="en-US" sz="1420" dirty="0"/>
          </a:p>
        </p:txBody>
      </p:sp>
      <p:sp>
        <p:nvSpPr>
          <p:cNvPr id="12" name="Shape 10"/>
          <p:cNvSpPr/>
          <p:nvPr/>
        </p:nvSpPr>
        <p:spPr>
          <a:xfrm>
            <a:off x="758952" y="2221992"/>
            <a:ext cx="7031736" cy="3337560"/>
          </a:xfrm>
          <a:prstGeom prst="roundRect">
            <a:avLst>
              <a:gd name="adj" fmla="val 3562"/>
            </a:avLst>
          </a:prstGeom>
          <a:solidFill>
            <a:srgbClr val="FFFFFF"/>
          </a:solidFill>
          <a:ln w="12700">
            <a:solidFill>
              <a:srgbClr val="FFFFFF">
                <a:alpha val="0"/>
              </a:srgbClr>
            </a:solidFill>
            <a:prstDash val="solid"/>
          </a:ln>
        </p:spPr>
        <p:txBody>
          <a:bodyPr/>
          <a:p/>
        </p:txBody>
      </p:sp>
      <p:sp>
        <p:nvSpPr>
          <p:cNvPr id="13" name="Text 11"/>
          <p:cNvSpPr/>
          <p:nvPr/>
        </p:nvSpPr>
        <p:spPr>
          <a:xfrm>
            <a:off x="1024128" y="2487168"/>
            <a:ext cx="5129784" cy="265176"/>
          </a:xfrm>
          <a:prstGeom prst="rect">
            <a:avLst/>
          </a:prstGeom>
          <a:noFill/>
          <a:ln/>
        </p:spPr>
        <p:txBody>
          <a:bodyPr wrap="square" lIns="0" tIns="0" rIns="0" bIns="0" rtlCol="0" anchor="ctr">
            <a:normAutofit/>
          </a:bodyPr>
          <a:lstStyle/>
          <a:p>
            <a:pPr indent="0" marL="0">
              <a:buNone/>
            </a:pPr>
            <a:r>
              <a:rPr lang="en-US" sz="1400" b="1" spc="50" kern="0" dirty="0">
                <a:solidFill>
                  <a:srgbClr val="587082"/>
                </a:solidFill>
                <a:latin typeface="Aptos Display" pitchFamily="34" charset="0"/>
                <a:ea typeface="Aptos Display" pitchFamily="34" charset="-122"/>
                <a:cs typeface="Aptos Display" pitchFamily="34" charset="-120"/>
              </a:rPr>
              <a:t>TEST ACCURACY</a:t>
            </a:r>
            <a:endParaRPr lang="en-US" sz="1400" dirty="0"/>
          </a:p>
        </p:txBody>
      </p:sp>
      <p:sp>
        <p:nvSpPr>
          <p:cNvPr id="14" name="Text 12"/>
          <p:cNvSpPr/>
          <p:nvPr/>
        </p:nvSpPr>
        <p:spPr>
          <a:xfrm>
            <a:off x="1014984" y="3008376"/>
            <a:ext cx="1819656" cy="256032"/>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Linear SVM</a:t>
            </a:r>
            <a:endParaRPr lang="en-US" sz="1600" dirty="0"/>
          </a:p>
        </p:txBody>
      </p:sp>
      <p:sp>
        <p:nvSpPr>
          <p:cNvPr id="15" name="Text 13"/>
          <p:cNvSpPr/>
          <p:nvPr/>
        </p:nvSpPr>
        <p:spPr>
          <a:xfrm>
            <a:off x="5715000" y="3008376"/>
            <a:ext cx="1408176" cy="256032"/>
          </a:xfrm>
          <a:prstGeom prst="rect">
            <a:avLst/>
          </a:prstGeom>
          <a:noFill/>
          <a:ln/>
        </p:spPr>
        <p:txBody>
          <a:bodyPr wrap="square" lIns="0" tIns="0" rIns="0" bIns="0" rtlCol="0" anchor="ctr">
            <a:normAutofit/>
          </a:bodyPr>
          <a:lstStyle/>
          <a:p>
            <a:pPr algn="r" indent="0" marL="0">
              <a:buNone/>
            </a:pPr>
            <a:r>
              <a:rPr lang="en-US" sz="1300" dirty="0">
                <a:solidFill>
                  <a:srgbClr val="587082"/>
                </a:solidFill>
                <a:latin typeface="Aptos" pitchFamily="34" charset="0"/>
                <a:ea typeface="Aptos" pitchFamily="34" charset="-122"/>
                <a:cs typeface="Aptos" pitchFamily="34" charset="-120"/>
              </a:rPr>
              <a:t>18 / 20</a:t>
            </a:r>
            <a:endParaRPr lang="en-US" sz="1300" dirty="0"/>
          </a:p>
        </p:txBody>
      </p:sp>
      <p:sp>
        <p:nvSpPr>
          <p:cNvPr id="16" name="Shape 14"/>
          <p:cNvSpPr/>
          <p:nvPr/>
        </p:nvSpPr>
        <p:spPr>
          <a:xfrm>
            <a:off x="1005840" y="3383280"/>
            <a:ext cx="6117336" cy="356616"/>
          </a:xfrm>
          <a:prstGeom prst="roundRect">
            <a:avLst>
              <a:gd name="adj" fmla="val 33333"/>
            </a:avLst>
          </a:prstGeom>
          <a:solidFill>
            <a:srgbClr val="E9EFF3"/>
          </a:solidFill>
          <a:ln w="12700">
            <a:solidFill>
              <a:srgbClr val="E9EFF3">
                <a:alpha val="0"/>
              </a:srgbClr>
            </a:solidFill>
            <a:prstDash val="solid"/>
          </a:ln>
        </p:spPr>
        <p:txBody>
          <a:bodyPr/>
          <a:p/>
        </p:txBody>
      </p:sp>
      <p:sp>
        <p:nvSpPr>
          <p:cNvPr id="17" name="Shape 15"/>
          <p:cNvSpPr/>
          <p:nvPr/>
        </p:nvSpPr>
        <p:spPr>
          <a:xfrm>
            <a:off x="1005840" y="3383280"/>
            <a:ext cx="5505602" cy="356616"/>
          </a:xfrm>
          <a:prstGeom prst="roundRect">
            <a:avLst>
              <a:gd name="adj" fmla="val 33333"/>
            </a:avLst>
          </a:prstGeom>
          <a:solidFill>
            <a:srgbClr val="008E85"/>
          </a:solidFill>
          <a:ln w="12700">
            <a:solidFill>
              <a:srgbClr val="008E85">
                <a:alpha val="0"/>
              </a:srgbClr>
            </a:solidFill>
            <a:prstDash val="solid"/>
          </a:ln>
        </p:spPr>
        <p:txBody>
          <a:bodyPr/>
          <a:p/>
        </p:txBody>
      </p:sp>
      <p:sp>
        <p:nvSpPr>
          <p:cNvPr id="18" name="Text 16"/>
          <p:cNvSpPr/>
          <p:nvPr/>
        </p:nvSpPr>
        <p:spPr>
          <a:xfrm>
            <a:off x="6254496" y="3383280"/>
            <a:ext cx="777240" cy="356616"/>
          </a:xfrm>
          <a:prstGeom prst="rect">
            <a:avLst/>
          </a:prstGeom>
          <a:noFill/>
          <a:ln/>
        </p:spPr>
        <p:txBody>
          <a:bodyPr wrap="square" lIns="0" tIns="0" rIns="0" bIns="0" rtlCol="0" anchor="ctr">
            <a:normAutofit/>
          </a:bodyPr>
          <a:lstStyle/>
          <a:p>
            <a:pPr algn="r" indent="0" marL="0">
              <a:buNone/>
            </a:pPr>
            <a:r>
              <a:rPr lang="en-US" sz="1600" b="1" dirty="0">
                <a:solidFill>
                  <a:srgbClr val="112D40"/>
                </a:solidFill>
                <a:latin typeface="Aptos Display" pitchFamily="34" charset="0"/>
                <a:ea typeface="Aptos Display" pitchFamily="34" charset="-122"/>
                <a:cs typeface="Aptos Display" pitchFamily="34" charset="-120"/>
              </a:rPr>
              <a:t>90%</a:t>
            </a:r>
            <a:endParaRPr lang="en-US" sz="1600" dirty="0"/>
          </a:p>
        </p:txBody>
      </p:sp>
      <p:sp>
        <p:nvSpPr>
          <p:cNvPr id="19" name="Text 17"/>
          <p:cNvSpPr/>
          <p:nvPr/>
        </p:nvSpPr>
        <p:spPr>
          <a:xfrm>
            <a:off x="1014984" y="4261104"/>
            <a:ext cx="1819656" cy="256032"/>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DeBERTa</a:t>
            </a:r>
            <a:endParaRPr lang="en-US" sz="1600" dirty="0"/>
          </a:p>
        </p:txBody>
      </p:sp>
      <p:sp>
        <p:nvSpPr>
          <p:cNvPr id="20" name="Text 18"/>
          <p:cNvSpPr/>
          <p:nvPr/>
        </p:nvSpPr>
        <p:spPr>
          <a:xfrm>
            <a:off x="5715000" y="4261104"/>
            <a:ext cx="1408176" cy="256032"/>
          </a:xfrm>
          <a:prstGeom prst="rect">
            <a:avLst/>
          </a:prstGeom>
          <a:noFill/>
          <a:ln/>
        </p:spPr>
        <p:txBody>
          <a:bodyPr wrap="square" lIns="0" tIns="0" rIns="0" bIns="0" rtlCol="0" anchor="ctr">
            <a:normAutofit/>
          </a:bodyPr>
          <a:lstStyle/>
          <a:p>
            <a:pPr algn="r" indent="0" marL="0">
              <a:buNone/>
            </a:pPr>
            <a:r>
              <a:rPr lang="en-US" sz="1300" dirty="0">
                <a:solidFill>
                  <a:srgbClr val="587082"/>
                </a:solidFill>
                <a:latin typeface="Aptos" pitchFamily="34" charset="0"/>
                <a:ea typeface="Aptos" pitchFamily="34" charset="-122"/>
                <a:cs typeface="Aptos" pitchFamily="34" charset="-120"/>
              </a:rPr>
              <a:t>15 / 20</a:t>
            </a:r>
            <a:endParaRPr lang="en-US" sz="1300" dirty="0"/>
          </a:p>
        </p:txBody>
      </p:sp>
      <p:sp>
        <p:nvSpPr>
          <p:cNvPr id="21" name="Shape 19"/>
          <p:cNvSpPr/>
          <p:nvPr/>
        </p:nvSpPr>
        <p:spPr>
          <a:xfrm>
            <a:off x="1005840" y="4636008"/>
            <a:ext cx="6117336" cy="356616"/>
          </a:xfrm>
          <a:prstGeom prst="roundRect">
            <a:avLst>
              <a:gd name="adj" fmla="val 33333"/>
            </a:avLst>
          </a:prstGeom>
          <a:solidFill>
            <a:srgbClr val="E9EFF3"/>
          </a:solidFill>
          <a:ln w="12700">
            <a:solidFill>
              <a:srgbClr val="E9EFF3">
                <a:alpha val="0"/>
              </a:srgbClr>
            </a:solidFill>
            <a:prstDash val="solid"/>
          </a:ln>
        </p:spPr>
        <p:txBody>
          <a:bodyPr/>
          <a:p/>
        </p:txBody>
      </p:sp>
      <p:sp>
        <p:nvSpPr>
          <p:cNvPr id="22" name="Shape 20"/>
          <p:cNvSpPr/>
          <p:nvPr/>
        </p:nvSpPr>
        <p:spPr>
          <a:xfrm>
            <a:off x="1005840" y="4636008"/>
            <a:ext cx="4588002" cy="356616"/>
          </a:xfrm>
          <a:prstGeom prst="roundRect">
            <a:avLst>
              <a:gd name="adj" fmla="val 33333"/>
            </a:avLst>
          </a:prstGeom>
          <a:solidFill>
            <a:srgbClr val="7291A1"/>
          </a:solidFill>
          <a:ln w="12700">
            <a:solidFill>
              <a:srgbClr val="7291A1">
                <a:alpha val="0"/>
              </a:srgbClr>
            </a:solidFill>
            <a:prstDash val="solid"/>
          </a:ln>
        </p:spPr>
        <p:txBody>
          <a:bodyPr/>
          <a:p/>
        </p:txBody>
      </p:sp>
      <p:sp>
        <p:nvSpPr>
          <p:cNvPr id="23" name="Text 21"/>
          <p:cNvSpPr/>
          <p:nvPr/>
        </p:nvSpPr>
        <p:spPr>
          <a:xfrm>
            <a:off x="6254496" y="4636008"/>
            <a:ext cx="777240" cy="356616"/>
          </a:xfrm>
          <a:prstGeom prst="rect">
            <a:avLst/>
          </a:prstGeom>
          <a:noFill/>
          <a:ln/>
        </p:spPr>
        <p:txBody>
          <a:bodyPr wrap="square" lIns="0" tIns="0" rIns="0" bIns="0" rtlCol="0" anchor="ctr">
            <a:normAutofit/>
          </a:bodyPr>
          <a:lstStyle/>
          <a:p>
            <a:pPr algn="r" indent="0" marL="0">
              <a:buNone/>
            </a:pPr>
            <a:r>
              <a:rPr lang="en-US" sz="1600" b="1" dirty="0">
                <a:solidFill>
                  <a:srgbClr val="112D40"/>
                </a:solidFill>
                <a:latin typeface="Aptos Display" pitchFamily="34" charset="0"/>
                <a:ea typeface="Aptos Display" pitchFamily="34" charset="-122"/>
                <a:cs typeface="Aptos Display" pitchFamily="34" charset="-120"/>
              </a:rPr>
              <a:t>75%</a:t>
            </a:r>
            <a:endParaRPr lang="en-US" sz="1600" dirty="0"/>
          </a:p>
        </p:txBody>
      </p:sp>
      <p:sp>
        <p:nvSpPr>
          <p:cNvPr id="24" name="Shape 22"/>
          <p:cNvSpPr/>
          <p:nvPr/>
        </p:nvSpPr>
        <p:spPr>
          <a:xfrm>
            <a:off x="7991856" y="2221992"/>
            <a:ext cx="3410712" cy="3337560"/>
          </a:xfrm>
          <a:prstGeom prst="roundRect">
            <a:avLst>
              <a:gd name="adj" fmla="val 3562"/>
            </a:avLst>
          </a:prstGeom>
          <a:solidFill>
            <a:srgbClr val="0A2134"/>
          </a:solidFill>
          <a:ln w="12700">
            <a:solidFill>
              <a:srgbClr val="0A2134">
                <a:alpha val="0"/>
              </a:srgbClr>
            </a:solidFill>
            <a:prstDash val="solid"/>
          </a:ln>
        </p:spPr>
        <p:txBody>
          <a:bodyPr/>
          <a:p/>
        </p:txBody>
      </p:sp>
      <p:sp>
        <p:nvSpPr>
          <p:cNvPr id="25" name="Text 23"/>
          <p:cNvSpPr/>
          <p:nvPr/>
        </p:nvSpPr>
        <p:spPr>
          <a:xfrm>
            <a:off x="8247888" y="2505456"/>
            <a:ext cx="2880360" cy="256032"/>
          </a:xfrm>
          <a:prstGeom prst="rect">
            <a:avLst/>
          </a:prstGeom>
          <a:noFill/>
          <a:ln/>
        </p:spPr>
        <p:txBody>
          <a:bodyPr wrap="square" lIns="0" tIns="0" rIns="0" bIns="0" rtlCol="0" anchor="ctr">
            <a:normAutofit/>
          </a:bodyPr>
          <a:lstStyle/>
          <a:p>
            <a:pPr indent="0" marL="0">
              <a:buNone/>
            </a:pPr>
            <a:r>
              <a:rPr lang="en-US" sz="1400" b="1" dirty="0">
                <a:solidFill>
                  <a:srgbClr val="BFD8DC"/>
                </a:solidFill>
                <a:latin typeface="Aptos Display" pitchFamily="34" charset="0"/>
                <a:ea typeface="Aptos Display" pitchFamily="34" charset="-122"/>
                <a:cs typeface="Aptos Display" pitchFamily="34" charset="-120"/>
              </a:rPr>
              <a:t>RECALL BY CLASS</a:t>
            </a:r>
            <a:endParaRPr lang="en-US" sz="1400" dirty="0"/>
          </a:p>
        </p:txBody>
      </p:sp>
      <p:sp>
        <p:nvSpPr>
          <p:cNvPr id="26" name="Text 24"/>
          <p:cNvSpPr/>
          <p:nvPr/>
        </p:nvSpPr>
        <p:spPr>
          <a:xfrm>
            <a:off x="8238744" y="3017520"/>
            <a:ext cx="1051560"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Support</a:t>
            </a:r>
            <a:endParaRPr lang="en-US" sz="1300" dirty="0"/>
          </a:p>
        </p:txBody>
      </p:sp>
      <p:sp>
        <p:nvSpPr>
          <p:cNvPr id="27" name="Text 25"/>
          <p:cNvSpPr/>
          <p:nvPr/>
        </p:nvSpPr>
        <p:spPr>
          <a:xfrm>
            <a:off x="9619488" y="3017520"/>
            <a:ext cx="640080" cy="256032"/>
          </a:xfrm>
          <a:prstGeom prst="rect">
            <a:avLst/>
          </a:prstGeom>
          <a:noFill/>
          <a:ln/>
        </p:spPr>
        <p:txBody>
          <a:bodyPr wrap="square" lIns="0" tIns="0" rIns="0" bIns="0" rtlCol="0" anchor="ctr">
            <a:normAutofit/>
          </a:bodyPr>
          <a:lstStyle/>
          <a:p>
            <a:pPr indent="0" marL="0">
              <a:buNone/>
            </a:pPr>
            <a:r>
              <a:rPr lang="en-US" sz="1800" b="1" dirty="0">
                <a:solidFill>
                  <a:srgbClr val="95E8DC"/>
                </a:solidFill>
                <a:latin typeface="Aptos Display" pitchFamily="34" charset="0"/>
                <a:ea typeface="Aptos Display" pitchFamily="34" charset="-122"/>
                <a:cs typeface="Aptos Display" pitchFamily="34" charset="-120"/>
              </a:rPr>
              <a:t>90%</a:t>
            </a:r>
            <a:endParaRPr lang="en-US" sz="1800" dirty="0"/>
          </a:p>
        </p:txBody>
      </p:sp>
      <p:sp>
        <p:nvSpPr>
          <p:cNvPr id="28" name="Text 26"/>
          <p:cNvSpPr/>
          <p:nvPr/>
        </p:nvSpPr>
        <p:spPr>
          <a:xfrm>
            <a:off x="10497312" y="3017520"/>
            <a:ext cx="731520" cy="256032"/>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tos Display" pitchFamily="34" charset="0"/>
                <a:ea typeface="Aptos Display" pitchFamily="34" charset="-122"/>
                <a:cs typeface="Aptos Display" pitchFamily="34" charset="-120"/>
              </a:rPr>
              <a:t>100%</a:t>
            </a:r>
            <a:endParaRPr lang="en-US" sz="1800" dirty="0"/>
          </a:p>
        </p:txBody>
      </p:sp>
      <p:sp>
        <p:nvSpPr>
          <p:cNvPr id="29" name="Text 27"/>
          <p:cNvSpPr/>
          <p:nvPr/>
        </p:nvSpPr>
        <p:spPr>
          <a:xfrm>
            <a:off x="8238744" y="3712464"/>
            <a:ext cx="1051560"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Sales</a:t>
            </a:r>
            <a:endParaRPr lang="en-US" sz="1300" dirty="0"/>
          </a:p>
        </p:txBody>
      </p:sp>
      <p:sp>
        <p:nvSpPr>
          <p:cNvPr id="30" name="Text 28"/>
          <p:cNvSpPr/>
          <p:nvPr/>
        </p:nvSpPr>
        <p:spPr>
          <a:xfrm>
            <a:off x="9619488" y="3712464"/>
            <a:ext cx="640080" cy="256032"/>
          </a:xfrm>
          <a:prstGeom prst="rect">
            <a:avLst/>
          </a:prstGeom>
          <a:noFill/>
          <a:ln/>
        </p:spPr>
        <p:txBody>
          <a:bodyPr wrap="square" lIns="0" tIns="0" rIns="0" bIns="0" rtlCol="0" anchor="ctr">
            <a:normAutofit/>
          </a:bodyPr>
          <a:lstStyle/>
          <a:p>
            <a:pPr indent="0" marL="0">
              <a:buNone/>
            </a:pPr>
            <a:r>
              <a:rPr lang="en-US" sz="1800" b="1" dirty="0">
                <a:solidFill>
                  <a:srgbClr val="95E8DC"/>
                </a:solidFill>
                <a:latin typeface="Aptos Display" pitchFamily="34" charset="0"/>
                <a:ea typeface="Aptos Display" pitchFamily="34" charset="-122"/>
                <a:cs typeface="Aptos Display" pitchFamily="34" charset="-120"/>
              </a:rPr>
              <a:t>90%</a:t>
            </a:r>
            <a:endParaRPr lang="en-US" sz="1800" dirty="0"/>
          </a:p>
        </p:txBody>
      </p:sp>
      <p:sp>
        <p:nvSpPr>
          <p:cNvPr id="31" name="Text 29"/>
          <p:cNvSpPr/>
          <p:nvPr/>
        </p:nvSpPr>
        <p:spPr>
          <a:xfrm>
            <a:off x="10506456" y="3712464"/>
            <a:ext cx="722376" cy="256032"/>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tos Display" pitchFamily="34" charset="0"/>
                <a:ea typeface="Aptos Display" pitchFamily="34" charset="-122"/>
                <a:cs typeface="Aptos Display" pitchFamily="34" charset="-120"/>
              </a:rPr>
              <a:t>50%</a:t>
            </a:r>
            <a:endParaRPr lang="en-US" sz="1800" dirty="0"/>
          </a:p>
        </p:txBody>
      </p:sp>
      <p:sp>
        <p:nvSpPr>
          <p:cNvPr id="32" name="Shape 30"/>
          <p:cNvSpPr/>
          <p:nvPr/>
        </p:nvSpPr>
        <p:spPr>
          <a:xfrm>
            <a:off x="8247888" y="4288536"/>
            <a:ext cx="2880360" cy="0"/>
          </a:xfrm>
          <a:prstGeom prst="line">
            <a:avLst/>
          </a:prstGeom>
          <a:noFill/>
          <a:ln w="10160">
            <a:solidFill>
              <a:srgbClr val="416273"/>
            </a:solidFill>
            <a:prstDash val="solid"/>
            <a:headEnd type="none"/>
            <a:tailEnd type="none"/>
          </a:ln>
        </p:spPr>
        <p:txBody>
          <a:bodyPr/>
          <a:p/>
        </p:txBody>
      </p:sp>
      <p:sp>
        <p:nvSpPr>
          <p:cNvPr id="33" name="Text 31"/>
          <p:cNvSpPr/>
          <p:nvPr/>
        </p:nvSpPr>
        <p:spPr>
          <a:xfrm>
            <a:off x="9564624" y="4599432"/>
            <a:ext cx="804672" cy="246888"/>
          </a:xfrm>
          <a:prstGeom prst="rect">
            <a:avLst/>
          </a:prstGeom>
          <a:noFill/>
          <a:ln/>
        </p:spPr>
        <p:txBody>
          <a:bodyPr wrap="square" lIns="0" tIns="0" rIns="0" bIns="0" rtlCol="0" anchor="ctr">
            <a:normAutofit/>
          </a:bodyPr>
          <a:lstStyle/>
          <a:p>
            <a:pPr algn="ctr" indent="0" marL="0">
              <a:buNone/>
            </a:pPr>
            <a:r>
              <a:rPr lang="en-US" sz="1100" b="1" dirty="0">
                <a:solidFill>
                  <a:srgbClr val="95E8DC"/>
                </a:solidFill>
                <a:latin typeface="Aptos Display" pitchFamily="34" charset="0"/>
                <a:ea typeface="Aptos Display" pitchFamily="34" charset="-122"/>
                <a:cs typeface="Aptos Display" pitchFamily="34" charset="-120"/>
              </a:rPr>
              <a:t>SVM</a:t>
            </a:r>
            <a:endParaRPr lang="en-US" sz="1100" dirty="0"/>
          </a:p>
        </p:txBody>
      </p:sp>
      <p:sp>
        <p:nvSpPr>
          <p:cNvPr id="34" name="Text 32"/>
          <p:cNvSpPr/>
          <p:nvPr/>
        </p:nvSpPr>
        <p:spPr>
          <a:xfrm>
            <a:off x="10369296" y="4599432"/>
            <a:ext cx="868680" cy="24688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Display" pitchFamily="34" charset="0"/>
                <a:ea typeface="Aptos Display" pitchFamily="34" charset="-122"/>
                <a:cs typeface="Aptos Display" pitchFamily="34" charset="-120"/>
              </a:rPr>
              <a:t>DeBERTa</a:t>
            </a:r>
            <a:endParaRPr lang="en-US" sz="1100" dirty="0"/>
          </a:p>
        </p:txBody>
      </p:sp>
      <p:sp>
        <p:nvSpPr>
          <p:cNvPr id="35" name="Shape 33"/>
          <p:cNvSpPr/>
          <p:nvPr/>
        </p:nvSpPr>
        <p:spPr>
          <a:xfrm>
            <a:off x="804672" y="5733288"/>
            <a:ext cx="10607040" cy="356616"/>
          </a:xfrm>
          <a:prstGeom prst="roundRect">
            <a:avLst>
              <a:gd name="adj" fmla="val 33333"/>
            </a:avLst>
          </a:prstGeom>
          <a:solidFill>
            <a:srgbClr val="E6F5F2"/>
          </a:solidFill>
          <a:ln w="12700">
            <a:solidFill>
              <a:srgbClr val="E6F5F2">
                <a:alpha val="0"/>
              </a:srgbClr>
            </a:solidFill>
            <a:prstDash val="solid"/>
          </a:ln>
        </p:spPr>
        <p:txBody>
          <a:bodyPr/>
          <a:p/>
        </p:txBody>
      </p:sp>
      <p:sp>
        <p:nvSpPr>
          <p:cNvPr id="36" name="Text 34"/>
          <p:cNvSpPr/>
          <p:nvPr/>
        </p:nvSpPr>
        <p:spPr>
          <a:xfrm>
            <a:off x="960120" y="5797296"/>
            <a:ext cx="10140696" cy="201168"/>
          </a:xfrm>
          <a:prstGeom prst="rect">
            <a:avLst/>
          </a:prstGeom>
          <a:noFill/>
          <a:ln/>
        </p:spPr>
        <p:txBody>
          <a:bodyPr wrap="square" lIns="0" tIns="0" rIns="0" bIns="0" rtlCol="0" anchor="ctr">
            <a:normAutofit/>
          </a:bodyPr>
          <a:lstStyle/>
          <a:p>
            <a:pPr indent="0" marL="0">
              <a:buNone/>
            </a:pPr>
            <a:r>
              <a:rPr lang="en-US" sz="1150" b="1" dirty="0">
                <a:solidFill>
                  <a:srgbClr val="112D40"/>
                </a:solidFill>
                <a:latin typeface="Aptos Display" pitchFamily="34" charset="0"/>
                <a:ea typeface="Aptos Display" pitchFamily="34" charset="-122"/>
                <a:cs typeface="Aptos Display" pitchFamily="34" charset="-120"/>
              </a:rPr>
              <a:t>ERRORS  ·  M24 both wrong   |   M25 SVM only   |   M06, M09, M10, M14 DeBERTa only</a:t>
            </a:r>
            <a:endParaRPr lang="en-US" sz="1150" dirty="0"/>
          </a:p>
        </p:txBody>
      </p:sp>
      <p:sp>
        <p:nvSpPr>
          <p:cNvPr id="37" name="Text 35"/>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Sources: results/ml_results.csv, decision_results.csv, comparison.csv</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3"/>
                                  </p:tgtEl>
                                  <p:attrNameLst>
                                    <p:attrName>style.visibility</p:attrName>
                                  </p:attrNameLst>
                                </p:cBhvr>
                                <p:to>
                                  <p:strVal val="visible"/>
                                </p:to>
                              </p:set>
                              <p:animEffect transition="in" filter="fade">
                                <p:cBhvr>
                                  <p:cTn id="23" dur="520"/>
                                  <p:tgtEl>
                                    <p:spTgt spid="13"/>
                                  </p:tgtEl>
                                </p:cBhvr>
                              </p:animEffect>
                            </p:childTnLst>
                          </p:cTn>
                        </p:par>
                      </p:childTnLst>
                    </p:cTn>
                  </p:par>
                  <p:par>
                    <p:cTn id="25" fill="hold">
                      <p:stCondLst>
                        <p:cond delay="1440"/>
                      </p:stCondLst>
                      <p:childTnLst>
                        <p:par>
                          <p:cTn id="26" fill="hold">
                            <p:childTnLst>
                              <p:set>
                                <p:cBhvr>
                                  <p:cTn id="27" dur="1" fill="hold">
                                    <p:stCondLst>
                                      <p:cond delay="0"/>
                                    </p:stCondLst>
                                  </p:cTn>
                                  <p:tgtEl>
                                    <p:spTgt spid="36"/>
                                  </p:tgtEl>
                                  <p:attrNameLst>
                                    <p:attrName>style.visibility</p:attrName>
                                  </p:attrNameLst>
                                </p:cBhvr>
                                <p:to>
                                  <p:strVal val="visible"/>
                                </p:to>
                              </p:set>
                              <p:animEffect transition="in" filter="fade">
                                <p:cBhvr>
                                  <p:cTn id="28" dur="520"/>
                                  <p:tgtEl>
                                    <p:spTgt spid="36"/>
                                  </p:tgtEl>
                                </p:cBhvr>
                              </p:animEffect>
                            </p:childTnLst>
                          </p:cTn>
                        </p:par>
                      </p:childTnLst>
                    </p:cTn>
                  </p:par>
                </p:childTnLst>
              </p:cTn>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COMPARISON · FAILURE ANALYSIS</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19 / 21</a:t>
            </a:r>
            <a:endParaRPr lang="en-US" sz="1000" dirty="0"/>
          </a:p>
        </p:txBody>
      </p:sp>
      <p:sp>
        <p:nvSpPr>
          <p:cNvPr id="7" name="Shape 5"/>
          <p:cNvSpPr/>
          <p:nvPr/>
        </p:nvSpPr>
        <p:spPr>
          <a:xfrm>
            <a:off x="585216" y="6473952"/>
            <a:ext cx="9117363"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MODEL ERRORS</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Six distinct messages expose different failure modes</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An error means the route conflicts with the agency’s labeling rules.</a:t>
            </a:r>
            <a:endParaRPr lang="en-US" sz="1420" dirty="0"/>
          </a:p>
        </p:txBody>
      </p:sp>
      <p:sp>
        <p:nvSpPr>
          <p:cNvPr id="12" name="Shape 10"/>
          <p:cNvSpPr/>
          <p:nvPr/>
        </p:nvSpPr>
        <p:spPr>
          <a:xfrm>
            <a:off x="813816" y="2185416"/>
            <a:ext cx="10579608" cy="996696"/>
          </a:xfrm>
          <a:prstGeom prst="roundRect">
            <a:avLst>
              <a:gd name="adj" fmla="val 11927"/>
            </a:avLst>
          </a:prstGeom>
          <a:solidFill>
            <a:srgbClr val="FFFFFF"/>
          </a:solidFill>
          <a:ln w="12700">
            <a:solidFill>
              <a:srgbClr val="FFFFFF">
                <a:alpha val="0"/>
              </a:srgbClr>
            </a:solidFill>
            <a:prstDash val="solid"/>
          </a:ln>
        </p:spPr>
        <p:txBody>
          <a:bodyPr/>
          <a:p/>
        </p:txBody>
      </p:sp>
      <p:sp>
        <p:nvSpPr>
          <p:cNvPr id="13" name="Shape 11"/>
          <p:cNvSpPr/>
          <p:nvPr/>
        </p:nvSpPr>
        <p:spPr>
          <a:xfrm>
            <a:off x="1024128" y="2340864"/>
            <a:ext cx="1847088" cy="283464"/>
          </a:xfrm>
          <a:prstGeom prst="roundRect">
            <a:avLst>
              <a:gd name="adj" fmla="val 38710"/>
            </a:avLst>
          </a:prstGeom>
          <a:solidFill>
            <a:srgbClr val="E6F5F2"/>
          </a:solidFill>
          <a:ln w="12700">
            <a:solidFill>
              <a:srgbClr val="E6F5F2">
                <a:alpha val="0"/>
              </a:srgbClr>
            </a:solidFill>
            <a:prstDash val="solid"/>
          </a:ln>
        </p:spPr>
        <p:txBody>
          <a:bodyPr/>
          <a:p/>
        </p:txBody>
      </p:sp>
      <p:sp>
        <p:nvSpPr>
          <p:cNvPr id="14" name="Text 12"/>
          <p:cNvSpPr/>
          <p:nvPr/>
        </p:nvSpPr>
        <p:spPr>
          <a:xfrm>
            <a:off x="1115568" y="2350008"/>
            <a:ext cx="1664208" cy="265176"/>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DECISION ONLY</a:t>
            </a:r>
            <a:endParaRPr lang="en-US" sz="1000" dirty="0"/>
          </a:p>
        </p:txBody>
      </p:sp>
      <p:sp>
        <p:nvSpPr>
          <p:cNvPr id="15" name="Text 13"/>
          <p:cNvSpPr/>
          <p:nvPr/>
        </p:nvSpPr>
        <p:spPr>
          <a:xfrm>
            <a:off x="3191256" y="2313432"/>
            <a:ext cx="3666744" cy="320040"/>
          </a:xfrm>
          <a:prstGeom prst="rect">
            <a:avLst/>
          </a:prstGeom>
          <a:noFill/>
          <a:ln/>
        </p:spPr>
        <p:txBody>
          <a:bodyPr wrap="square" lIns="0" tIns="0" rIns="0" bIns="0" rtlCol="0" anchor="ctr">
            <a:normAutofit/>
          </a:bodyPr>
          <a:lstStyle/>
          <a:p>
            <a:pPr indent="0" marL="0">
              <a:buNone/>
            </a:pPr>
            <a:r>
              <a:rPr lang="en-US" sz="1900" b="1" dirty="0">
                <a:solidFill>
                  <a:srgbClr val="112D40"/>
                </a:solidFill>
                <a:latin typeface="Aptos Display" pitchFamily="34" charset="0"/>
                <a:ea typeface="Aptos Display" pitchFamily="34" charset="-122"/>
                <a:cs typeface="Aptos Display" pitchFamily="34" charset="-120"/>
              </a:rPr>
              <a:t>M06 · M09 · M10 · M14</a:t>
            </a:r>
            <a:endParaRPr lang="en-US" sz="1900" dirty="0"/>
          </a:p>
        </p:txBody>
      </p:sp>
      <p:sp>
        <p:nvSpPr>
          <p:cNvPr id="16" name="Text 14"/>
          <p:cNvSpPr/>
          <p:nvPr/>
        </p:nvSpPr>
        <p:spPr>
          <a:xfrm>
            <a:off x="6995160" y="2276856"/>
            <a:ext cx="3986784" cy="420624"/>
          </a:xfrm>
          <a:prstGeom prst="rect">
            <a:avLst/>
          </a:prstGeom>
          <a:noFill/>
          <a:ln/>
        </p:spPr>
        <p:txBody>
          <a:bodyPr wrap="square" lIns="0" tIns="0" rIns="0" bIns="0" rtlCol="0" anchor="ctr">
            <a:normAutofit/>
          </a:bodyPr>
          <a:lstStyle/>
          <a:p>
            <a:pPr indent="0" marL="0">
              <a:buNone/>
            </a:pPr>
            <a:r>
              <a:rPr lang="en-US" sz="1370" dirty="0">
                <a:solidFill>
                  <a:srgbClr val="587082"/>
                </a:solidFill>
                <a:latin typeface="Aptos" pitchFamily="34" charset="0"/>
                <a:ea typeface="Aptos" pitchFamily="34" charset="-122"/>
                <a:cs typeface="Aptos" pitchFamily="34" charset="-120"/>
              </a:rPr>
              <a:t>4 new-site Sales inquiries sent to Support.</a:t>
            </a:r>
            <a:endParaRPr lang="en-US" sz="1370" dirty="0"/>
          </a:p>
        </p:txBody>
      </p:sp>
      <p:sp>
        <p:nvSpPr>
          <p:cNvPr id="17" name="Shape 15"/>
          <p:cNvSpPr/>
          <p:nvPr/>
        </p:nvSpPr>
        <p:spPr>
          <a:xfrm>
            <a:off x="813816" y="3401568"/>
            <a:ext cx="10579608" cy="996696"/>
          </a:xfrm>
          <a:prstGeom prst="roundRect">
            <a:avLst>
              <a:gd name="adj" fmla="val 11927"/>
            </a:avLst>
          </a:prstGeom>
          <a:solidFill>
            <a:srgbClr val="FFFFFF"/>
          </a:solidFill>
          <a:ln w="12700">
            <a:solidFill>
              <a:srgbClr val="FFFFFF">
                <a:alpha val="0"/>
              </a:srgbClr>
            </a:solidFill>
            <a:prstDash val="solid"/>
          </a:ln>
        </p:spPr>
        <p:txBody>
          <a:bodyPr/>
          <a:p/>
        </p:txBody>
      </p:sp>
      <p:sp>
        <p:nvSpPr>
          <p:cNvPr id="18" name="Shape 16"/>
          <p:cNvSpPr/>
          <p:nvPr/>
        </p:nvSpPr>
        <p:spPr>
          <a:xfrm>
            <a:off x="1024128" y="3557016"/>
            <a:ext cx="1847088" cy="283464"/>
          </a:xfrm>
          <a:prstGeom prst="roundRect">
            <a:avLst>
              <a:gd name="adj" fmla="val 38710"/>
            </a:avLst>
          </a:prstGeom>
          <a:solidFill>
            <a:srgbClr val="0A2134"/>
          </a:solidFill>
          <a:ln w="12700">
            <a:solidFill>
              <a:srgbClr val="0A2134">
                <a:alpha val="0"/>
              </a:srgbClr>
            </a:solidFill>
            <a:prstDash val="solid"/>
          </a:ln>
        </p:spPr>
        <p:txBody>
          <a:bodyPr/>
          <a:p/>
        </p:txBody>
      </p:sp>
      <p:sp>
        <p:nvSpPr>
          <p:cNvPr id="19" name="Text 17"/>
          <p:cNvSpPr/>
          <p:nvPr/>
        </p:nvSpPr>
        <p:spPr>
          <a:xfrm>
            <a:off x="1115568" y="3566160"/>
            <a:ext cx="1664208" cy="265176"/>
          </a:xfrm>
          <a:prstGeom prst="rect">
            <a:avLst/>
          </a:prstGeom>
          <a:noFill/>
          <a:ln/>
        </p:spPr>
        <p:txBody>
          <a:bodyPr wrap="square" lIns="0" tIns="0" rIns="0" bIns="0" rtlCol="0" anchor="ctr">
            <a:normAutofit/>
          </a:bodyPr>
          <a:lstStyle/>
          <a:p>
            <a:pPr algn="ctr" indent="0" marL="0">
              <a:buNone/>
            </a:pPr>
            <a:r>
              <a:rPr lang="en-US" sz="1000" b="1" spc="50" kern="0" dirty="0">
                <a:solidFill>
                  <a:srgbClr val="FFFFFF"/>
                </a:solidFill>
                <a:latin typeface="Aptos Display" pitchFamily="34" charset="0"/>
                <a:ea typeface="Aptos Display" pitchFamily="34" charset="-122"/>
                <a:cs typeface="Aptos Display" pitchFamily="34" charset="-120"/>
              </a:rPr>
              <a:t>BOTH MODELS</a:t>
            </a:r>
            <a:endParaRPr lang="en-US" sz="1000" dirty="0"/>
          </a:p>
        </p:txBody>
      </p:sp>
      <p:sp>
        <p:nvSpPr>
          <p:cNvPr id="20" name="Text 18"/>
          <p:cNvSpPr/>
          <p:nvPr/>
        </p:nvSpPr>
        <p:spPr>
          <a:xfrm>
            <a:off x="3191256" y="3529584"/>
            <a:ext cx="1216152" cy="320040"/>
          </a:xfrm>
          <a:prstGeom prst="rect">
            <a:avLst/>
          </a:prstGeom>
          <a:noFill/>
          <a:ln/>
        </p:spPr>
        <p:txBody>
          <a:bodyPr wrap="square" lIns="0" tIns="0" rIns="0" bIns="0" rtlCol="0" anchor="ctr">
            <a:normAutofit/>
          </a:bodyPr>
          <a:lstStyle/>
          <a:p>
            <a:pPr indent="0" marL="0">
              <a:buNone/>
            </a:pPr>
            <a:r>
              <a:rPr lang="en-US" sz="1900" b="1" dirty="0">
                <a:solidFill>
                  <a:srgbClr val="112D40"/>
                </a:solidFill>
                <a:latin typeface="Aptos Display" pitchFamily="34" charset="0"/>
                <a:ea typeface="Aptos Display" pitchFamily="34" charset="-122"/>
                <a:cs typeface="Aptos Display" pitchFamily="34" charset="-120"/>
              </a:rPr>
              <a:t>M24</a:t>
            </a:r>
            <a:endParaRPr lang="en-US" sz="1900" dirty="0"/>
          </a:p>
        </p:txBody>
      </p:sp>
      <p:sp>
        <p:nvSpPr>
          <p:cNvPr id="21" name="Text 19"/>
          <p:cNvSpPr/>
          <p:nvPr/>
        </p:nvSpPr>
        <p:spPr>
          <a:xfrm>
            <a:off x="4462272" y="3502152"/>
            <a:ext cx="6327648" cy="420624"/>
          </a:xfrm>
          <a:prstGeom prst="rect">
            <a:avLst/>
          </a:prstGeom>
          <a:noFill/>
          <a:ln/>
        </p:spPr>
        <p:txBody>
          <a:bodyPr wrap="square" lIns="0" tIns="0" rIns="0" bIns="0" rtlCol="0" anchor="ctr">
            <a:normAutofit/>
          </a:bodyPr>
          <a:lstStyle/>
          <a:p>
            <a:pPr indent="0" marL="0">
              <a:buNone/>
            </a:pPr>
            <a:r>
              <a:rPr lang="en-US" sz="1430" dirty="0">
                <a:solidFill>
                  <a:srgbClr val="587082"/>
                </a:solidFill>
                <a:latin typeface="Aptos" pitchFamily="34" charset="0"/>
                <a:ea typeface="Aptos" pitchFamily="34" charset="-122"/>
                <a:cs typeface="Aptos" pitchFamily="34" charset="-120"/>
              </a:rPr>
              <a:t>Package features question → should be Sales (1).</a:t>
            </a:r>
            <a:endParaRPr lang="en-US" sz="1430" dirty="0"/>
          </a:p>
        </p:txBody>
      </p:sp>
      <p:sp>
        <p:nvSpPr>
          <p:cNvPr id="22" name="Shape 20"/>
          <p:cNvSpPr/>
          <p:nvPr/>
        </p:nvSpPr>
        <p:spPr>
          <a:xfrm>
            <a:off x="813816" y="4617720"/>
            <a:ext cx="10579608" cy="996696"/>
          </a:xfrm>
          <a:prstGeom prst="roundRect">
            <a:avLst>
              <a:gd name="adj" fmla="val 11927"/>
            </a:avLst>
          </a:prstGeom>
          <a:solidFill>
            <a:srgbClr val="FFFFFF"/>
          </a:solidFill>
          <a:ln w="12700">
            <a:solidFill>
              <a:srgbClr val="FFFFFF">
                <a:alpha val="0"/>
              </a:srgbClr>
            </a:solidFill>
            <a:prstDash val="solid"/>
          </a:ln>
        </p:spPr>
        <p:txBody>
          <a:bodyPr/>
          <a:p/>
        </p:txBody>
      </p:sp>
      <p:sp>
        <p:nvSpPr>
          <p:cNvPr id="23" name="Shape 21"/>
          <p:cNvSpPr/>
          <p:nvPr/>
        </p:nvSpPr>
        <p:spPr>
          <a:xfrm>
            <a:off x="1024128" y="4773168"/>
            <a:ext cx="1847088" cy="283464"/>
          </a:xfrm>
          <a:prstGeom prst="roundRect">
            <a:avLst>
              <a:gd name="adj" fmla="val 38710"/>
            </a:avLst>
          </a:prstGeom>
          <a:solidFill>
            <a:srgbClr val="E6F5F2"/>
          </a:solidFill>
          <a:ln w="12700">
            <a:solidFill>
              <a:srgbClr val="E6F5F2">
                <a:alpha val="0"/>
              </a:srgbClr>
            </a:solidFill>
            <a:prstDash val="solid"/>
          </a:ln>
        </p:spPr>
        <p:txBody>
          <a:bodyPr/>
          <a:p/>
        </p:txBody>
      </p:sp>
      <p:sp>
        <p:nvSpPr>
          <p:cNvPr id="24" name="Text 22"/>
          <p:cNvSpPr/>
          <p:nvPr/>
        </p:nvSpPr>
        <p:spPr>
          <a:xfrm>
            <a:off x="1115568" y="4782312"/>
            <a:ext cx="1664208" cy="265176"/>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SVM ONLY</a:t>
            </a:r>
            <a:endParaRPr lang="en-US" sz="1000" dirty="0"/>
          </a:p>
        </p:txBody>
      </p:sp>
      <p:sp>
        <p:nvSpPr>
          <p:cNvPr id="25" name="Text 23"/>
          <p:cNvSpPr/>
          <p:nvPr/>
        </p:nvSpPr>
        <p:spPr>
          <a:xfrm>
            <a:off x="3191256" y="4745736"/>
            <a:ext cx="1216152" cy="320040"/>
          </a:xfrm>
          <a:prstGeom prst="rect">
            <a:avLst/>
          </a:prstGeom>
          <a:noFill/>
          <a:ln/>
        </p:spPr>
        <p:txBody>
          <a:bodyPr wrap="square" lIns="0" tIns="0" rIns="0" bIns="0" rtlCol="0" anchor="ctr">
            <a:normAutofit/>
          </a:bodyPr>
          <a:lstStyle/>
          <a:p>
            <a:pPr indent="0" marL="0">
              <a:buNone/>
            </a:pPr>
            <a:r>
              <a:rPr lang="en-US" sz="1900" b="1" dirty="0">
                <a:solidFill>
                  <a:srgbClr val="112D40"/>
                </a:solidFill>
                <a:latin typeface="Aptos Display" pitchFamily="34" charset="0"/>
                <a:ea typeface="Aptos Display" pitchFamily="34" charset="-122"/>
                <a:cs typeface="Aptos Display" pitchFamily="34" charset="-120"/>
              </a:rPr>
              <a:t>M25</a:t>
            </a:r>
            <a:endParaRPr lang="en-US" sz="1900" dirty="0"/>
          </a:p>
        </p:txBody>
      </p:sp>
      <p:sp>
        <p:nvSpPr>
          <p:cNvPr id="26" name="Text 24"/>
          <p:cNvSpPr/>
          <p:nvPr/>
        </p:nvSpPr>
        <p:spPr>
          <a:xfrm>
            <a:off x="4462272" y="4718304"/>
            <a:ext cx="6327648" cy="420624"/>
          </a:xfrm>
          <a:prstGeom prst="rect">
            <a:avLst/>
          </a:prstGeom>
          <a:noFill/>
          <a:ln/>
        </p:spPr>
        <p:txBody>
          <a:bodyPr wrap="square" lIns="0" tIns="0" rIns="0" bIns="0" rtlCol="0" anchor="ctr">
            <a:normAutofit/>
          </a:bodyPr>
          <a:lstStyle/>
          <a:p>
            <a:pPr indent="0" marL="0">
              <a:buNone/>
            </a:pPr>
            <a:r>
              <a:rPr lang="en-US" sz="1430" dirty="0">
                <a:solidFill>
                  <a:srgbClr val="587082"/>
                </a:solidFill>
                <a:latin typeface="Aptos" pitchFamily="34" charset="0"/>
                <a:ea typeface="Aptos" pitchFamily="34" charset="-122"/>
                <a:cs typeface="Aptos" pitchFamily="34" charset="-120"/>
              </a:rPr>
              <a:t>Cancel ongoing project → should be Support (0).</a:t>
            </a:r>
            <a:endParaRPr lang="en-US" sz="1430" dirty="0"/>
          </a:p>
        </p:txBody>
      </p:sp>
      <p:sp>
        <p:nvSpPr>
          <p:cNvPr id="27" name="Shape 25"/>
          <p:cNvSpPr/>
          <p:nvPr/>
        </p:nvSpPr>
        <p:spPr>
          <a:xfrm>
            <a:off x="978408" y="5852160"/>
            <a:ext cx="10177272" cy="384048"/>
          </a:xfrm>
          <a:prstGeom prst="roundRect">
            <a:avLst>
              <a:gd name="adj" fmla="val 30952"/>
            </a:avLst>
          </a:prstGeom>
          <a:solidFill>
            <a:srgbClr val="E6F5F2"/>
          </a:solidFill>
          <a:ln w="12700">
            <a:solidFill>
              <a:srgbClr val="E6F5F2">
                <a:alpha val="0"/>
              </a:srgbClr>
            </a:solidFill>
            <a:prstDash val="solid"/>
          </a:ln>
        </p:spPr>
        <p:txBody>
          <a:bodyPr/>
          <a:p/>
        </p:txBody>
      </p:sp>
      <p:sp>
        <p:nvSpPr>
          <p:cNvPr id="28" name="Text 26"/>
          <p:cNvSpPr/>
          <p:nvPr/>
        </p:nvSpPr>
        <p:spPr>
          <a:xfrm>
            <a:off x="1133856" y="5916168"/>
            <a:ext cx="9893808" cy="246888"/>
          </a:xfrm>
          <a:prstGeom prst="rect">
            <a:avLst/>
          </a:prstGeom>
          <a:noFill/>
          <a:ln/>
        </p:spPr>
        <p:txBody>
          <a:bodyPr wrap="square" lIns="0" tIns="0" rIns="0" bIns="0" rtlCol="0" anchor="ctr">
            <a:normAutofit/>
          </a:bodyPr>
          <a:lstStyle/>
          <a:p>
            <a:pPr indent="0" marL="0">
              <a:buNone/>
            </a:pPr>
            <a:r>
              <a:rPr lang="en-US" sz="1350" b="1" dirty="0">
                <a:solidFill>
                  <a:srgbClr val="112D40"/>
                </a:solidFill>
                <a:latin typeface="Aptos Display" pitchFamily="34" charset="0"/>
                <a:ea typeface="Aptos Display" pitchFamily="34" charset="-122"/>
                <a:cs typeface="Aptos Display" pitchFamily="34" charset="-120"/>
              </a:rPr>
              <a:t>The unique-error count is 6 because one message (M24) was wrong for both models.</a:t>
            </a:r>
            <a:endParaRPr lang="en-US" sz="135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6"/>
                                  </p:tgtEl>
                                  <p:attrNameLst>
                                    <p:attrName>style.visibility</p:attrName>
                                  </p:attrNameLst>
                                </p:cBhvr>
                                <p:to>
                                  <p:strVal val="visible"/>
                                </p:to>
                              </p:set>
                              <p:animEffect transition="in" filter="fade">
                                <p:cBhvr>
                                  <p:cTn id="23" dur="520"/>
                                  <p:tgtEl>
                                    <p:spTgt spid="16"/>
                                  </p:tgtEl>
                                </p:cBhvr>
                              </p:animEffect>
                            </p:childTnLst>
                          </p:cTn>
                        </p:par>
                      </p:childTnLst>
                    </p:cTn>
                  </p:par>
                  <p:par>
                    <p:cTn id="25" fill="hold">
                      <p:stCondLst>
                        <p:cond delay="1440"/>
                      </p:stCondLst>
                      <p:childTnLst>
                        <p:par>
                          <p:cTn id="26" fill="hold">
                            <p:childTnLst>
                              <p:set>
                                <p:cBhvr>
                                  <p:cTn id="27" dur="1" fill="hold">
                                    <p:stCondLst>
                                      <p:cond delay="0"/>
                                    </p:stCondLst>
                                  </p:cTn>
                                  <p:tgtEl>
                                    <p:spTgt spid="21"/>
                                  </p:tgtEl>
                                  <p:attrNameLst>
                                    <p:attrName>style.visibility</p:attrName>
                                  </p:attrNameLst>
                                </p:cBhvr>
                                <p:to>
                                  <p:strVal val="visible"/>
                                </p:to>
                              </p:set>
                              <p:animEffect transition="in" filter="fade">
                                <p:cBhvr>
                                  <p:cTn id="28" dur="520"/>
                                  <p:tgtEl>
                                    <p:spTgt spid="21"/>
                                  </p:tgtEl>
                                </p:cBhvr>
                              </p:animEffect>
                            </p:childTnLst>
                          </p:cTn>
                        </p:par>
                      </p:childTnLst>
                    </p:cTn>
                  </p:par>
                </p:childTnLst>
              </p:cTn>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587082"/>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587082"/>
                </a:solidFill>
                <a:latin typeface="Aptos Display" pitchFamily="34" charset="0"/>
                <a:ea typeface="Aptos Display" pitchFamily="34" charset="-122"/>
                <a:cs typeface="Aptos Display" pitchFamily="34" charset="-120"/>
              </a:rPr>
              <a:t>DISCUSSION · BUSINESS IMPACT</a:t>
            </a:r>
            <a:endParaRPr lang="en-US" sz="1000" dirty="0"/>
          </a:p>
        </p:txBody>
      </p:sp>
      <p:sp>
        <p:nvSpPr>
          <p:cNvPr id="4" name="Shape 2"/>
          <p:cNvSpPr/>
          <p:nvPr/>
        </p:nvSpPr>
        <p:spPr>
          <a:xfrm>
            <a:off x="585216" y="6519672"/>
            <a:ext cx="11027664" cy="0"/>
          </a:xfrm>
          <a:prstGeom prst="line">
            <a:avLst/>
          </a:prstGeom>
          <a:noFill/>
          <a:ln w="10160">
            <a:solidFill>
              <a:srgbClr val="D7E3E7"/>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587082"/>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587082"/>
                </a:solidFill>
                <a:latin typeface="Aptos Display" pitchFamily="34" charset="0"/>
                <a:ea typeface="Aptos Display" pitchFamily="34" charset="-122"/>
                <a:cs typeface="Aptos Display" pitchFamily="34" charset="-120"/>
              </a:rPr>
              <a:t>20 / 21</a:t>
            </a:r>
            <a:endParaRPr lang="en-US" sz="1000" dirty="0"/>
          </a:p>
        </p:txBody>
      </p:sp>
      <p:sp>
        <p:nvSpPr>
          <p:cNvPr id="7" name="Shape 5"/>
          <p:cNvSpPr/>
          <p:nvPr/>
        </p:nvSpPr>
        <p:spPr>
          <a:xfrm>
            <a:off x="585216" y="6473952"/>
            <a:ext cx="9597224"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03504" y="630936"/>
            <a:ext cx="2057400" cy="292608"/>
          </a:xfrm>
          <a:prstGeom prst="roundRect">
            <a:avLst>
              <a:gd name="adj" fmla="val 37500"/>
            </a:avLst>
          </a:prstGeom>
          <a:solidFill>
            <a:srgbClr val="E6F5F2"/>
          </a:solidFill>
          <a:ln w="12700">
            <a:solidFill>
              <a:srgbClr val="E6F5F2">
                <a:alpha val="0"/>
              </a:srgbClr>
            </a:solidFill>
            <a:prstDash val="solid"/>
          </a:ln>
        </p:spPr>
        <p:txBody>
          <a:bodyPr/>
          <a:p/>
        </p:txBody>
      </p:sp>
      <p:sp>
        <p:nvSpPr>
          <p:cNvPr id="9" name="Text 7"/>
          <p:cNvSpPr/>
          <p:nvPr/>
        </p:nvSpPr>
        <p:spPr>
          <a:xfrm>
            <a:off x="694944" y="640080"/>
            <a:ext cx="1874520" cy="274320"/>
          </a:xfrm>
          <a:prstGeom prst="rect">
            <a:avLst/>
          </a:prstGeom>
          <a:noFill/>
          <a:ln/>
        </p:spPr>
        <p:txBody>
          <a:bodyPr wrap="square" lIns="0" tIns="0" rIns="0" bIns="0" rtlCol="0" anchor="ctr">
            <a:normAutofit/>
          </a:bodyPr>
          <a:lstStyle/>
          <a:p>
            <a:pPr algn="ctr" indent="0" marL="0">
              <a:buNone/>
            </a:pPr>
            <a:r>
              <a:rPr lang="en-US" sz="1000" b="1" spc="50" kern="0" dirty="0">
                <a:solidFill>
                  <a:srgbClr val="008E85"/>
                </a:solidFill>
                <a:latin typeface="Aptos Display" pitchFamily="34" charset="0"/>
                <a:ea typeface="Aptos Display" pitchFamily="34" charset="-122"/>
                <a:cs typeface="Aptos Display" pitchFamily="34" charset="-120"/>
              </a:rPr>
              <a:t>DECISION TRADE-OFFS</a:t>
            </a:r>
            <a:endParaRPr lang="en-US" sz="1000" dirty="0"/>
          </a:p>
        </p:txBody>
      </p:sp>
      <p:sp>
        <p:nvSpPr>
          <p:cNvPr id="10" name="Text 8"/>
          <p:cNvSpPr/>
          <p:nvPr/>
        </p:nvSpPr>
        <p:spPr>
          <a:xfrm>
            <a:off x="603504" y="1069848"/>
            <a:ext cx="10972800" cy="612648"/>
          </a:xfrm>
          <a:prstGeom prst="rect">
            <a:avLst/>
          </a:prstGeom>
          <a:noFill/>
          <a:ln/>
        </p:spPr>
        <p:txBody>
          <a:bodyPr wrap="square" lIns="0" tIns="0" rIns="0" bIns="0" rtlCol="0" anchor="ctr">
            <a:normAutofit/>
          </a:bodyPr>
          <a:lstStyle/>
          <a:p>
            <a:pPr indent="0" marL="0">
              <a:buNone/>
            </a:pPr>
            <a:r>
              <a:rPr lang="en-US" sz="2940" b="1" dirty="0">
                <a:solidFill>
                  <a:srgbClr val="112D40"/>
                </a:solidFill>
                <a:latin typeface="Aptos Display" pitchFamily="34" charset="0"/>
                <a:ea typeface="Aptos Display" pitchFamily="34" charset="-122"/>
                <a:cs typeface="Aptos Display" pitchFamily="34" charset="-120"/>
              </a:rPr>
              <a:t>Why accuracy alone is not enough for a routing system</a:t>
            </a:r>
            <a:endParaRPr lang="en-US" sz="2940" dirty="0"/>
          </a:p>
        </p:txBody>
      </p:sp>
      <p:sp>
        <p:nvSpPr>
          <p:cNvPr id="11" name="Text 9"/>
          <p:cNvSpPr/>
          <p:nvPr/>
        </p:nvSpPr>
        <p:spPr>
          <a:xfrm>
            <a:off x="621792" y="1755648"/>
            <a:ext cx="10789920" cy="320040"/>
          </a:xfrm>
          <a:prstGeom prst="rect">
            <a:avLst/>
          </a:prstGeom>
          <a:noFill/>
          <a:ln/>
        </p:spPr>
        <p:txBody>
          <a:bodyPr wrap="square" lIns="0" tIns="0" rIns="0" bIns="0" rtlCol="0" anchor="ctr">
            <a:normAutofit/>
          </a:bodyPr>
          <a:lstStyle/>
          <a:p>
            <a:pPr indent="0" marL="0">
              <a:buNone/>
            </a:pPr>
            <a:r>
              <a:rPr lang="en-US" sz="1420" dirty="0">
                <a:solidFill>
                  <a:srgbClr val="587082"/>
                </a:solidFill>
                <a:latin typeface="Aptos" pitchFamily="34" charset="0"/>
                <a:ea typeface="Aptos" pitchFamily="34" charset="-122"/>
                <a:cs typeface="Aptos" pitchFamily="34" charset="-120"/>
              </a:rPr>
              <a:t>The cost of each wrong route depends on the customer’s actual need.</a:t>
            </a:r>
            <a:endParaRPr lang="en-US" sz="1420" dirty="0"/>
          </a:p>
        </p:txBody>
      </p:sp>
      <p:sp>
        <p:nvSpPr>
          <p:cNvPr id="12" name="Shape 10"/>
          <p:cNvSpPr/>
          <p:nvPr/>
        </p:nvSpPr>
        <p:spPr>
          <a:xfrm>
            <a:off x="841248" y="2404872"/>
            <a:ext cx="5001768" cy="2532888"/>
          </a:xfrm>
          <a:prstGeom prst="roundRect">
            <a:avLst>
              <a:gd name="adj" fmla="val 4693"/>
            </a:avLst>
          </a:prstGeom>
          <a:solidFill>
            <a:srgbClr val="FFFFFF"/>
          </a:solidFill>
          <a:ln w="12700">
            <a:solidFill>
              <a:srgbClr val="FFFFFF">
                <a:alpha val="0"/>
              </a:srgbClr>
            </a:solidFill>
            <a:prstDash val="solid"/>
          </a:ln>
        </p:spPr>
        <p:txBody>
          <a:bodyPr/>
          <a:p/>
        </p:txBody>
      </p:sp>
      <p:sp>
        <p:nvSpPr>
          <p:cNvPr id="13" name="Text 11"/>
          <p:cNvSpPr/>
          <p:nvPr/>
        </p:nvSpPr>
        <p:spPr>
          <a:xfrm>
            <a:off x="1024128" y="2551176"/>
            <a:ext cx="4636008" cy="292608"/>
          </a:xfrm>
          <a:prstGeom prst="rect">
            <a:avLst/>
          </a:prstGeom>
          <a:noFill/>
          <a:ln/>
        </p:spPr>
        <p:txBody>
          <a:bodyPr wrap="square" lIns="0" tIns="0" rIns="0" bIns="0" rtlCol="0" anchor="ctr">
            <a:normAutofit/>
          </a:bodyPr>
          <a:lstStyle/>
          <a:p>
            <a:pPr indent="0" marL="0">
              <a:buNone/>
            </a:pPr>
            <a:r>
              <a:rPr lang="en-US" sz="1400" b="1" dirty="0">
                <a:solidFill>
                  <a:srgbClr val="008E85"/>
                </a:solidFill>
                <a:latin typeface="Aptos Display" pitchFamily="34" charset="0"/>
                <a:ea typeface="Aptos Display" pitchFamily="34" charset="-122"/>
                <a:cs typeface="Aptos Display" pitchFamily="34" charset="-120"/>
              </a:rPr>
              <a:t>FALSE SALES ROUTE</a:t>
            </a:r>
            <a:endParaRPr lang="en-US" sz="1400" dirty="0"/>
          </a:p>
        </p:txBody>
      </p:sp>
      <p:sp>
        <p:nvSpPr>
          <p:cNvPr id="14" name="Text 12"/>
          <p:cNvSpPr/>
          <p:nvPr/>
        </p:nvSpPr>
        <p:spPr>
          <a:xfrm>
            <a:off x="1024128" y="2926080"/>
            <a:ext cx="4617720" cy="1892808"/>
          </a:xfrm>
          <a:prstGeom prst="rect">
            <a:avLst/>
          </a:prstGeom>
          <a:noFill/>
          <a:ln/>
        </p:spPr>
        <p:txBody>
          <a:bodyPr wrap="square" lIns="0" tIns="0" rIns="0" bIns="0" rtlCol="0" anchor="t">
            <a:normAutofit/>
          </a:bodyPr>
          <a:lstStyle/>
          <a:p>
            <a:pPr indent="0" marL="0">
              <a:buNone/>
            </a:pPr>
            <a:r>
              <a:rPr lang="en-US" sz="1600" dirty="0">
                <a:solidFill>
                  <a:srgbClr val="112D40"/>
                </a:solidFill>
                <a:latin typeface="Aptos" pitchFamily="34" charset="0"/>
                <a:ea typeface="Aptos" pitchFamily="34" charset="-122"/>
                <a:cs typeface="Aptos" pitchFamily="34" charset="-120"/>
              </a:rPr>
              <a:t>Existing customer issue → Sales.</a:t>
            </a:r>
            <a:endParaRPr lang="en-US" sz="1600" dirty="0"/>
          </a:p>
          <a:p>
            <a:pPr indent="0" marL="0">
              <a:buNone/>
            </a:pPr>
            <a:endParaRPr lang="en-US" sz="1600" dirty="0"/>
          </a:p>
          <a:p>
            <a:pPr indent="0" marL="0">
              <a:buNone/>
            </a:pPr>
            <a:r>
              <a:rPr lang="en-US" sz="1600" dirty="0">
                <a:solidFill>
                  <a:srgbClr val="112D40"/>
                </a:solidFill>
                <a:latin typeface="Aptos" pitchFamily="34" charset="0"/>
                <a:ea typeface="Aptos" pitchFamily="34" charset="-122"/>
                <a:cs typeface="Aptos" pitchFamily="34" charset="-120"/>
              </a:rPr>
              <a:t>Risk: delays in solving a real service problem.</a:t>
            </a:r>
            <a:endParaRPr lang="en-US" sz="1600" dirty="0"/>
          </a:p>
        </p:txBody>
      </p:sp>
      <p:sp>
        <p:nvSpPr>
          <p:cNvPr id="15" name="Shape 13"/>
          <p:cNvSpPr/>
          <p:nvPr/>
        </p:nvSpPr>
        <p:spPr>
          <a:xfrm>
            <a:off x="6062472" y="2404872"/>
            <a:ext cx="5157216" cy="2532888"/>
          </a:xfrm>
          <a:prstGeom prst="roundRect">
            <a:avLst>
              <a:gd name="adj" fmla="val 4693"/>
            </a:avLst>
          </a:prstGeom>
          <a:solidFill>
            <a:srgbClr val="0A2134"/>
          </a:solidFill>
          <a:ln w="12700">
            <a:solidFill>
              <a:srgbClr val="0A2134">
                <a:alpha val="0"/>
              </a:srgbClr>
            </a:solidFill>
            <a:prstDash val="solid"/>
          </a:ln>
        </p:spPr>
        <p:txBody>
          <a:bodyPr/>
          <a:p/>
        </p:txBody>
      </p:sp>
      <p:sp>
        <p:nvSpPr>
          <p:cNvPr id="16" name="Text 14"/>
          <p:cNvSpPr/>
          <p:nvPr/>
        </p:nvSpPr>
        <p:spPr>
          <a:xfrm>
            <a:off x="6245352" y="2551176"/>
            <a:ext cx="4791456" cy="292608"/>
          </a:xfrm>
          <a:prstGeom prst="rect">
            <a:avLst/>
          </a:prstGeom>
          <a:noFill/>
          <a:ln/>
        </p:spPr>
        <p:txBody>
          <a:bodyPr wrap="square" lIns="0" tIns="0" rIns="0" bIns="0" rtlCol="0" anchor="ctr">
            <a:normAutofit/>
          </a:bodyPr>
          <a:lstStyle/>
          <a:p>
            <a:pPr indent="0" marL="0">
              <a:buNone/>
            </a:pPr>
            <a:r>
              <a:rPr lang="en-US" sz="1400" b="1" dirty="0">
                <a:solidFill>
                  <a:srgbClr val="99E4D9"/>
                </a:solidFill>
                <a:latin typeface="Aptos Display" pitchFamily="34" charset="0"/>
                <a:ea typeface="Aptos Display" pitchFamily="34" charset="-122"/>
                <a:cs typeface="Aptos Display" pitchFamily="34" charset="-120"/>
              </a:rPr>
              <a:t>FALSE SUPPORT ROUTE</a:t>
            </a:r>
            <a:endParaRPr lang="en-US" sz="1400" dirty="0"/>
          </a:p>
        </p:txBody>
      </p:sp>
      <p:sp>
        <p:nvSpPr>
          <p:cNvPr id="17" name="Text 15"/>
          <p:cNvSpPr/>
          <p:nvPr/>
        </p:nvSpPr>
        <p:spPr>
          <a:xfrm>
            <a:off x="6245352" y="2926080"/>
            <a:ext cx="4773168" cy="1892808"/>
          </a:xfrm>
          <a:prstGeom prst="rect">
            <a:avLst/>
          </a:prstGeom>
          <a:noFill/>
          <a:ln/>
        </p:spPr>
        <p:txBody>
          <a:bodyPr wrap="square" lIns="0" tIns="0" rIns="0" bIns="0" rtlCol="0" anchor="t">
            <a:normAutofit/>
          </a:bodyPr>
          <a:lstStyle/>
          <a:p>
            <a:pPr indent="0" marL="0">
              <a:buNone/>
            </a:pPr>
            <a:r>
              <a:rPr lang="en-US" sz="1600" dirty="0">
                <a:solidFill>
                  <a:srgbClr val="FFFFFF"/>
                </a:solidFill>
                <a:latin typeface="Aptos" pitchFamily="34" charset="0"/>
                <a:ea typeface="Aptos" pitchFamily="34" charset="-122"/>
                <a:cs typeface="Aptos" pitchFamily="34" charset="-120"/>
              </a:rPr>
              <a:t>New sales inquiry → Support.</a:t>
            </a:r>
            <a:endParaRPr lang="en-US" sz="1600" dirty="0"/>
          </a:p>
          <a:p>
            <a:pPr indent="0" marL="0">
              <a:buNone/>
            </a:pPr>
            <a:endParaRPr lang="en-US" sz="1600" dirty="0"/>
          </a:p>
          <a:p>
            <a:pPr indent="0" marL="0">
              <a:buNone/>
            </a:pPr>
            <a:r>
              <a:rPr lang="en-US" sz="1600" dirty="0">
                <a:solidFill>
                  <a:srgbClr val="FFFFFF"/>
                </a:solidFill>
                <a:latin typeface="Aptos" pitchFamily="34" charset="0"/>
                <a:ea typeface="Aptos" pitchFamily="34" charset="-122"/>
                <a:cs typeface="Aptos" pitchFamily="34" charset="-120"/>
              </a:rPr>
              <a:t>Risk: missed or delayed commercial opportunity.</a:t>
            </a:r>
            <a:endParaRPr lang="en-US" sz="1600" dirty="0"/>
          </a:p>
        </p:txBody>
      </p:sp>
      <p:sp>
        <p:nvSpPr>
          <p:cNvPr id="18" name="Shape 16"/>
          <p:cNvSpPr/>
          <p:nvPr/>
        </p:nvSpPr>
        <p:spPr>
          <a:xfrm>
            <a:off x="932688" y="5239512"/>
            <a:ext cx="10168128" cy="630936"/>
          </a:xfrm>
          <a:prstGeom prst="roundRect">
            <a:avLst>
              <a:gd name="adj" fmla="val 18841"/>
            </a:avLst>
          </a:prstGeom>
          <a:solidFill>
            <a:srgbClr val="E6F5F2"/>
          </a:solidFill>
          <a:ln w="12700">
            <a:solidFill>
              <a:srgbClr val="E6F5F2">
                <a:alpha val="0"/>
              </a:srgbClr>
            </a:solidFill>
            <a:prstDash val="solid"/>
          </a:ln>
        </p:spPr>
        <p:txBody>
          <a:bodyPr/>
          <a:p/>
        </p:txBody>
      </p:sp>
      <p:sp>
        <p:nvSpPr>
          <p:cNvPr id="19" name="Text 17"/>
          <p:cNvSpPr/>
          <p:nvPr/>
        </p:nvSpPr>
        <p:spPr>
          <a:xfrm>
            <a:off x="1161288" y="5367528"/>
            <a:ext cx="9665208" cy="347472"/>
          </a:xfrm>
          <a:prstGeom prst="rect">
            <a:avLst/>
          </a:prstGeom>
          <a:noFill/>
          <a:ln/>
        </p:spPr>
        <p:txBody>
          <a:bodyPr wrap="square" lIns="0" tIns="0" rIns="0" bIns="0" rtlCol="0" anchor="ctr">
            <a:normAutofit/>
          </a:bodyPr>
          <a:lstStyle/>
          <a:p>
            <a:pPr indent="0" marL="0">
              <a:buNone/>
            </a:pPr>
            <a:r>
              <a:rPr lang="en-US" sz="1600" b="1" dirty="0">
                <a:solidFill>
                  <a:srgbClr val="112D40"/>
                </a:solidFill>
                <a:latin typeface="Aptos Display" pitchFamily="34" charset="0"/>
                <a:ea typeface="Aptos Display" pitchFamily="34" charset="-122"/>
                <a:cs typeface="Aptos Display" pitchFamily="34" charset="-120"/>
              </a:rPr>
              <a:t>Observed: DeBERTa missed 5/10 Sales; SVM missed 1/10 Sales and 1/10 Support.</a:t>
            </a:r>
            <a:endParaRPr lang="en-US" sz="1600" dirty="0"/>
          </a:p>
        </p:txBody>
      </p:sp>
      <p:sp>
        <p:nvSpPr>
          <p:cNvPr id="20" name="Text 18"/>
          <p:cNvSpPr/>
          <p:nvPr/>
        </p:nvSpPr>
        <p:spPr>
          <a:xfrm>
            <a:off x="649224" y="6190488"/>
            <a:ext cx="10698480" cy="182880"/>
          </a:xfrm>
          <a:prstGeom prst="rect">
            <a:avLst/>
          </a:prstGeom>
          <a:noFill/>
          <a:ln/>
        </p:spPr>
        <p:txBody>
          <a:bodyPr wrap="square" lIns="0" tIns="0" rIns="0" bIns="0" rtlCol="0" anchor="ctr">
            <a:normAutofit/>
          </a:bodyPr>
          <a:lstStyle/>
          <a:p>
            <a:pPr indent="0" marL="0">
              <a:buNone/>
            </a:pPr>
            <a:r>
              <a:rPr lang="en-US" sz="920" dirty="0">
                <a:solidFill>
                  <a:srgbClr val="587082"/>
                </a:solidFill>
                <a:latin typeface="Aptos" pitchFamily="34" charset="0"/>
                <a:ea typeface="Aptos" pitchFamily="34" charset="-122"/>
                <a:cs typeface="Aptos" pitchFamily="34" charset="-120"/>
              </a:rPr>
              <a:t>These are qualitative risks from the business setting, not measured monetary costs.</a:t>
            </a:r>
            <a:endParaRPr lang="en-US" sz="92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1"/>
                                  </p:tgtEl>
                                  <p:attrNameLst>
                                    <p:attrName>style.visibility</p:attrName>
                                  </p:attrNameLst>
                                </p:cBhvr>
                                <p:to>
                                  <p:strVal val="visible"/>
                                </p:to>
                              </p:set>
                              <p:animEffect transition="in" filter="fade">
                                <p:cBhvr>
                                  <p:cTn id="18" dur="520"/>
                                  <p:tgtEl>
                                    <p:spTgt spid="11"/>
                                  </p:tgtEl>
                                </p:cBhvr>
                              </p:animEffect>
                            </p:childTnLst>
                          </p:cTn>
                        </p:par>
                      </p:childTnLst>
                    </p:cTn>
                  </p:par>
                  <p:par>
                    <p:cTn id="20" fill="hold">
                      <p:stCondLst>
                        <p:cond delay="1000"/>
                      </p:stCondLst>
                      <p:childTnLst>
                        <p:par>
                          <p:cTn id="21" fill="hold">
                            <p:childTnLst>
                              <p:set>
                                <p:cBhvr>
                                  <p:cTn id="22" dur="1" fill="hold">
                                    <p:stCondLst>
                                      <p:cond delay="0"/>
                                    </p:stCondLst>
                                  </p:cTn>
                                  <p:tgtEl>
                                    <p:spTgt spid="13"/>
                                  </p:tgtEl>
                                  <p:attrNameLst>
                                    <p:attrName>style.visibility</p:attrName>
                                  </p:attrNameLst>
                                </p:cBhvr>
                                <p:to>
                                  <p:strVal val="visible"/>
                                </p:to>
                              </p:set>
                              <p:animEffect transition="in" filter="fade">
                                <p:cBhvr>
                                  <p:cTn id="23" dur="520"/>
                                  <p:tgtEl>
                                    <p:spTgt spid="13"/>
                                  </p:tgtEl>
                                </p:cBhvr>
                              </p:animEffect>
                            </p:childTnLst>
                          </p:cTn>
                        </p:par>
                      </p:childTnLst>
                    </p:cTn>
                  </p:par>
                  <p:par>
                    <p:cTn id="25" fill="hold">
                      <p:stCondLst>
                        <p:cond delay="1440"/>
                      </p:stCondLst>
                      <p:childTnLst>
                        <p:par>
                          <p:cTn id="26" fill="hold">
                            <p:childTnLst>
                              <p:set>
                                <p:cBhvr>
                                  <p:cTn id="27" dur="1" fill="hold">
                                    <p:stCondLst>
                                      <p:cond delay="0"/>
                                    </p:stCondLst>
                                  </p:cTn>
                                  <p:tgtEl>
                                    <p:spTgt spid="14"/>
                                  </p:tgtEl>
                                  <p:attrNameLst>
                                    <p:attrName>style.visibility</p:attrName>
                                  </p:attrNameLst>
                                </p:cBhvr>
                                <p:to>
                                  <p:strVal val="visible"/>
                                </p:to>
                              </p:set>
                              <p:animEffect transition="in" filter="fade">
                                <p:cBhvr>
                                  <p:cTn id="28" dur="520"/>
                                  <p:tgtEl>
                                    <p:spTgt spid="14"/>
                                  </p:tgtEl>
                                </p:cBhvr>
                              </p:animEffect>
                            </p:childTnLst>
                          </p:cTn>
                        </p:par>
                      </p:childTnLst>
                    </p:cTn>
                  </p:par>
                </p:childTnLst>
              </p:cTn>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134"/>
        </a:solidFill>
      </p:bgPr>
    </p:bg>
    <p:spTree>
      <p:nvGrpSpPr>
        <p:cNvPr id="1" name=""/>
        <p:cNvGrpSpPr/>
        <p:nvPr/>
      </p:nvGrpSpPr>
      <p:grpSpPr>
        <a:xfrm>
          <a:off x="0" y="0"/>
          <a:ext cx="0" cy="0"/>
          <a:chOff x="0" y="0"/>
          <a:chExt cx="0" cy="0"/>
        </a:xfrm>
      </p:grpSpPr>
      <p:sp>
        <p:nvSpPr>
          <p:cNvPr id="2" name="Text 0"/>
          <p:cNvSpPr/>
          <p:nvPr/>
        </p:nvSpPr>
        <p:spPr>
          <a:xfrm>
            <a:off x="585216" y="228600"/>
            <a:ext cx="4572000" cy="219456"/>
          </a:xfrm>
          <a:prstGeom prst="rect">
            <a:avLst/>
          </a:prstGeom>
          <a:noFill/>
          <a:ln/>
        </p:spPr>
        <p:txBody>
          <a:bodyPr wrap="square" lIns="0" tIns="0" rIns="0" bIns="0" rtlCol="0" anchor="ctr">
            <a:normAutofit/>
          </a:bodyPr>
          <a:lstStyle/>
          <a:p>
            <a:pPr indent="0" marL="0">
              <a:buNone/>
            </a:pPr>
            <a:r>
              <a:rPr lang="en-US" sz="1000" b="1" spc="150" kern="0" dirty="0">
                <a:solidFill>
                  <a:srgbClr val="B1CCD1"/>
                </a:solidFill>
                <a:latin typeface="Aptos Display" pitchFamily="34" charset="0"/>
                <a:ea typeface="Aptos Display" pitchFamily="34" charset="-122"/>
                <a:cs typeface="Aptos Display" pitchFamily="34" charset="-120"/>
              </a:rPr>
              <a:t>CET 351  /  MACHINE LEARNING</a:t>
            </a:r>
            <a:endParaRPr lang="en-US" sz="1000" dirty="0"/>
          </a:p>
        </p:txBody>
      </p:sp>
      <p:sp>
        <p:nvSpPr>
          <p:cNvPr id="3" name="Text 1"/>
          <p:cNvSpPr/>
          <p:nvPr/>
        </p:nvSpPr>
        <p:spPr>
          <a:xfrm>
            <a:off x="9189720" y="228600"/>
            <a:ext cx="2423160" cy="219456"/>
          </a:xfrm>
          <a:prstGeom prst="rect">
            <a:avLst/>
          </a:prstGeom>
          <a:noFill/>
          <a:ln/>
        </p:spPr>
        <p:txBody>
          <a:bodyPr wrap="square" lIns="0" tIns="0" rIns="0" bIns="0" rtlCol="0" anchor="ctr">
            <a:normAutofit/>
          </a:bodyPr>
          <a:lstStyle/>
          <a:p>
            <a:pPr algn="r" indent="0" marL="0">
              <a:buNone/>
            </a:pPr>
            <a:r>
              <a:rPr lang="en-US" sz="1000" b="1" spc="130" kern="0" dirty="0">
                <a:solidFill>
                  <a:srgbClr val="B1CCD1"/>
                </a:solidFill>
                <a:latin typeface="Aptos Display" pitchFamily="34" charset="0"/>
                <a:ea typeface="Aptos Display" pitchFamily="34" charset="-122"/>
                <a:cs typeface="Aptos Display" pitchFamily="34" charset="-120"/>
              </a:rPr>
              <a:t>CONCLUSION</a:t>
            </a:r>
            <a:endParaRPr lang="en-US" sz="1000" dirty="0"/>
          </a:p>
        </p:txBody>
      </p:sp>
      <p:sp>
        <p:nvSpPr>
          <p:cNvPr id="4" name="Shape 2"/>
          <p:cNvSpPr/>
          <p:nvPr/>
        </p:nvSpPr>
        <p:spPr>
          <a:xfrm>
            <a:off x="585216" y="6519672"/>
            <a:ext cx="11027664" cy="0"/>
          </a:xfrm>
          <a:prstGeom prst="line">
            <a:avLst/>
          </a:prstGeom>
          <a:noFill/>
          <a:ln w="10160">
            <a:solidFill>
              <a:srgbClr val="294A5B"/>
            </a:solidFill>
            <a:prstDash val="solid"/>
            <a:headEnd type="none"/>
            <a:tailEnd type="none"/>
          </a:ln>
        </p:spPr>
        <p:txBody>
          <a:bodyPr/>
          <a:p/>
        </p:txBody>
      </p:sp>
      <p:sp>
        <p:nvSpPr>
          <p:cNvPr id="5" name="Text 3"/>
          <p:cNvSpPr/>
          <p:nvPr/>
        </p:nvSpPr>
        <p:spPr>
          <a:xfrm>
            <a:off x="603504" y="6565392"/>
            <a:ext cx="7315200" cy="155448"/>
          </a:xfrm>
          <a:prstGeom prst="rect">
            <a:avLst/>
          </a:prstGeom>
          <a:noFill/>
          <a:ln/>
        </p:spPr>
        <p:txBody>
          <a:bodyPr wrap="square" lIns="0" tIns="0" rIns="0" bIns="0" rtlCol="0" anchor="ctr">
            <a:normAutofit/>
          </a:bodyPr>
          <a:lstStyle/>
          <a:p>
            <a:pPr indent="0" marL="0">
              <a:buNone/>
            </a:pPr>
            <a:r>
              <a:rPr lang="en-US" sz="870" spc="40" kern="0" dirty="0">
                <a:solidFill>
                  <a:srgbClr val="B1CCD1"/>
                </a:solidFill>
                <a:latin typeface="Aptos" pitchFamily="34" charset="0"/>
                <a:ea typeface="Aptos" pitchFamily="34" charset="-122"/>
                <a:cs typeface="Aptos" pitchFamily="34" charset="-120"/>
              </a:rPr>
              <a:t>AGENT KIO  ·  CUSTOMER INTENT ROUTING</a:t>
            </a:r>
            <a:endParaRPr lang="en-US" sz="870" dirty="0"/>
          </a:p>
        </p:txBody>
      </p:sp>
      <p:sp>
        <p:nvSpPr>
          <p:cNvPr id="6" name="Text 4"/>
          <p:cNvSpPr/>
          <p:nvPr/>
        </p:nvSpPr>
        <p:spPr>
          <a:xfrm>
            <a:off x="10698480" y="6537960"/>
            <a:ext cx="914400" cy="192024"/>
          </a:xfrm>
          <a:prstGeom prst="rect">
            <a:avLst/>
          </a:prstGeom>
          <a:noFill/>
          <a:ln/>
        </p:spPr>
        <p:txBody>
          <a:bodyPr wrap="square" lIns="0" tIns="0" rIns="0" bIns="0" rtlCol="0" anchor="ctr">
            <a:normAutofit/>
          </a:bodyPr>
          <a:lstStyle/>
          <a:p>
            <a:pPr algn="r" indent="0" marL="0">
              <a:buNone/>
            </a:pPr>
            <a:r>
              <a:rPr lang="en-US" sz="1000" b="1" dirty="0">
                <a:solidFill>
                  <a:srgbClr val="B1CCD1"/>
                </a:solidFill>
                <a:latin typeface="Aptos Display" pitchFamily="34" charset="0"/>
                <a:ea typeface="Aptos Display" pitchFamily="34" charset="-122"/>
                <a:cs typeface="Aptos Display" pitchFamily="34" charset="-120"/>
              </a:rPr>
              <a:t>21 / 21</a:t>
            </a:r>
            <a:endParaRPr lang="en-US" sz="1000" dirty="0"/>
          </a:p>
        </p:txBody>
      </p:sp>
      <p:sp>
        <p:nvSpPr>
          <p:cNvPr id="7" name="Shape 5"/>
          <p:cNvSpPr/>
          <p:nvPr/>
        </p:nvSpPr>
        <p:spPr>
          <a:xfrm>
            <a:off x="585216" y="6473952"/>
            <a:ext cx="10077086" cy="32004"/>
          </a:xfrm>
          <a:prstGeom prst="rect">
            <a:avLst/>
          </a:prstGeom>
          <a:solidFill>
            <a:srgbClr val="008E85"/>
          </a:solidFill>
          <a:ln w="12700">
            <a:solidFill>
              <a:srgbClr val="008E85">
                <a:alpha val="0"/>
              </a:srgbClr>
            </a:solidFill>
            <a:prstDash val="solid"/>
          </a:ln>
        </p:spPr>
        <p:txBody>
          <a:bodyPr/>
          <a:p/>
        </p:txBody>
      </p:sp>
      <p:sp>
        <p:nvSpPr>
          <p:cNvPr id="8" name="Shape 6"/>
          <p:cNvSpPr/>
          <p:nvPr/>
        </p:nvSpPr>
        <p:spPr>
          <a:xfrm>
            <a:off x="658368" y="713232"/>
            <a:ext cx="3511296" cy="347472"/>
          </a:xfrm>
          <a:prstGeom prst="roundRect">
            <a:avLst>
              <a:gd name="adj" fmla="val 31579"/>
            </a:avLst>
          </a:prstGeom>
          <a:solidFill>
            <a:srgbClr val="1A4D58"/>
          </a:solidFill>
          <a:ln w="12700">
            <a:solidFill>
              <a:srgbClr val="1A4D58">
                <a:alpha val="0"/>
              </a:srgbClr>
            </a:solidFill>
            <a:prstDash val="solid"/>
          </a:ln>
        </p:spPr>
        <p:txBody>
          <a:bodyPr/>
          <a:p/>
        </p:txBody>
      </p:sp>
      <p:sp>
        <p:nvSpPr>
          <p:cNvPr id="9" name="Text 7"/>
          <p:cNvSpPr/>
          <p:nvPr/>
        </p:nvSpPr>
        <p:spPr>
          <a:xfrm>
            <a:off x="749808" y="722376"/>
            <a:ext cx="3328416" cy="329184"/>
          </a:xfrm>
          <a:prstGeom prst="rect">
            <a:avLst/>
          </a:prstGeom>
          <a:noFill/>
          <a:ln/>
        </p:spPr>
        <p:txBody>
          <a:bodyPr wrap="square" lIns="0" tIns="0" rIns="0" bIns="0" rtlCol="0" anchor="ctr">
            <a:normAutofit/>
          </a:bodyPr>
          <a:lstStyle/>
          <a:p>
            <a:pPr algn="ctr" indent="0" marL="0">
              <a:buNone/>
            </a:pPr>
            <a:r>
              <a:rPr lang="en-US" sz="1000" b="1" spc="50" kern="0" dirty="0">
                <a:solidFill>
                  <a:srgbClr val="A2E4DA"/>
                </a:solidFill>
                <a:latin typeface="Aptos Display" pitchFamily="34" charset="0"/>
                <a:ea typeface="Aptos Display" pitchFamily="34" charset="-122"/>
                <a:cs typeface="Aptos Display" pitchFamily="34" charset="-120"/>
              </a:rPr>
              <a:t>EVIDENCE-BASED RECOMMENDATION</a:t>
            </a:r>
            <a:endParaRPr lang="en-US" sz="1000" dirty="0"/>
          </a:p>
        </p:txBody>
      </p:sp>
      <p:sp>
        <p:nvSpPr>
          <p:cNvPr id="10" name="Text 8"/>
          <p:cNvSpPr/>
          <p:nvPr/>
        </p:nvSpPr>
        <p:spPr>
          <a:xfrm>
            <a:off x="667512" y="1261872"/>
            <a:ext cx="10881360" cy="1261872"/>
          </a:xfrm>
          <a:prstGeom prst="rect">
            <a:avLst/>
          </a:prstGeom>
          <a:noFill/>
          <a:ln/>
        </p:spPr>
        <p:txBody>
          <a:bodyPr wrap="square" lIns="0" tIns="0" rIns="0" bIns="0" rtlCol="0" anchor="ctr">
            <a:normAutofit/>
          </a:bodyPr>
          <a:lstStyle/>
          <a:p>
            <a:pPr indent="0" marL="0">
              <a:buNone/>
            </a:pPr>
            <a:r>
              <a:rPr lang="en-US" sz="3320" b="1" dirty="0">
                <a:solidFill>
                  <a:srgbClr val="FFFFFF"/>
                </a:solidFill>
                <a:latin typeface="Aptos Display" pitchFamily="34" charset="0"/>
                <a:ea typeface="Aptos Display" pitchFamily="34" charset="-122"/>
                <a:cs typeface="Aptos Display" pitchFamily="34" charset="-120"/>
              </a:rPr>
              <a:t>Choose Linear SVM for this pilot.</a:t>
            </a:r>
            <a:endParaRPr lang="en-US" sz="3320" dirty="0"/>
          </a:p>
          <a:p>
            <a:pPr indent="0" marL="0">
              <a:buNone/>
            </a:pPr>
            <a:r>
              <a:rPr lang="en-US" sz="3320" b="1" dirty="0">
                <a:solidFill>
                  <a:srgbClr val="FFFFFF"/>
                </a:solidFill>
                <a:latin typeface="Aptos Display" pitchFamily="34" charset="0"/>
                <a:ea typeface="Aptos Display" pitchFamily="34" charset="-122"/>
                <a:cs typeface="Aptos Display" pitchFamily="34" charset="-120"/>
              </a:rPr>
              <a:t>Validate more before deployment.</a:t>
            </a:r>
            <a:endParaRPr lang="en-US" sz="3320" dirty="0"/>
          </a:p>
        </p:txBody>
      </p:sp>
      <p:sp>
        <p:nvSpPr>
          <p:cNvPr id="11" name="Shape 9"/>
          <p:cNvSpPr/>
          <p:nvPr/>
        </p:nvSpPr>
        <p:spPr>
          <a:xfrm>
            <a:off x="704088" y="2880360"/>
            <a:ext cx="5129784" cy="1527048"/>
          </a:xfrm>
          <a:prstGeom prst="roundRect">
            <a:avLst>
              <a:gd name="adj" fmla="val 7784"/>
            </a:avLst>
          </a:prstGeom>
          <a:solidFill>
            <a:srgbClr val="20475A"/>
          </a:solidFill>
          <a:ln w="12700">
            <a:solidFill>
              <a:srgbClr val="20475A">
                <a:alpha val="0"/>
              </a:srgbClr>
            </a:solidFill>
            <a:prstDash val="solid"/>
          </a:ln>
        </p:spPr>
        <p:txBody>
          <a:bodyPr/>
          <a:p/>
        </p:txBody>
      </p:sp>
      <p:sp>
        <p:nvSpPr>
          <p:cNvPr id="12" name="Text 10"/>
          <p:cNvSpPr/>
          <p:nvPr/>
        </p:nvSpPr>
        <p:spPr>
          <a:xfrm>
            <a:off x="941832" y="3136392"/>
            <a:ext cx="4489704" cy="274320"/>
          </a:xfrm>
          <a:prstGeom prst="rect">
            <a:avLst/>
          </a:prstGeom>
          <a:noFill/>
          <a:ln/>
        </p:spPr>
        <p:txBody>
          <a:bodyPr wrap="square" lIns="0" tIns="0" rIns="0" bIns="0" rtlCol="0" anchor="ctr">
            <a:normAutofit/>
          </a:bodyPr>
          <a:lstStyle/>
          <a:p>
            <a:pPr indent="0" marL="0">
              <a:buNone/>
            </a:pPr>
            <a:r>
              <a:rPr lang="en-US" sz="1600" b="1" dirty="0">
                <a:solidFill>
                  <a:srgbClr val="9DE8DB"/>
                </a:solidFill>
                <a:latin typeface="Aptos Display" pitchFamily="34" charset="0"/>
                <a:ea typeface="Aptos Display" pitchFamily="34" charset="-122"/>
                <a:cs typeface="Aptos Display" pitchFamily="34" charset="-120"/>
              </a:rPr>
              <a:t>WHY SVM</a:t>
            </a:r>
            <a:endParaRPr lang="en-US" sz="1600" dirty="0"/>
          </a:p>
        </p:txBody>
      </p:sp>
      <p:sp>
        <p:nvSpPr>
          <p:cNvPr id="13" name="Text 11"/>
          <p:cNvSpPr/>
          <p:nvPr/>
        </p:nvSpPr>
        <p:spPr>
          <a:xfrm>
            <a:off x="941832" y="3593592"/>
            <a:ext cx="4526280" cy="612648"/>
          </a:xfrm>
          <a:prstGeom prst="rect">
            <a:avLst/>
          </a:prstGeom>
          <a:noFill/>
          <a:ln/>
        </p:spPr>
        <p:txBody>
          <a:bodyPr wrap="square" lIns="0" tIns="0" rIns="0" bIns="0" rtlCol="0" anchor="ctr">
            <a:normAutofit/>
          </a:bodyPr>
          <a:lstStyle/>
          <a:p>
            <a:pPr indent="0" marL="0">
              <a:buNone/>
            </a:pPr>
            <a:r>
              <a:rPr lang="en-US" sz="1600" dirty="0">
                <a:solidFill>
                  <a:srgbClr val="FFFFFF"/>
                </a:solidFill>
                <a:latin typeface="Aptos" pitchFamily="34" charset="0"/>
                <a:ea typeface="Aptos" pitchFamily="34" charset="-122"/>
                <a:cs typeface="Aptos" pitchFamily="34" charset="-120"/>
              </a:rPr>
              <a:t>90% test accuracy; balanced Support / Sales recall; 3 more correct routes on this sample.</a:t>
            </a:r>
            <a:endParaRPr lang="en-US" sz="1600" dirty="0"/>
          </a:p>
        </p:txBody>
      </p:sp>
      <p:sp>
        <p:nvSpPr>
          <p:cNvPr id="14" name="Shape 12"/>
          <p:cNvSpPr/>
          <p:nvPr/>
        </p:nvSpPr>
        <p:spPr>
          <a:xfrm>
            <a:off x="6053328" y="2880360"/>
            <a:ext cx="5349240" cy="1527048"/>
          </a:xfrm>
          <a:prstGeom prst="roundRect">
            <a:avLst>
              <a:gd name="adj" fmla="val 7784"/>
            </a:avLst>
          </a:prstGeom>
          <a:solidFill>
            <a:srgbClr val="20475A"/>
          </a:solidFill>
          <a:ln w="12700">
            <a:solidFill>
              <a:srgbClr val="20475A">
                <a:alpha val="0"/>
              </a:srgbClr>
            </a:solidFill>
            <a:prstDash val="solid"/>
          </a:ln>
        </p:spPr>
        <p:txBody>
          <a:bodyPr/>
          <a:p/>
        </p:txBody>
      </p:sp>
      <p:sp>
        <p:nvSpPr>
          <p:cNvPr id="15" name="Text 13"/>
          <p:cNvSpPr/>
          <p:nvPr/>
        </p:nvSpPr>
        <p:spPr>
          <a:xfrm>
            <a:off x="6291072" y="3136392"/>
            <a:ext cx="4754880" cy="274320"/>
          </a:xfrm>
          <a:prstGeom prst="rect">
            <a:avLst/>
          </a:prstGeom>
          <a:noFill/>
          <a:ln/>
        </p:spPr>
        <p:txBody>
          <a:bodyPr wrap="square" lIns="0" tIns="0" rIns="0" bIns="0" rtlCol="0" anchor="ctr">
            <a:normAutofit/>
          </a:bodyPr>
          <a:lstStyle/>
          <a:p>
            <a:pPr indent="0" marL="0">
              <a:buNone/>
            </a:pPr>
            <a:r>
              <a:rPr lang="en-US" sz="1600" b="1" dirty="0">
                <a:solidFill>
                  <a:srgbClr val="9DE8DB"/>
                </a:solidFill>
                <a:latin typeface="Aptos Display" pitchFamily="34" charset="0"/>
                <a:ea typeface="Aptos Display" pitchFamily="34" charset="-122"/>
                <a:cs typeface="Aptos Display" pitchFamily="34" charset="-120"/>
              </a:rPr>
              <a:t>WHAT WE CANNOT CLAIM</a:t>
            </a:r>
            <a:endParaRPr lang="en-US" sz="1600" dirty="0"/>
          </a:p>
        </p:txBody>
      </p:sp>
      <p:sp>
        <p:nvSpPr>
          <p:cNvPr id="16" name="Text 14"/>
          <p:cNvSpPr/>
          <p:nvPr/>
        </p:nvSpPr>
        <p:spPr>
          <a:xfrm>
            <a:off x="6291072" y="3593592"/>
            <a:ext cx="4782312" cy="640080"/>
          </a:xfrm>
          <a:prstGeom prst="rect">
            <a:avLst/>
          </a:prstGeom>
          <a:noFill/>
          <a:ln/>
        </p:spPr>
        <p:txBody>
          <a:bodyPr wrap="square" lIns="0" tIns="0" rIns="0" bIns="0" rtlCol="0" anchor="ctr">
            <a:normAutofit/>
          </a:bodyPr>
          <a:lstStyle/>
          <a:p>
            <a:pPr indent="0" marL="0">
              <a:buNone/>
            </a:pPr>
            <a:r>
              <a:rPr lang="en-US" sz="1520" dirty="0">
                <a:solidFill>
                  <a:srgbClr val="FFFFFF"/>
                </a:solidFill>
                <a:latin typeface="Aptos" pitchFamily="34" charset="0"/>
                <a:ea typeface="Aptos" pitchFamily="34" charset="-122"/>
                <a:cs typeface="Aptos" pitchFamily="34" charset="-120"/>
              </a:rPr>
              <a:t>Only 20 synthetic test messages; DeBERTa’s 75% setting was revised after seeing test results.</a:t>
            </a:r>
            <a:endParaRPr lang="en-US" sz="1520" dirty="0"/>
          </a:p>
        </p:txBody>
      </p:sp>
      <p:sp>
        <p:nvSpPr>
          <p:cNvPr id="17" name="Shape 15"/>
          <p:cNvSpPr/>
          <p:nvPr/>
        </p:nvSpPr>
        <p:spPr>
          <a:xfrm>
            <a:off x="758952" y="4690872"/>
            <a:ext cx="10607040" cy="0"/>
          </a:xfrm>
          <a:prstGeom prst="line">
            <a:avLst/>
          </a:prstGeom>
          <a:noFill/>
          <a:ln w="12700">
            <a:solidFill>
              <a:srgbClr val="386575"/>
            </a:solidFill>
            <a:prstDash val="solid"/>
            <a:headEnd type="none"/>
            <a:tailEnd type="none"/>
          </a:ln>
        </p:spPr>
        <p:txBody>
          <a:bodyPr/>
          <a:p/>
        </p:txBody>
      </p:sp>
      <p:sp>
        <p:nvSpPr>
          <p:cNvPr id="18" name="Text 16"/>
          <p:cNvSpPr/>
          <p:nvPr/>
        </p:nvSpPr>
        <p:spPr>
          <a:xfrm>
            <a:off x="786384" y="4937760"/>
            <a:ext cx="4389120" cy="265176"/>
          </a:xfrm>
          <a:prstGeom prst="rect">
            <a:avLst/>
          </a:prstGeom>
          <a:noFill/>
          <a:ln/>
        </p:spPr>
        <p:txBody>
          <a:bodyPr wrap="square" lIns="0" tIns="0" rIns="0" bIns="0" rtlCol="0" anchor="ctr">
            <a:normAutofit/>
          </a:bodyPr>
          <a:lstStyle/>
          <a:p>
            <a:pPr indent="0" marL="0">
              <a:buNone/>
            </a:pPr>
            <a:r>
              <a:rPr lang="en-US" sz="1320" b="1" dirty="0">
                <a:solidFill>
                  <a:srgbClr val="A7D8D8"/>
                </a:solidFill>
                <a:latin typeface="Aptos Display" pitchFamily="34" charset="0"/>
                <a:ea typeface="Aptos Display" pitchFamily="34" charset="-122"/>
                <a:cs typeface="Aptos Display" pitchFamily="34" charset="-120"/>
              </a:rPr>
              <a:t>EVIDENCE &amp; REFERENCES</a:t>
            </a:r>
            <a:endParaRPr lang="en-US" sz="1320" dirty="0"/>
          </a:p>
        </p:txBody>
      </p:sp>
      <p:sp>
        <p:nvSpPr>
          <p:cNvPr id="19" name="Text 17"/>
          <p:cNvSpPr/>
          <p:nvPr/>
        </p:nvSpPr>
        <p:spPr>
          <a:xfrm>
            <a:off x="786384" y="5340096"/>
            <a:ext cx="5961888" cy="548640"/>
          </a:xfrm>
          <a:prstGeom prst="rect">
            <a:avLst/>
          </a:prstGeom>
          <a:noFill/>
          <a:ln/>
        </p:spPr>
        <p:txBody>
          <a:bodyPr wrap="square" lIns="0" tIns="0" rIns="0" bIns="0" rtlCol="0" anchor="ctr">
            <a:normAutofit/>
          </a:bodyPr>
          <a:lstStyle/>
          <a:p>
            <a:pPr indent="0" marL="0">
              <a:buNone/>
            </a:pPr>
            <a:r>
              <a:rPr lang="en-US" sz="1130" dirty="0">
                <a:solidFill>
                  <a:srgbClr val="D1E0E5"/>
                </a:solidFill>
                <a:latin typeface="Aptos" pitchFamily="34" charset="0"/>
                <a:ea typeface="Aptos" pitchFamily="34" charset="-122"/>
                <a:cs typeface="Aptos" pitchFamily="34" charset="-120"/>
              </a:rPr>
              <a:t>Project brief: Project 1 — Routing for Agent KIO (26 Oct 2026)</a:t>
            </a:r>
            <a:endParaRPr lang="en-US" sz="1130" dirty="0"/>
          </a:p>
          <a:p>
            <a:pPr indent="0" marL="0">
              <a:buNone/>
            </a:pPr>
            <a:r>
              <a:rPr lang="en-US" sz="1130" dirty="0">
                <a:solidFill>
                  <a:srgbClr val="D1E0E5"/>
                </a:solidFill>
                <a:latin typeface="Aptos" pitchFamily="34" charset="0"/>
                <a:ea typeface="Aptos" pitchFamily="34" charset="-122"/>
                <a:cs typeface="Aptos" pitchFamily="34" charset="-120"/>
              </a:rPr>
              <a:t>CET 351 lecture materials: Orientation; Linear &amp; Polynomial Classifiers</a:t>
            </a:r>
            <a:endParaRPr lang="en-US" sz="1130" dirty="0"/>
          </a:p>
        </p:txBody>
      </p:sp>
      <p:sp>
        <p:nvSpPr>
          <p:cNvPr id="20" name="Text 18"/>
          <p:cNvSpPr/>
          <p:nvPr/>
        </p:nvSpPr>
        <p:spPr>
          <a:xfrm>
            <a:off x="6419088" y="5340096"/>
            <a:ext cx="4855464" cy="548640"/>
          </a:xfrm>
          <a:prstGeom prst="rect">
            <a:avLst/>
          </a:prstGeom>
          <a:noFill/>
          <a:ln/>
        </p:spPr>
        <p:txBody>
          <a:bodyPr wrap="square" lIns="0" tIns="0" rIns="0" bIns="0" rtlCol="0" anchor="ctr">
            <a:normAutofit/>
          </a:bodyPr>
          <a:lstStyle/>
          <a:p>
            <a:pPr indent="0" marL="0">
              <a:buNone/>
            </a:pPr>
            <a:r>
              <a:rPr lang="en-US" sz="1130" dirty="0">
                <a:solidFill>
                  <a:srgbClr val="D1E0E5"/>
                </a:solidFill>
                <a:latin typeface="Aptos" pitchFamily="34" charset="0"/>
                <a:ea typeface="Aptos" pitchFamily="34" charset="-122"/>
                <a:cs typeface="Aptos" pitchFamily="34" charset="-120"/>
              </a:rPr>
              <a:t>Hugging Face: MoritzLaurer/DeBERTa-v3-base-mnli-fever-anli (MIT)</a:t>
            </a:r>
            <a:endParaRPr lang="en-US" sz="1130" dirty="0"/>
          </a:p>
          <a:p>
            <a:pPr indent="0" marL="0">
              <a:buNone/>
            </a:pPr>
            <a:r>
              <a:rPr lang="en-US" sz="1130" dirty="0">
                <a:solidFill>
                  <a:srgbClr val="D1E0E5"/>
                </a:solidFill>
                <a:latin typeface="Aptos" pitchFamily="34" charset="0"/>
                <a:ea typeface="Aptos" pitchFamily="34" charset="-122"/>
                <a:cs typeface="Aptos" pitchFamily="34" charset="-120"/>
              </a:rPr>
              <a:t>scikit-learn documentation: TfidfVectorizer · TruncatedSVD · SVC</a:t>
            </a:r>
            <a:endParaRPr lang="en-US" sz="1130" dirty="0"/>
          </a:p>
        </p:txBody>
      </p:sp>
    </p:spTree>
  </p:cSld>
  <p:clrMapOvr>
    <a:masterClrMapping/>
  </p:clrMapOvr>
  <p:transition spd="med" advClick="1">
    <p:fade/>
  </p:transition>
  <p:timing>
    <p:tnLst>
      <p:par>
        <p:cTn id="1" dur="indefinite" nodeType="tmRoot">
          <p:childTnLst>
            <p:seq concurrent="1" nextAc="seek">
              <p:cTn id="2" dur="indefinite" nodeType="mainSeq">
                <p:childTnLst>
                  <p:par>
                    <p:cTn id="10" fill="hold">
                      <p:stCondLst>
                        <p:cond delay="120"/>
                      </p:stCondLst>
                      <p:childTnLst>
                        <p:par>
                          <p:cTn id="11" fill="hold">
                            <p:childTnLst>
                              <p:set>
                                <p:cBhvr>
                                  <p:cTn id="12" dur="1" fill="hold">
                                    <p:stCondLst>
                                      <p:cond delay="0"/>
                                    </p:stCondLst>
                                  </p:cTn>
                                  <p:tgtEl>
                                    <p:spTgt spid="10"/>
                                  </p:tgtEl>
                                  <p:attrNameLst>
                                    <p:attrName>style.visibility</p:attrName>
                                  </p:attrNameLst>
                                </p:cBhvr>
                                <p:to>
                                  <p:strVal val="visible"/>
                                </p:to>
                              </p:set>
                              <p:animEffect transition="in" filter="fade">
                                <p:cBhvr>
                                  <p:cTn id="13" dur="520"/>
                                  <p:tgtEl>
                                    <p:spTgt spid="10"/>
                                  </p:tgtEl>
                                </p:cBhvr>
                              </p:animEffect>
                            </p:childTnLst>
                          </p:cTn>
                        </p:par>
                      </p:childTnLst>
                    </p:cTn>
                  </p:par>
                  <p:par>
                    <p:cTn id="15" fill="hold">
                      <p:stCondLst>
                        <p:cond delay="560"/>
                      </p:stCondLst>
                      <p:childTnLst>
                        <p:par>
                          <p:cTn id="16" fill="hold">
                            <p:childTnLst>
                              <p:set>
                                <p:cBhvr>
                                  <p:cTn id="17" dur="1" fill="hold">
                                    <p:stCondLst>
                                      <p:cond delay="0"/>
                                    </p:stCondLst>
                                  </p:cTn>
                                  <p:tgtEl>
                                    <p:spTgt spid="15"/>
                                  </p:tgtEl>
                                  <p:attrNameLst>
                                    <p:attrName>style.visibility</p:attrName>
                                  </p:attrNameLst>
                                </p:cBhvr>
                                <p:to>
                                  <p:strVal val="visible"/>
                                </p:to>
                              </p:set>
                              <p:animEffect transition="in" filter="fade">
                                <p:cBhvr>
                                  <p:cTn id="18" dur="520"/>
                                  <p:tgtEl>
                                    <p:spTgt spid="15"/>
                                  </p:tgtEl>
                                </p:cBhvr>
                              </p:animEffect>
                            </p:childTnLst>
                          </p:cTn>
                        </p:par>
                      </p:childTnLst>
                    </p:cTn>
                  </p:par>
                  <p:par>
                    <p:cTn id="20" fill="hold">
                      <p:stCondLst>
                        <p:cond delay="1000"/>
                      </p:stCondLst>
                      <p:childTnLst>
                        <p:par>
                          <p:cTn id="21" fill="hold">
                            <p:childTnLst>
                              <p:set>
                                <p:cBhvr>
                                  <p:cTn id="22" dur="1" fill="hold">
                                    <p:stCondLst>
                                      <p:cond delay="0"/>
                                    </p:stCondLst>
                                  </p:cTn>
                                  <p:tgtEl>
                                    <p:spTgt spid="13"/>
                                  </p:tgtEl>
                                  <p:attrNameLst>
                                    <p:attrName>style.visibility</p:attrName>
                                  </p:attrNameLst>
                                </p:cBhvr>
                                <p:to>
                                  <p:strVal val="visible"/>
                                </p:to>
                              </p:set>
                              <p:animEffect transition="in" filter="fade">
                                <p:cBhvr>
                                  <p:cTn id="23" dur="520"/>
                                  <p:tgtEl>
                                    <p:spTgt spid="13"/>
                                  </p:tgtEl>
                                </p:cBhvr>
                              </p:animEffect>
                            </p:childTnLst>
                          </p:cTn>
                        </p:par>
                      </p:childTnLst>
                    </p:cTn>
                  </p:par>
                  <p:par>
                    <p:cTn id="25" fill="hold">
                      <p:stCondLst>
                        <p:cond delay="1440"/>
                      </p:stCondLst>
                      <p:childTnLst>
                        <p:par>
                          <p:cTn id="26" fill="hold">
                            <p:childTnLst>
                              <p:set>
                                <p:cBhvr>
                                  <p:cTn id="27" dur="1" fill="hold">
                                    <p:stCondLst>
                                      <p:cond delay="0"/>
                                    </p:stCondLst>
                                  </p:cTn>
                                  <p:tgtEl>
                                    <p:spTgt spid="18"/>
                                  </p:tgtEl>
                                  <p:attrNameLst>
                                    <p:attrName>style.visibility</p:attrName>
                                  </p:attrNameLst>
                                </p:cBhvr>
                                <p:to>
                                  <p:strVal val="visible"/>
                                </p:to>
                              </p:set>
                              <p:animEffect transition="in" filter="fade">
                                <p:cBhvr>
                                  <p:cTn id="28" dur="520"/>
                                  <p:tgtEl>
                                    <p:spTgt spid="18"/>
                                  </p:tgtEl>
                                </p:cBhvr>
                              </p:animEffect>
                            </p:childTnLst>
                          </p:cTn>
                        </p:par>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CET 351 Academic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KIO | Customer Intent Routing</dc:title>
  <dc:subject>CET 351 Project 1 - Routing for Agent KIO</dc:subject>
  <dc:creator>KIO Project Team</dc:creator>
  <cp:lastModifiedBy>KIO Project Team</cp:lastModifiedBy>
  <cp:revision>1</cp:revision>
  <dcterms:created xsi:type="dcterms:W3CDTF">2026-10-26T08:36:19Z</dcterms:created>
  <dcterms:modified xsi:type="dcterms:W3CDTF">2026-10-26T08:36:19Z</dcterms:modified>
</cp:coreProperties>
</file>